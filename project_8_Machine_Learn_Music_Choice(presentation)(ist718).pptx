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88" r:id="rId4"/>
    <p:sldId id="284" r:id="rId5"/>
    <p:sldId id="286" r:id="rId6"/>
    <p:sldId id="291" r:id="rId7"/>
    <p:sldId id="290" r:id="rId8"/>
    <p:sldId id="292" r:id="rId9"/>
    <p:sldId id="293" r:id="rId10"/>
    <p:sldId id="294" r:id="rId11"/>
    <p:sldId id="298" r:id="rId12"/>
    <p:sldId id="295" r:id="rId13"/>
    <p:sldId id="296" r:id="rId14"/>
    <p:sldId id="297" r:id="rId15"/>
    <p:sldId id="299" r:id="rId16"/>
    <p:sldId id="300" r:id="rId1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5F0"/>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94660"/>
  </p:normalViewPr>
  <p:slideViewPr>
    <p:cSldViewPr snapToGrid="0">
      <p:cViewPr varScale="1">
        <p:scale>
          <a:sx n="108" d="100"/>
          <a:sy n="108" d="100"/>
        </p:scale>
        <p:origin x="1236" y="10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84EC2-5CA7-4285-9D7A-656F924A3A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7BF228-B264-4F72-9A2D-61A0F9DC51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007E14-B390-4219-A59F-D3A036C84104}"/>
              </a:ext>
            </a:extLst>
          </p:cNvPr>
          <p:cNvSpPr>
            <a:spLocks noGrp="1"/>
          </p:cNvSpPr>
          <p:nvPr>
            <p:ph type="dt" sz="half" idx="10"/>
          </p:nvPr>
        </p:nvSpPr>
        <p:spPr/>
        <p:txBody>
          <a:bodyPr/>
          <a:lstStyle/>
          <a:p>
            <a:fld id="{C59B0272-E55A-4DC1-A14B-57686F62E6BD}" type="datetimeFigureOut">
              <a:rPr lang="en-US" smtClean="0"/>
              <a:t>3/22/2020</a:t>
            </a:fld>
            <a:endParaRPr lang="en-US" dirty="0"/>
          </a:p>
        </p:txBody>
      </p:sp>
      <p:sp>
        <p:nvSpPr>
          <p:cNvPr id="5" name="Footer Placeholder 4">
            <a:extLst>
              <a:ext uri="{FF2B5EF4-FFF2-40B4-BE49-F238E27FC236}">
                <a16:creationId xmlns:a16="http://schemas.microsoft.com/office/drawing/2014/main" id="{D4ACC06D-E943-4AC1-8124-C82B5F8BAF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DF341D-7234-44BE-9323-9F33EB63595F}"/>
              </a:ext>
            </a:extLst>
          </p:cNvPr>
          <p:cNvSpPr>
            <a:spLocks noGrp="1"/>
          </p:cNvSpPr>
          <p:nvPr>
            <p:ph type="sldNum" sz="quarter" idx="12"/>
          </p:nvPr>
        </p:nvSpPr>
        <p:spPr/>
        <p:txBody>
          <a:bodyPr/>
          <a:lstStyle/>
          <a:p>
            <a:fld id="{808CD9DD-6E24-4BC9-AFE9-2EAD8EF8146E}" type="slidenum">
              <a:rPr lang="en-US" smtClean="0"/>
              <a:t>‹#›</a:t>
            </a:fld>
            <a:endParaRPr lang="en-US" dirty="0"/>
          </a:p>
        </p:txBody>
      </p:sp>
    </p:spTree>
    <p:extLst>
      <p:ext uri="{BB962C8B-B14F-4D97-AF65-F5344CB8AC3E}">
        <p14:creationId xmlns:p14="http://schemas.microsoft.com/office/powerpoint/2010/main" val="48258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DBFB6-8166-4F52-A44A-964DB5271603}"/>
              </a:ext>
            </a:extLst>
          </p:cNvPr>
          <p:cNvSpPr>
            <a:spLocks noGrp="1"/>
          </p:cNvSpPr>
          <p:nvPr>
            <p:ph type="title"/>
          </p:nvPr>
        </p:nvSpPr>
        <p:spPr>
          <a:xfrm>
            <a:off x="457200" y="73363"/>
            <a:ext cx="10896600" cy="668625"/>
          </a:xfrm>
        </p:spPr>
        <p:txBody>
          <a:bodyPr/>
          <a:lstStyle>
            <a:lvl1pPr>
              <a:defRPr>
                <a:solidFill>
                  <a:schemeClr val="bg1">
                    <a:lumMod val="65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E9872892-115A-425C-9B67-F7DFADD2DF7D}"/>
              </a:ext>
            </a:extLst>
          </p:cNvPr>
          <p:cNvSpPr>
            <a:spLocks noGrp="1"/>
          </p:cNvSpPr>
          <p:nvPr>
            <p:ph idx="1"/>
          </p:nvPr>
        </p:nvSpPr>
        <p:spPr>
          <a:xfrm>
            <a:off x="457200" y="820367"/>
            <a:ext cx="10896600" cy="5601564"/>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5E20772-8E92-4BC6-B6A2-B1F1603B46D2}"/>
              </a:ext>
            </a:extLst>
          </p:cNvPr>
          <p:cNvCxnSpPr/>
          <p:nvPr userDrawn="1"/>
        </p:nvCxnSpPr>
        <p:spPr>
          <a:xfrm>
            <a:off x="457200" y="763009"/>
            <a:ext cx="1121179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916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C81A6-A5E3-43BA-B080-269D62C3B7C1}"/>
              </a:ext>
            </a:extLst>
          </p:cNvPr>
          <p:cNvSpPr>
            <a:spLocks noGrp="1"/>
          </p:cNvSpPr>
          <p:nvPr>
            <p:ph type="title"/>
          </p:nvPr>
        </p:nvSpPr>
        <p:spPr>
          <a:xfrm>
            <a:off x="831850" y="1709738"/>
            <a:ext cx="10515600" cy="2852737"/>
          </a:xfrm>
        </p:spPr>
        <p:txBody>
          <a:bodyPr anchor="b"/>
          <a:lstStyle>
            <a:lvl1pPr>
              <a:defRPr sz="60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2E6E3701-2414-4C8E-B710-A59568587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603050405020304" pitchFamily="18" charset="0"/>
                <a:cs typeface="Times New Roman" panose="0202060305040502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AF64B60-33C6-4191-9521-77B94B5B9187}"/>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5" name="Footer Placeholder 4">
            <a:extLst>
              <a:ext uri="{FF2B5EF4-FFF2-40B4-BE49-F238E27FC236}">
                <a16:creationId xmlns:a16="http://schemas.microsoft.com/office/drawing/2014/main" id="{290F2903-D41C-4322-8FC5-D7F4AD67D2E8}"/>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8EAC0365-388A-4CE5-ABCB-F530EC1F8FB8}"/>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12965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88A24-E618-4EC9-8F41-993F11765A71}"/>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1FC758B9-A640-451A-94A3-6A0301413B37}"/>
              </a:ext>
            </a:extLst>
          </p:cNvPr>
          <p:cNvSpPr>
            <a:spLocks noGrp="1"/>
          </p:cNvSpPr>
          <p:nvPr>
            <p:ph sz="half" idx="1"/>
          </p:nvPr>
        </p:nvSpPr>
        <p:spPr>
          <a:xfrm>
            <a:off x="838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E129F2-0FE3-407E-A981-6F62603CB8D9}"/>
              </a:ext>
            </a:extLst>
          </p:cNvPr>
          <p:cNvSpPr>
            <a:spLocks noGrp="1"/>
          </p:cNvSpPr>
          <p:nvPr>
            <p:ph sz="half" idx="2"/>
          </p:nvPr>
        </p:nvSpPr>
        <p:spPr>
          <a:xfrm>
            <a:off x="6172200" y="1825625"/>
            <a:ext cx="5181600" cy="435133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03125C-0F95-4F4B-9756-76EDC575BC9E}"/>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6" name="Footer Placeholder 5">
            <a:extLst>
              <a:ext uri="{FF2B5EF4-FFF2-40B4-BE49-F238E27FC236}">
                <a16:creationId xmlns:a16="http://schemas.microsoft.com/office/drawing/2014/main" id="{ABFD324B-3696-4CEB-BFD3-BFD45FD841C6}"/>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CAE9B040-0795-43BF-99E4-BD9B12760A73}"/>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184783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44B2-C218-431F-A5F6-1706383B8A6A}"/>
              </a:ext>
            </a:extLst>
          </p:cNvPr>
          <p:cNvSpPr>
            <a:spLocks noGrp="1"/>
          </p:cNvSpPr>
          <p:nvPr>
            <p:ph type="title"/>
          </p:nvPr>
        </p:nvSpPr>
        <p:spPr>
          <a:xfrm>
            <a:off x="839788" y="365125"/>
            <a:ext cx="10515600" cy="1325563"/>
          </a:xfrm>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2CB06206-2BE7-4BC0-8775-34FB54C3AA05}"/>
              </a:ext>
            </a:extLst>
          </p:cNvPr>
          <p:cNvSpPr>
            <a:spLocks noGrp="1"/>
          </p:cNvSpPr>
          <p:nvPr>
            <p:ph type="body" idx="1"/>
          </p:nvPr>
        </p:nvSpPr>
        <p:spPr>
          <a:xfrm>
            <a:off x="839788" y="1681163"/>
            <a:ext cx="5157787"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9CCB55-28F6-46EF-B8C4-9D65FA6072F4}"/>
              </a:ext>
            </a:extLst>
          </p:cNvPr>
          <p:cNvSpPr>
            <a:spLocks noGrp="1"/>
          </p:cNvSpPr>
          <p:nvPr>
            <p:ph sz="half" idx="2"/>
          </p:nvPr>
        </p:nvSpPr>
        <p:spPr>
          <a:xfrm>
            <a:off x="839788" y="2505075"/>
            <a:ext cx="5157787"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996C90-EE37-4C0A-BBB2-20237657BE29}"/>
              </a:ext>
            </a:extLst>
          </p:cNvPr>
          <p:cNvSpPr>
            <a:spLocks noGrp="1"/>
          </p:cNvSpPr>
          <p:nvPr>
            <p:ph type="body" sz="quarter" idx="3"/>
          </p:nvPr>
        </p:nvSpPr>
        <p:spPr>
          <a:xfrm>
            <a:off x="6172200" y="1681163"/>
            <a:ext cx="5183188" cy="823912"/>
          </a:xfrm>
        </p:spPr>
        <p:txBody>
          <a:bodyPr anchor="b"/>
          <a:lstStyle>
            <a:lvl1pPr marL="0" indent="0">
              <a:buNone/>
              <a:defRPr sz="2400" b="1">
                <a:latin typeface="Times New Roman" panose="02020603050405020304" pitchFamily="18" charset="0"/>
                <a:cs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BB1379B-5394-4350-82FA-44C889891640}"/>
              </a:ext>
            </a:extLst>
          </p:cNvPr>
          <p:cNvSpPr>
            <a:spLocks noGrp="1"/>
          </p:cNvSpPr>
          <p:nvPr>
            <p:ph sz="quarter" idx="4"/>
          </p:nvPr>
        </p:nvSpPr>
        <p:spPr>
          <a:xfrm>
            <a:off x="6172200" y="2505075"/>
            <a:ext cx="5183188" cy="3684588"/>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B5A873-419A-413F-A182-D2F71F4FE1D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8" name="Footer Placeholder 7">
            <a:extLst>
              <a:ext uri="{FF2B5EF4-FFF2-40B4-BE49-F238E27FC236}">
                <a16:creationId xmlns:a16="http://schemas.microsoft.com/office/drawing/2014/main" id="{61E1A484-1DAE-4CDA-91B2-86B7995D50D1}"/>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9" name="Slide Number Placeholder 8">
            <a:extLst>
              <a:ext uri="{FF2B5EF4-FFF2-40B4-BE49-F238E27FC236}">
                <a16:creationId xmlns:a16="http://schemas.microsoft.com/office/drawing/2014/main" id="{400AE610-A71E-4416-B9FE-DBBFB2BA89D1}"/>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453402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1713A-BF9A-4CE7-A0DC-6607F715E78C}"/>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Date Placeholder 2">
            <a:extLst>
              <a:ext uri="{FF2B5EF4-FFF2-40B4-BE49-F238E27FC236}">
                <a16:creationId xmlns:a16="http://schemas.microsoft.com/office/drawing/2014/main" id="{671047F5-DA48-4F6E-98AF-F11E845287D6}"/>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4" name="Footer Placeholder 3">
            <a:extLst>
              <a:ext uri="{FF2B5EF4-FFF2-40B4-BE49-F238E27FC236}">
                <a16:creationId xmlns:a16="http://schemas.microsoft.com/office/drawing/2014/main" id="{E389DE1F-CD8D-49BA-BF65-009EF507A0B8}"/>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5" name="Slide Number Placeholder 4">
            <a:extLst>
              <a:ext uri="{FF2B5EF4-FFF2-40B4-BE49-F238E27FC236}">
                <a16:creationId xmlns:a16="http://schemas.microsoft.com/office/drawing/2014/main" id="{C4B73E84-8CFB-4ADF-AA22-22FDBE62A65B}"/>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143702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4BBEE0-6A57-4D59-ADC5-F7EC23E8C71B}"/>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3" name="Footer Placeholder 2">
            <a:extLst>
              <a:ext uri="{FF2B5EF4-FFF2-40B4-BE49-F238E27FC236}">
                <a16:creationId xmlns:a16="http://schemas.microsoft.com/office/drawing/2014/main" id="{FA91C269-9206-417D-89C2-276FFC318689}"/>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4" name="Slide Number Placeholder 3">
            <a:extLst>
              <a:ext uri="{FF2B5EF4-FFF2-40B4-BE49-F238E27FC236}">
                <a16:creationId xmlns:a16="http://schemas.microsoft.com/office/drawing/2014/main" id="{6EE999EE-8294-4140-A9AD-8A5EFCC51191}"/>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241479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BD8AD-68A5-4A86-BEB0-AB3FCE1526B7}"/>
              </a:ext>
            </a:extLst>
          </p:cNvPr>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29031BE-93C0-429E-B29F-8C50900213F5}"/>
              </a:ext>
            </a:extLst>
          </p:cNvPr>
          <p:cNvSpPr>
            <a:spLocks noGrp="1"/>
          </p:cNvSpPr>
          <p:nvPr>
            <p:ph idx="1"/>
          </p:nvPr>
        </p:nvSpPr>
        <p:spPr>
          <a:xfrm>
            <a:off x="5183188" y="987425"/>
            <a:ext cx="6172200" cy="4873625"/>
          </a:xfrm>
        </p:spPr>
        <p:txBody>
          <a:bodyPr/>
          <a:lstStyle>
            <a:lvl1pPr>
              <a:defRPr sz="32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000">
                <a:latin typeface="Times New Roman" panose="02020603050405020304" pitchFamily="18" charset="0"/>
                <a:cs typeface="Times New Roman" panose="02020603050405020304" pitchFamily="18" charset="0"/>
              </a:defRPr>
            </a:lvl4pPr>
            <a:lvl5pPr>
              <a:defRPr sz="2000">
                <a:latin typeface="Times New Roman" panose="02020603050405020304" pitchFamily="18" charset="0"/>
                <a:cs typeface="Times New Roman" panose="02020603050405020304" pitchFamily="18"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ED4C71-0FCC-4E89-AB95-41F401307193}"/>
              </a:ext>
            </a:extLst>
          </p:cNvPr>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E27B41B-1694-4DF2-AEF6-2F31996CA79F}"/>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6" name="Footer Placeholder 5">
            <a:extLst>
              <a:ext uri="{FF2B5EF4-FFF2-40B4-BE49-F238E27FC236}">
                <a16:creationId xmlns:a16="http://schemas.microsoft.com/office/drawing/2014/main" id="{F8696A1A-42EF-472C-A7F8-6C9E4C2A039F}"/>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1666782F-9514-4F84-A9F1-D276870895B7}"/>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642727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069A-DAB5-4310-AF02-B8382506BFED}"/>
              </a:ext>
            </a:extLst>
          </p:cNvPr>
          <p:cNvSpPr>
            <a:spLocks noGrp="1"/>
          </p:cNvSpPr>
          <p:nvPr>
            <p:ph type="title"/>
          </p:nvPr>
        </p:nvSpPr>
        <p:spPr>
          <a:xfrm>
            <a:off x="839788" y="457200"/>
            <a:ext cx="3932237" cy="1600200"/>
          </a:xfrm>
        </p:spPr>
        <p:txBody>
          <a:bodyPr anchor="b"/>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Picture Placeholder 2">
            <a:extLst>
              <a:ext uri="{FF2B5EF4-FFF2-40B4-BE49-F238E27FC236}">
                <a16:creationId xmlns:a16="http://schemas.microsoft.com/office/drawing/2014/main" id="{76273945-B275-44F2-94C2-82883DD1690E}"/>
              </a:ext>
            </a:extLst>
          </p:cNvPr>
          <p:cNvSpPr>
            <a:spLocks noGrp="1"/>
          </p:cNvSpPr>
          <p:nvPr>
            <p:ph type="pic" idx="1"/>
          </p:nvPr>
        </p:nvSpPr>
        <p:spPr>
          <a:xfrm>
            <a:off x="5183188" y="987425"/>
            <a:ext cx="6172200" cy="4873625"/>
          </a:xfrm>
        </p:spPr>
        <p:txBody>
          <a:bodyPr/>
          <a:lstStyle>
            <a:lvl1pPr marL="0" indent="0">
              <a:buNone/>
              <a:defRPr sz="3200">
                <a:latin typeface="Times New Roman" panose="02020603050405020304" pitchFamily="18" charset="0"/>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F55B59B-EF91-4ACC-BFD6-EACF4B5EF48E}"/>
              </a:ext>
            </a:extLst>
          </p:cNvPr>
          <p:cNvSpPr>
            <a:spLocks noGrp="1"/>
          </p:cNvSpPr>
          <p:nvPr>
            <p:ph type="body" sz="half" idx="2"/>
          </p:nvPr>
        </p:nvSpPr>
        <p:spPr>
          <a:xfrm>
            <a:off x="839788" y="2057400"/>
            <a:ext cx="3932237" cy="3811588"/>
          </a:xfrm>
        </p:spPr>
        <p:txBody>
          <a:bodyPr/>
          <a:lstStyle>
            <a:lvl1pPr marL="0" indent="0">
              <a:buNone/>
              <a:defRPr sz="1600">
                <a:latin typeface="Times New Roman" panose="02020603050405020304" pitchFamily="18" charset="0"/>
                <a:cs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6BFA464-AEBE-43CA-855E-4E30DAAA35B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6" name="Footer Placeholder 5">
            <a:extLst>
              <a:ext uri="{FF2B5EF4-FFF2-40B4-BE49-F238E27FC236}">
                <a16:creationId xmlns:a16="http://schemas.microsoft.com/office/drawing/2014/main" id="{D752FED8-36DF-4C31-BB33-83CF1B7DED17}"/>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7" name="Slide Number Placeholder 6">
            <a:extLst>
              <a:ext uri="{FF2B5EF4-FFF2-40B4-BE49-F238E27FC236}">
                <a16:creationId xmlns:a16="http://schemas.microsoft.com/office/drawing/2014/main" id="{0F81149B-F339-4CAF-8F80-FD7DA48D41E8}"/>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50084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86A-12AB-4EA3-ADC8-8F53826E2CC7}"/>
              </a:ext>
            </a:extLst>
          </p:cNvPr>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7472BC2F-0D37-4B48-A232-F222FD9DD0A0}"/>
              </a:ext>
            </a:extLst>
          </p:cNvPr>
          <p:cNvSpPr>
            <a:spLocks noGrp="1"/>
          </p:cNvSpPr>
          <p:nvPr>
            <p:ph type="body" orient="vert" idx="1"/>
          </p:nvPr>
        </p:nvSpPr>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20D126-475F-47FB-BA48-34DB2E8B0BD1}"/>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5" name="Footer Placeholder 4">
            <a:extLst>
              <a:ext uri="{FF2B5EF4-FFF2-40B4-BE49-F238E27FC236}">
                <a16:creationId xmlns:a16="http://schemas.microsoft.com/office/drawing/2014/main" id="{FF21173E-3ECD-4A34-958F-B6CA7257F514}"/>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60149A38-F11D-403D-9192-CF9DC42DCF15}"/>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312211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9DE6D2-5865-440A-A54E-B8B2A954BA09}"/>
              </a:ext>
            </a:extLst>
          </p:cNvPr>
          <p:cNvSpPr>
            <a:spLocks noGrp="1"/>
          </p:cNvSpPr>
          <p:nvPr>
            <p:ph type="title" orient="vert"/>
          </p:nvPr>
        </p:nvSpPr>
        <p:spPr>
          <a:xfrm>
            <a:off x="8724900" y="365125"/>
            <a:ext cx="2628900" cy="5811838"/>
          </a:xfrm>
        </p:spPr>
        <p:txBody>
          <a:bodyPr vert="eaVert"/>
          <a:lstStyle>
            <a:lvl1pPr>
              <a:defRPr>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8BC9EB99-2F9D-4FE9-BE3A-2594199BE25E}"/>
              </a:ext>
            </a:extLst>
          </p:cNvPr>
          <p:cNvSpPr>
            <a:spLocks noGrp="1"/>
          </p:cNvSpPr>
          <p:nvPr>
            <p:ph type="body" orient="vert" idx="1"/>
          </p:nvPr>
        </p:nvSpPr>
        <p:spPr>
          <a:xfrm>
            <a:off x="838200" y="365125"/>
            <a:ext cx="7734300" cy="5811838"/>
          </a:xfrm>
        </p:spPr>
        <p:txBody>
          <a:bodyPr vert="eaVert"/>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B97DD1-0D91-4AD9-B0A1-DBAE0792FE45}"/>
              </a:ext>
            </a:extLst>
          </p:cNvPr>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59B0272-E55A-4DC1-A14B-57686F62E6BD}" type="datetimeFigureOut">
              <a:rPr lang="en-US" smtClean="0"/>
              <a:pPr/>
              <a:t>3/22/2020</a:t>
            </a:fld>
            <a:endParaRPr lang="en-US" dirty="0"/>
          </a:p>
        </p:txBody>
      </p:sp>
      <p:sp>
        <p:nvSpPr>
          <p:cNvPr id="5" name="Footer Placeholder 4">
            <a:extLst>
              <a:ext uri="{FF2B5EF4-FFF2-40B4-BE49-F238E27FC236}">
                <a16:creationId xmlns:a16="http://schemas.microsoft.com/office/drawing/2014/main" id="{282BFF8F-726C-479C-AB05-F4F34AD1661D}"/>
              </a:ext>
            </a:extLst>
          </p:cNvPr>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C1532301-0B01-4502-A257-B5E0DF02A213}"/>
              </a:ext>
            </a:extLst>
          </p:cNvPr>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808CD9DD-6E24-4BC9-AFE9-2EAD8EF8146E}" type="slidenum">
              <a:rPr lang="en-US" smtClean="0"/>
              <a:pPr/>
              <a:t>‹#›</a:t>
            </a:fld>
            <a:endParaRPr lang="en-US" dirty="0"/>
          </a:p>
        </p:txBody>
      </p:sp>
    </p:spTree>
    <p:extLst>
      <p:ext uri="{BB962C8B-B14F-4D97-AF65-F5344CB8AC3E}">
        <p14:creationId xmlns:p14="http://schemas.microsoft.com/office/powerpoint/2010/main" val="861209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BD98E9-9088-44F2-9D28-CD3AD9AF9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3CEFC5-6EEA-46B1-A651-EBC602615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4073A-6E18-46B7-8952-106A0F573B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9B0272-E55A-4DC1-A14B-57686F62E6BD}" type="datetimeFigureOut">
              <a:rPr lang="en-US" smtClean="0"/>
              <a:t>3/22/2020</a:t>
            </a:fld>
            <a:endParaRPr lang="en-US" dirty="0"/>
          </a:p>
        </p:txBody>
      </p:sp>
      <p:sp>
        <p:nvSpPr>
          <p:cNvPr id="5" name="Footer Placeholder 4">
            <a:extLst>
              <a:ext uri="{FF2B5EF4-FFF2-40B4-BE49-F238E27FC236}">
                <a16:creationId xmlns:a16="http://schemas.microsoft.com/office/drawing/2014/main" id="{6EE84328-0ABA-43C9-9928-2393AF588F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92D3BA5-920C-4478-A40D-7A3F10D8B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8CD9DD-6E24-4BC9-AFE9-2EAD8EF8146E}" type="slidenum">
              <a:rPr lang="en-US" smtClean="0"/>
              <a:t>‹#›</a:t>
            </a:fld>
            <a:endParaRPr lang="en-US" dirty="0"/>
          </a:p>
        </p:txBody>
      </p:sp>
    </p:spTree>
    <p:extLst>
      <p:ext uri="{BB962C8B-B14F-4D97-AF65-F5344CB8AC3E}">
        <p14:creationId xmlns:p14="http://schemas.microsoft.com/office/powerpoint/2010/main" val="1089364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50E4C519-FBE9-4ABE-A8F9-C2CBE3269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4536E5CA-E860-4E9B-8F36-9A6DF389B691}"/>
              </a:ext>
            </a:extLst>
          </p:cNvPr>
          <p:cNvPicPr>
            <a:picLocks noChangeAspect="1"/>
          </p:cNvPicPr>
          <p:nvPr/>
        </p:nvPicPr>
        <p:blipFill rotWithShape="1">
          <a:blip r:embed="rId2"/>
          <a:srcRect l="9161" r="27571" b="1"/>
          <a:stretch/>
        </p:blipFill>
        <p:spPr>
          <a:xfrm>
            <a:off x="3245637" y="-1"/>
            <a:ext cx="8946363" cy="6858000"/>
          </a:xfrm>
          <a:custGeom>
            <a:avLst/>
            <a:gdLst/>
            <a:ahLst/>
            <a:cxnLst/>
            <a:rect l="l" t="t" r="r" b="b"/>
            <a:pathLst>
              <a:path w="8946363" h="6858000">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p:spPr>
      </p:pic>
      <p:sp useBgFill="1">
        <p:nvSpPr>
          <p:cNvPr id="62" name="Freeform: Shape 61">
            <a:extLst>
              <a:ext uri="{FF2B5EF4-FFF2-40B4-BE49-F238E27FC236}">
                <a16:creationId xmlns:a16="http://schemas.microsoft.com/office/drawing/2014/main" id="{80EC29FB-299E-49F3-8C7B-01199632A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455672" cy="6858000"/>
          </a:xfrm>
          <a:custGeom>
            <a:avLst/>
            <a:gdLst>
              <a:gd name="connsiteX0" fmla="*/ 0 w 4455672"/>
              <a:gd name="connsiteY0" fmla="*/ 0 h 6858000"/>
              <a:gd name="connsiteX1" fmla="*/ 3245636 w 4455672"/>
              <a:gd name="connsiteY1" fmla="*/ 0 h 6858000"/>
              <a:gd name="connsiteX2" fmla="*/ 3305677 w 4455672"/>
              <a:gd name="connsiteY2" fmla="*/ 69272 h 6858000"/>
              <a:gd name="connsiteX3" fmla="*/ 4455672 w 4455672"/>
              <a:gd name="connsiteY3" fmla="*/ 3429001 h 6858000"/>
              <a:gd name="connsiteX4" fmla="*/ 3305677 w 4455672"/>
              <a:gd name="connsiteY4" fmla="*/ 6788731 h 6858000"/>
              <a:gd name="connsiteX5" fmla="*/ 3245638 w 4455672"/>
              <a:gd name="connsiteY5" fmla="*/ 6858000 h 6858000"/>
              <a:gd name="connsiteX6" fmla="*/ 0 w 445567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2" h="6858000">
                <a:moveTo>
                  <a:pt x="0" y="0"/>
                </a:moveTo>
                <a:lnTo>
                  <a:pt x="3245636" y="0"/>
                </a:lnTo>
                <a:lnTo>
                  <a:pt x="3305677" y="69272"/>
                </a:lnTo>
                <a:cubicBezTo>
                  <a:pt x="4016203" y="929101"/>
                  <a:pt x="4455672" y="2116945"/>
                  <a:pt x="4455672" y="3429001"/>
                </a:cubicBezTo>
                <a:cubicBezTo>
                  <a:pt x="4455672" y="4741057"/>
                  <a:pt x="4016203" y="5928901"/>
                  <a:pt x="3305677" y="6788731"/>
                </a:cubicBezTo>
                <a:lnTo>
                  <a:pt x="3245638"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64" name="Freeform: Shape 63">
            <a:extLst>
              <a:ext uri="{FF2B5EF4-FFF2-40B4-BE49-F238E27FC236}">
                <a16:creationId xmlns:a16="http://schemas.microsoft.com/office/drawing/2014/main" id="{C29A2522-B27A-45C5-897B-79A1407D1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8" cy="6858000"/>
          </a:xfrm>
          <a:custGeom>
            <a:avLst/>
            <a:gdLst>
              <a:gd name="connsiteX0" fmla="*/ 0 w 4446528"/>
              <a:gd name="connsiteY0" fmla="*/ 0 h 6858000"/>
              <a:gd name="connsiteX1" fmla="*/ 3236492 w 4446528"/>
              <a:gd name="connsiteY1" fmla="*/ 0 h 6858000"/>
              <a:gd name="connsiteX2" fmla="*/ 3296533 w 4446528"/>
              <a:gd name="connsiteY2" fmla="*/ 69272 h 6858000"/>
              <a:gd name="connsiteX3" fmla="*/ 4446528 w 4446528"/>
              <a:gd name="connsiteY3" fmla="*/ 3429001 h 6858000"/>
              <a:gd name="connsiteX4" fmla="*/ 3296533 w 4446528"/>
              <a:gd name="connsiteY4" fmla="*/ 6788731 h 6858000"/>
              <a:gd name="connsiteX5" fmla="*/ 3236494 w 4446528"/>
              <a:gd name="connsiteY5" fmla="*/ 6858000 h 6858000"/>
              <a:gd name="connsiteX6" fmla="*/ 0 w 444652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8" h="6858000">
                <a:moveTo>
                  <a:pt x="0" y="0"/>
                </a:moveTo>
                <a:lnTo>
                  <a:pt x="3236492" y="0"/>
                </a:lnTo>
                <a:lnTo>
                  <a:pt x="3296533" y="69272"/>
                </a:lnTo>
                <a:cubicBezTo>
                  <a:pt x="4007059" y="929101"/>
                  <a:pt x="4446528" y="2116945"/>
                  <a:pt x="4446528" y="3429001"/>
                </a:cubicBezTo>
                <a:cubicBezTo>
                  <a:pt x="4446528" y="4741057"/>
                  <a:pt x="4007059" y="5928901"/>
                  <a:pt x="3296533" y="6788731"/>
                </a:cubicBezTo>
                <a:lnTo>
                  <a:pt x="323649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E64A52-A1E4-4FE9-A8A5-68273BB639A1}"/>
              </a:ext>
            </a:extLst>
          </p:cNvPr>
          <p:cNvSpPr>
            <a:spLocks noGrp="1"/>
          </p:cNvSpPr>
          <p:nvPr>
            <p:ph type="ctrTitle"/>
          </p:nvPr>
        </p:nvSpPr>
        <p:spPr>
          <a:xfrm>
            <a:off x="371094" y="203200"/>
            <a:ext cx="3438144" cy="2197100"/>
          </a:xfrm>
        </p:spPr>
        <p:txBody>
          <a:bodyPr vert="horz" lIns="91440" tIns="45720" rIns="91440" bIns="45720" rtlCol="0" anchor="ctr">
            <a:normAutofit/>
          </a:bodyPr>
          <a:lstStyle/>
          <a:p>
            <a:pPr algn="l"/>
            <a:r>
              <a:rPr lang="en-US" sz="3600" dirty="0"/>
              <a:t>Music</a:t>
            </a:r>
            <a:br>
              <a:rPr lang="en-US" sz="3600" dirty="0"/>
            </a:br>
            <a:r>
              <a:rPr lang="en-US" sz="3600" dirty="0"/>
              <a:t>Recommendation</a:t>
            </a:r>
            <a:br>
              <a:rPr lang="en-US" sz="3600" dirty="0"/>
            </a:br>
            <a:r>
              <a:rPr lang="en-US" sz="3600" dirty="0"/>
              <a:t>Analysis</a:t>
            </a:r>
          </a:p>
        </p:txBody>
      </p:sp>
      <p:sp>
        <p:nvSpPr>
          <p:cNvPr id="66" name="Rectangle 6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0961"/>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68" name="Rectangle 6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4181"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371094" y="3150317"/>
            <a:ext cx="3438906" cy="2774995"/>
          </a:xfrm>
        </p:spPr>
        <p:txBody>
          <a:bodyPr vert="horz" lIns="91440" tIns="45720" rIns="91440" bIns="45720" rtlCol="0" anchor="t">
            <a:normAutofit/>
          </a:bodyPr>
          <a:lstStyle/>
          <a:p>
            <a:pPr algn="l"/>
            <a:endParaRPr lang="en-US" sz="1800" dirty="0"/>
          </a:p>
          <a:p>
            <a:pPr algn="l"/>
            <a:r>
              <a:rPr lang="en-US" sz="1800" dirty="0"/>
              <a:t>IST718</a:t>
            </a:r>
          </a:p>
          <a:p>
            <a:pPr algn="l"/>
            <a:r>
              <a:rPr lang="en-US" sz="1800" dirty="0"/>
              <a:t>Professor </a:t>
            </a:r>
            <a:r>
              <a:rPr lang="en-US" sz="1800" dirty="0" err="1"/>
              <a:t>Lando</a:t>
            </a:r>
            <a:endParaRPr lang="en-US" sz="1800" dirty="0"/>
          </a:p>
          <a:p>
            <a:pPr algn="l"/>
            <a:r>
              <a:rPr lang="en-US" sz="1800" dirty="0"/>
              <a:t>Tim Abrams, </a:t>
            </a:r>
            <a:r>
              <a:rPr lang="en-US" sz="1800" dirty="0" err="1"/>
              <a:t>Telly</a:t>
            </a:r>
            <a:r>
              <a:rPr lang="en-US" sz="1800" dirty="0"/>
              <a:t> Cooper, Ryan Fischer &amp; Brian Hogan</a:t>
            </a:r>
          </a:p>
          <a:p>
            <a:pPr algn="l"/>
            <a:endParaRPr lang="en-US" sz="1800" dirty="0"/>
          </a:p>
          <a:p>
            <a:pPr indent="-228600" algn="l">
              <a:buFont typeface="Arial" panose="020B0604020202020204" pitchFamily="34" charset="0"/>
              <a:buChar char="•"/>
            </a:pPr>
            <a:endParaRPr lang="en-US" sz="1800" dirty="0"/>
          </a:p>
        </p:txBody>
      </p:sp>
      <p:pic>
        <p:nvPicPr>
          <p:cNvPr id="35" name="Picture 34">
            <a:extLst>
              <a:ext uri="{FF2B5EF4-FFF2-40B4-BE49-F238E27FC236}">
                <a16:creationId xmlns:a16="http://schemas.microsoft.com/office/drawing/2014/main" id="{48B2DA63-8080-408B-AF46-418939546CD5}"/>
              </a:ext>
            </a:extLst>
          </p:cNvPr>
          <p:cNvPicPr>
            <a:picLocks noChangeAspect="1"/>
          </p:cNvPicPr>
          <p:nvPr/>
        </p:nvPicPr>
        <p:blipFill rotWithShape="1">
          <a:blip r:embed="rId3">
            <a:duotone>
              <a:prstClr val="black"/>
              <a:prstClr val="white"/>
            </a:duotone>
          </a:blip>
          <a:srcRect r="2015" b="-1"/>
          <a:stretch/>
        </p:blipFill>
        <p:spPr>
          <a:xfrm>
            <a:off x="10390757" y="1691640"/>
            <a:ext cx="1801265" cy="3474720"/>
          </a:xfrm>
          <a:custGeom>
            <a:avLst/>
            <a:gdLst/>
            <a:ahLst/>
            <a:cxnLst/>
            <a:rect l="l" t="t" r="r" b="b"/>
            <a:pathLst>
              <a:path w="1801265" h="3474720">
                <a:moveTo>
                  <a:pt x="1737360" y="0"/>
                </a:moveTo>
                <a:lnTo>
                  <a:pt x="1801265" y="3228"/>
                </a:lnTo>
                <a:lnTo>
                  <a:pt x="1801265" y="3471494"/>
                </a:lnTo>
                <a:lnTo>
                  <a:pt x="1737360" y="3474720"/>
                </a:lnTo>
                <a:cubicBezTo>
                  <a:pt x="777842" y="3474720"/>
                  <a:pt x="0" y="2696878"/>
                  <a:pt x="0" y="1737360"/>
                </a:cubicBezTo>
                <a:cubicBezTo>
                  <a:pt x="0" y="777842"/>
                  <a:pt x="777842" y="0"/>
                  <a:pt x="1737360" y="0"/>
                </a:cubicBezTo>
                <a:close/>
              </a:path>
            </a:pathLst>
          </a:custGeom>
        </p:spPr>
      </p:pic>
    </p:spTree>
    <p:extLst>
      <p:ext uri="{BB962C8B-B14F-4D97-AF65-F5344CB8AC3E}">
        <p14:creationId xmlns:p14="http://schemas.microsoft.com/office/powerpoint/2010/main" val="857743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EB181E26-89C4-4A14-92DE-0F4C4B0E9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342402E1-B9D8-424B-837F-6E4AA2E0F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23805"/>
            <a:ext cx="7800441" cy="5696020"/>
          </a:xfrm>
          <a:custGeom>
            <a:avLst/>
            <a:gdLst>
              <a:gd name="connsiteX0" fmla="*/ 0 w 7800441"/>
              <a:gd name="connsiteY0" fmla="*/ 0 h 5696020"/>
              <a:gd name="connsiteX1" fmla="*/ 7800441 w 7800441"/>
              <a:gd name="connsiteY1" fmla="*/ 0 h 5696020"/>
              <a:gd name="connsiteX2" fmla="*/ 5037161 w 7800441"/>
              <a:gd name="connsiteY2" fmla="*/ 5696020 h 5696020"/>
              <a:gd name="connsiteX3" fmla="*/ 0 w 7800441"/>
              <a:gd name="connsiteY3" fmla="*/ 5696020 h 5696020"/>
            </a:gdLst>
            <a:ahLst/>
            <a:cxnLst>
              <a:cxn ang="0">
                <a:pos x="connsiteX0" y="connsiteY0"/>
              </a:cxn>
              <a:cxn ang="0">
                <a:pos x="connsiteX1" y="connsiteY1"/>
              </a:cxn>
              <a:cxn ang="0">
                <a:pos x="connsiteX2" y="connsiteY2"/>
              </a:cxn>
              <a:cxn ang="0">
                <a:pos x="connsiteX3" y="connsiteY3"/>
              </a:cxn>
            </a:cxnLst>
            <a:rect l="l" t="t" r="r" b="b"/>
            <a:pathLst>
              <a:path w="7800441" h="5696020">
                <a:moveTo>
                  <a:pt x="0" y="0"/>
                </a:moveTo>
                <a:lnTo>
                  <a:pt x="7800441" y="0"/>
                </a:lnTo>
                <a:lnTo>
                  <a:pt x="5037161" y="5696020"/>
                </a:lnTo>
                <a:lnTo>
                  <a:pt x="0" y="569602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05E64A52-A1E4-4FE9-A8A5-68273BB639A1}"/>
              </a:ext>
            </a:extLst>
          </p:cNvPr>
          <p:cNvSpPr>
            <a:spLocks noGrp="1"/>
          </p:cNvSpPr>
          <p:nvPr>
            <p:ph type="title"/>
          </p:nvPr>
        </p:nvSpPr>
        <p:spPr>
          <a:xfrm>
            <a:off x="838200" y="552518"/>
            <a:ext cx="5111496" cy="1097280"/>
          </a:xfrm>
        </p:spPr>
        <p:txBody>
          <a:bodyPr vert="horz" lIns="91440" tIns="45720" rIns="91440" bIns="45720" rtlCol="0">
            <a:normAutofit/>
          </a:bodyPr>
          <a:lstStyle/>
          <a:p>
            <a:r>
              <a:rPr lang="en-US" dirty="0">
                <a:solidFill>
                  <a:srgbClr val="FFFFFE"/>
                </a:solidFill>
              </a:rPr>
              <a:t>Specification</a:t>
            </a:r>
          </a:p>
        </p:txBody>
      </p:sp>
      <p:pic>
        <p:nvPicPr>
          <p:cNvPr id="6" name="Picture 5">
            <a:extLst>
              <a:ext uri="{FF2B5EF4-FFF2-40B4-BE49-F238E27FC236}">
                <a16:creationId xmlns:a16="http://schemas.microsoft.com/office/drawing/2014/main" id="{B08DBA15-11AB-4442-845D-4F83F4C31B93}"/>
              </a:ext>
            </a:extLst>
          </p:cNvPr>
          <p:cNvPicPr>
            <a:picLocks noChangeAspect="1"/>
          </p:cNvPicPr>
          <p:nvPr/>
        </p:nvPicPr>
        <p:blipFill>
          <a:blip r:embed="rId2"/>
          <a:stretch>
            <a:fillRect/>
          </a:stretch>
        </p:blipFill>
        <p:spPr>
          <a:xfrm>
            <a:off x="6570920" y="2575246"/>
            <a:ext cx="5359047" cy="3629792"/>
          </a:xfrm>
          <a:prstGeom prst="rect">
            <a:avLst/>
          </a:prstGeom>
        </p:spPr>
      </p:pic>
      <p:sp>
        <p:nvSpPr>
          <p:cNvPr id="3" name="Subtitle 2">
            <a:extLst>
              <a:ext uri="{FF2B5EF4-FFF2-40B4-BE49-F238E27FC236}">
                <a16:creationId xmlns:a16="http://schemas.microsoft.com/office/drawing/2014/main" id="{49CA6EC6-A229-4363-BF2E-D84B231858B6}"/>
              </a:ext>
            </a:extLst>
          </p:cNvPr>
          <p:cNvSpPr>
            <a:spLocks noGrp="1"/>
          </p:cNvSpPr>
          <p:nvPr>
            <p:ph idx="1"/>
          </p:nvPr>
        </p:nvSpPr>
        <p:spPr>
          <a:xfrm>
            <a:off x="838200" y="1556748"/>
            <a:ext cx="4379976" cy="4322844"/>
          </a:xfrm>
        </p:spPr>
        <p:txBody>
          <a:bodyPr vert="horz" lIns="91440" tIns="45720" rIns="91440" bIns="45720" rtlCol="0" anchor="t">
            <a:normAutofit fontScale="85000" lnSpcReduction="10000"/>
          </a:bodyPr>
          <a:lstStyle/>
          <a:p>
            <a:endParaRPr lang="en-US" sz="1700" dirty="0">
              <a:solidFill>
                <a:srgbClr val="FFFFFE"/>
              </a:solidFill>
            </a:endParaRPr>
          </a:p>
          <a:p>
            <a:r>
              <a:rPr lang="en-US" sz="1800" dirty="0">
                <a:solidFill>
                  <a:srgbClr val="FFFFFE"/>
                </a:solidFill>
              </a:rPr>
              <a:t>The IoT age, in combination with an almost global access to internet streaming bandwidth has created a consumer base with unprecedented exponential growth in demand for audio content. </a:t>
            </a:r>
          </a:p>
          <a:p>
            <a:r>
              <a:rPr lang="en-US" sz="1800" dirty="0">
                <a:solidFill>
                  <a:srgbClr val="FFFFFE"/>
                </a:solidFill>
              </a:rPr>
              <a:t>Revenue from streaming services reached $8.8 billion in 2019, and now accounts for 79.5% of all recorded music revenues. </a:t>
            </a:r>
          </a:p>
          <a:p>
            <a:r>
              <a:rPr lang="en-US" sz="1800" dirty="0">
                <a:solidFill>
                  <a:srgbClr val="FFFFFE"/>
                </a:solidFill>
              </a:rPr>
              <a:t>A rapidly expanding and competitive market has been developed almost entirely in the last decade</a:t>
            </a:r>
          </a:p>
          <a:p>
            <a:r>
              <a:rPr lang="en-US" sz="1800" dirty="0">
                <a:solidFill>
                  <a:srgbClr val="FFFFFE"/>
                </a:solidFill>
              </a:rPr>
              <a:t>From March 2018 to September 2019 the streaming service providers Soundcloud, Shazam, SiriusXM and TuneIn Radio lost significant market share, and potentially long-term viability. </a:t>
            </a:r>
          </a:p>
          <a:p>
            <a:r>
              <a:rPr lang="en-US" sz="1800" dirty="0">
                <a:solidFill>
                  <a:srgbClr val="FFFFFE"/>
                </a:solidFill>
              </a:rPr>
              <a:t>As the top providers compete for a larger share of revenues it is critical that they “must get playlists right” through relevant recommendations based in each users’ preferences</a:t>
            </a:r>
          </a:p>
        </p:txBody>
      </p:sp>
      <p:pic>
        <p:nvPicPr>
          <p:cNvPr id="4" name="Picture 3">
            <a:extLst>
              <a:ext uri="{FF2B5EF4-FFF2-40B4-BE49-F238E27FC236}">
                <a16:creationId xmlns:a16="http://schemas.microsoft.com/office/drawing/2014/main" id="{3985455A-5AAF-40D3-B4D2-768378643920}"/>
              </a:ext>
            </a:extLst>
          </p:cNvPr>
          <p:cNvPicPr>
            <a:picLocks noChangeAspect="1"/>
          </p:cNvPicPr>
          <p:nvPr/>
        </p:nvPicPr>
        <p:blipFill rotWithShape="1">
          <a:blip r:embed="rId3"/>
          <a:srcRect t="8396" r="3" b="3"/>
          <a:stretch/>
        </p:blipFill>
        <p:spPr>
          <a:xfrm>
            <a:off x="7146388" y="552518"/>
            <a:ext cx="3468344" cy="1779202"/>
          </a:xfrm>
          <a:custGeom>
            <a:avLst/>
            <a:gdLst/>
            <a:ahLst/>
            <a:cxnLst/>
            <a:rect l="l" t="t" r="r" b="b"/>
            <a:pathLst>
              <a:path w="5401023" h="2770632">
                <a:moveTo>
                  <a:pt x="3214941" y="0"/>
                </a:moveTo>
                <a:lnTo>
                  <a:pt x="5401023" y="0"/>
                </a:lnTo>
                <a:lnTo>
                  <a:pt x="5401023" y="2770632"/>
                </a:lnTo>
                <a:lnTo>
                  <a:pt x="3214941" y="2770632"/>
                </a:lnTo>
                <a:lnTo>
                  <a:pt x="3214941" y="2768786"/>
                </a:lnTo>
                <a:lnTo>
                  <a:pt x="1865202" y="2768786"/>
                </a:lnTo>
                <a:lnTo>
                  <a:pt x="1865202" y="2768787"/>
                </a:lnTo>
                <a:lnTo>
                  <a:pt x="0" y="2768787"/>
                </a:lnTo>
                <a:lnTo>
                  <a:pt x="1325372" y="2605"/>
                </a:lnTo>
                <a:lnTo>
                  <a:pt x="1653397" y="2605"/>
                </a:lnTo>
                <a:lnTo>
                  <a:pt x="1653397" y="2597"/>
                </a:lnTo>
                <a:lnTo>
                  <a:pt x="1723225" y="2597"/>
                </a:lnTo>
                <a:lnTo>
                  <a:pt x="1723225" y="2596"/>
                </a:lnTo>
                <a:lnTo>
                  <a:pt x="2263055" y="2596"/>
                </a:lnTo>
                <a:lnTo>
                  <a:pt x="2263055" y="2597"/>
                </a:lnTo>
                <a:lnTo>
                  <a:pt x="3204175" y="2597"/>
                </a:lnTo>
                <a:lnTo>
                  <a:pt x="3204175" y="2604"/>
                </a:lnTo>
                <a:lnTo>
                  <a:pt x="3214941" y="2604"/>
                </a:lnTo>
                <a:close/>
              </a:path>
            </a:pathLst>
          </a:custGeom>
        </p:spPr>
      </p:pic>
      <p:sp>
        <p:nvSpPr>
          <p:cNvPr id="7" name="Parallelogram 6">
            <a:extLst>
              <a:ext uri="{FF2B5EF4-FFF2-40B4-BE49-F238E27FC236}">
                <a16:creationId xmlns:a16="http://schemas.microsoft.com/office/drawing/2014/main" id="{AE071879-1C34-4B32-82E4-1B43372B9008}"/>
              </a:ext>
            </a:extLst>
          </p:cNvPr>
          <p:cNvSpPr/>
          <p:nvPr/>
        </p:nvSpPr>
        <p:spPr>
          <a:xfrm rot="1486748">
            <a:off x="6213944" y="460816"/>
            <a:ext cx="455797" cy="4978722"/>
          </a:xfrm>
          <a:prstGeom prst="parallelogram">
            <a:avLst/>
          </a:prstGeom>
          <a:solidFill>
            <a:schemeClr val="tx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674721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C336E09E-CAD8-4333-8DA8-E0536F9B39B8}"/>
              </a:ext>
            </a:extLst>
          </p:cNvPr>
          <p:cNvSpPr>
            <a:spLocks noGrp="1"/>
          </p:cNvSpPr>
          <p:nvPr>
            <p:ph type="title"/>
          </p:nvPr>
        </p:nvSpPr>
        <p:spPr>
          <a:xfrm>
            <a:off x="838200" y="365125"/>
            <a:ext cx="10515600" cy="1325563"/>
          </a:xfrm>
        </p:spPr>
        <p:txBody>
          <a:bodyPr>
            <a:normAutofit/>
          </a:bodyPr>
          <a:lstStyle/>
          <a:p>
            <a:r>
              <a:rPr lang="en-US" u="sng" dirty="0"/>
              <a:t>Problem Statement</a:t>
            </a:r>
          </a:p>
        </p:txBody>
      </p:sp>
      <p:sp>
        <p:nvSpPr>
          <p:cNvPr id="5" name="Content Placeholder 4">
            <a:extLst>
              <a:ext uri="{FF2B5EF4-FFF2-40B4-BE49-F238E27FC236}">
                <a16:creationId xmlns:a16="http://schemas.microsoft.com/office/drawing/2014/main" id="{BDB0B92D-8CB9-4C14-B3D4-113600F0A3CA}"/>
              </a:ext>
            </a:extLst>
          </p:cNvPr>
          <p:cNvSpPr>
            <a:spLocks noGrp="1"/>
          </p:cNvSpPr>
          <p:nvPr>
            <p:ph sz="half" idx="1"/>
          </p:nvPr>
        </p:nvSpPr>
        <p:spPr>
          <a:xfrm>
            <a:off x="460857" y="3959431"/>
            <a:ext cx="5096934" cy="2131879"/>
          </a:xfrm>
        </p:spPr>
        <p:txBody>
          <a:bodyPr>
            <a:normAutofit lnSpcReduction="10000"/>
          </a:bodyPr>
          <a:lstStyle/>
          <a:p>
            <a:pPr marL="0" indent="0">
              <a:buNone/>
            </a:pPr>
            <a:r>
              <a:rPr lang="en-US" sz="2000" u="sng" dirty="0"/>
              <a:t>Hypothesis</a:t>
            </a:r>
          </a:p>
          <a:p>
            <a:pPr marL="457200" lvl="1" indent="0">
              <a:buNone/>
            </a:pPr>
            <a:r>
              <a:rPr lang="en-US" sz="2000" dirty="0"/>
              <a:t>Analysis of data about the listener, songs and services enables a music streaming service to predict if a given user will listen to a song more than once.</a:t>
            </a:r>
          </a:p>
        </p:txBody>
      </p:sp>
      <p:sp>
        <p:nvSpPr>
          <p:cNvPr id="6" name="Text Placeholder 5">
            <a:extLst>
              <a:ext uri="{FF2B5EF4-FFF2-40B4-BE49-F238E27FC236}">
                <a16:creationId xmlns:a16="http://schemas.microsoft.com/office/drawing/2014/main" id="{50C93ACC-CA46-43B9-B7FC-033A9C3C60AD}"/>
              </a:ext>
            </a:extLst>
          </p:cNvPr>
          <p:cNvSpPr>
            <a:spLocks noGrp="1"/>
          </p:cNvSpPr>
          <p:nvPr>
            <p:ph sz="half" idx="2"/>
          </p:nvPr>
        </p:nvSpPr>
        <p:spPr>
          <a:xfrm>
            <a:off x="460857" y="1546823"/>
            <a:ext cx="10948553" cy="1731572"/>
          </a:xfrm>
        </p:spPr>
        <p:txBody>
          <a:bodyPr>
            <a:normAutofit lnSpcReduction="10000"/>
          </a:bodyPr>
          <a:lstStyle/>
          <a:p>
            <a:pPr marL="0" indent="0">
              <a:buNone/>
            </a:pPr>
            <a:r>
              <a:rPr lang="en-US" sz="2000" dirty="0"/>
              <a:t>The music streaming market is highly competitive with little differentiation beyond the core product (songs and artists). This results in rapid loss of market share and business viability in ancillary areas-primarily song recommendation algorithms to encourage streaming and product consumption beyond the intended consumer time frames. Companies that cannot leverage their user and service data to provide highly relevant song recommendations to their listeners risk irrelevance in as little as eighteen months, as the average consumer has almost zero barriers to transition.</a:t>
            </a:r>
          </a:p>
        </p:txBody>
      </p:sp>
      <p:sp>
        <p:nvSpPr>
          <p:cNvPr id="10" name="Content Placeholder 4">
            <a:extLst>
              <a:ext uri="{FF2B5EF4-FFF2-40B4-BE49-F238E27FC236}">
                <a16:creationId xmlns:a16="http://schemas.microsoft.com/office/drawing/2014/main" id="{4B5D0772-C6C0-4953-8404-69A3FBC73EA4}"/>
              </a:ext>
            </a:extLst>
          </p:cNvPr>
          <p:cNvSpPr txBox="1">
            <a:spLocks/>
          </p:cNvSpPr>
          <p:nvPr/>
        </p:nvSpPr>
        <p:spPr>
          <a:xfrm>
            <a:off x="5935133" y="3959432"/>
            <a:ext cx="5096934" cy="21318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u="sng" dirty="0"/>
              <a:t>Data</a:t>
            </a:r>
          </a:p>
          <a:p>
            <a:pPr marL="457200" lvl="1" indent="0">
              <a:buNone/>
            </a:pPr>
            <a:r>
              <a:rPr lang="en-US" sz="2000" dirty="0"/>
              <a:t>The data was sourced from the music recommendation system Kaggle competition hosted by The ACM International Conference on Web Search and Data Mining (WSDM) and based on a donated dataset from KKBOX</a:t>
            </a:r>
          </a:p>
        </p:txBody>
      </p:sp>
    </p:spTree>
    <p:extLst>
      <p:ext uri="{BB962C8B-B14F-4D97-AF65-F5344CB8AC3E}">
        <p14:creationId xmlns:p14="http://schemas.microsoft.com/office/powerpoint/2010/main" val="58320659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EB181E26-89C4-4A14-92DE-0F4C4B0E9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342402E1-B9D8-424B-837F-6E4AA2E0F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23805"/>
            <a:ext cx="7800441" cy="5696020"/>
          </a:xfrm>
          <a:custGeom>
            <a:avLst/>
            <a:gdLst>
              <a:gd name="connsiteX0" fmla="*/ 0 w 7800441"/>
              <a:gd name="connsiteY0" fmla="*/ 0 h 5696020"/>
              <a:gd name="connsiteX1" fmla="*/ 7800441 w 7800441"/>
              <a:gd name="connsiteY1" fmla="*/ 0 h 5696020"/>
              <a:gd name="connsiteX2" fmla="*/ 5037161 w 7800441"/>
              <a:gd name="connsiteY2" fmla="*/ 5696020 h 5696020"/>
              <a:gd name="connsiteX3" fmla="*/ 0 w 7800441"/>
              <a:gd name="connsiteY3" fmla="*/ 5696020 h 5696020"/>
            </a:gdLst>
            <a:ahLst/>
            <a:cxnLst>
              <a:cxn ang="0">
                <a:pos x="connsiteX0" y="connsiteY0"/>
              </a:cxn>
              <a:cxn ang="0">
                <a:pos x="connsiteX1" y="connsiteY1"/>
              </a:cxn>
              <a:cxn ang="0">
                <a:pos x="connsiteX2" y="connsiteY2"/>
              </a:cxn>
              <a:cxn ang="0">
                <a:pos x="connsiteX3" y="connsiteY3"/>
              </a:cxn>
            </a:cxnLst>
            <a:rect l="l" t="t" r="r" b="b"/>
            <a:pathLst>
              <a:path w="7800441" h="5696020">
                <a:moveTo>
                  <a:pt x="0" y="0"/>
                </a:moveTo>
                <a:lnTo>
                  <a:pt x="7800441" y="0"/>
                </a:lnTo>
                <a:lnTo>
                  <a:pt x="5037161" y="5696020"/>
                </a:lnTo>
                <a:lnTo>
                  <a:pt x="0" y="569602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lumMod val="95000"/>
                </a:schemeClr>
              </a:solidFill>
            </a:endParaRPr>
          </a:p>
        </p:txBody>
      </p:sp>
      <p:sp>
        <p:nvSpPr>
          <p:cNvPr id="6" name="Title 5">
            <a:extLst>
              <a:ext uri="{FF2B5EF4-FFF2-40B4-BE49-F238E27FC236}">
                <a16:creationId xmlns:a16="http://schemas.microsoft.com/office/drawing/2014/main" id="{A103524C-518E-4F66-B7B7-83362BFA59E6}"/>
              </a:ext>
            </a:extLst>
          </p:cNvPr>
          <p:cNvSpPr>
            <a:spLocks noGrp="1"/>
          </p:cNvSpPr>
          <p:nvPr>
            <p:ph type="ctrTitle"/>
          </p:nvPr>
        </p:nvSpPr>
        <p:spPr>
          <a:xfrm>
            <a:off x="838200" y="914400"/>
            <a:ext cx="5111496" cy="1097280"/>
          </a:xfrm>
        </p:spPr>
        <p:txBody>
          <a:bodyPr vert="horz" lIns="91440" tIns="45720" rIns="91440" bIns="45720" rtlCol="0" anchor="ctr">
            <a:normAutofit/>
          </a:bodyPr>
          <a:lstStyle/>
          <a:p>
            <a:pPr algn="l"/>
            <a:r>
              <a:rPr lang="en-US" sz="4400" kern="1200">
                <a:solidFill>
                  <a:srgbClr val="FFFFFE"/>
                </a:solidFill>
                <a:latin typeface="+mj-lt"/>
                <a:ea typeface="+mj-ea"/>
                <a:cs typeface="+mj-cs"/>
              </a:rPr>
              <a:t>Situation</a:t>
            </a: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838199" y="1855280"/>
            <a:ext cx="4379976" cy="3547872"/>
          </a:xfrm>
        </p:spPr>
        <p:txBody>
          <a:bodyPr vert="horz" lIns="91440" tIns="45720" rIns="91440" bIns="45720" rtlCol="0" anchor="t">
            <a:noAutofit/>
          </a:bodyPr>
          <a:lstStyle/>
          <a:p>
            <a:pPr marL="342900" indent="-228600" algn="l">
              <a:buFont typeface="Arial" panose="020B0604020202020204" pitchFamily="34" charset="0"/>
              <a:buChar char="•"/>
            </a:pPr>
            <a:r>
              <a:rPr lang="en-US" sz="1800" dirty="0">
                <a:solidFill>
                  <a:srgbClr val="FFFFFE"/>
                </a:solidFill>
              </a:rPr>
              <a:t>Team worked on assessing user likelihood of listening to a new song based on listening preferences </a:t>
            </a:r>
          </a:p>
          <a:p>
            <a:pPr marL="342900" indent="-228600" algn="l">
              <a:buFont typeface="Arial" panose="020B0604020202020204" pitchFamily="34" charset="0"/>
              <a:buChar char="•"/>
            </a:pPr>
            <a:r>
              <a:rPr lang="en-US" sz="1800" dirty="0">
                <a:solidFill>
                  <a:srgbClr val="FFFFFE"/>
                </a:solidFill>
              </a:rPr>
              <a:t>Prediction focused on likelihood a user would like to a new song a minimum of 2 times</a:t>
            </a:r>
          </a:p>
          <a:p>
            <a:pPr marL="342900" indent="-228600" algn="l">
              <a:buFont typeface="Arial" panose="020B0604020202020204" pitchFamily="34" charset="0"/>
              <a:buChar char="•"/>
            </a:pPr>
            <a:r>
              <a:rPr lang="en-US" sz="1800" dirty="0">
                <a:solidFill>
                  <a:srgbClr val="FFFFFE"/>
                </a:solidFill>
              </a:rPr>
              <a:t>Key factors include:</a:t>
            </a:r>
          </a:p>
          <a:p>
            <a:pPr marL="800100" lvl="1" indent="-228600" algn="l">
              <a:buFont typeface="Arial" panose="020B0604020202020204" pitchFamily="34" charset="0"/>
              <a:buChar char="•"/>
            </a:pPr>
            <a:r>
              <a:rPr lang="en-US" sz="1800" dirty="0">
                <a:solidFill>
                  <a:srgbClr val="FFFFFE"/>
                </a:solidFill>
              </a:rPr>
              <a:t>Membership information</a:t>
            </a:r>
          </a:p>
          <a:p>
            <a:pPr marL="1257300" lvl="2" indent="-228600" algn="l">
              <a:buFont typeface="Arial" panose="020B0604020202020204" pitchFamily="34" charset="0"/>
              <a:buChar char="•"/>
            </a:pPr>
            <a:r>
              <a:rPr lang="en-US" dirty="0">
                <a:solidFill>
                  <a:srgbClr val="FFFFFE"/>
                </a:solidFill>
              </a:rPr>
              <a:t>Age, location, membership timeline, and listening history</a:t>
            </a:r>
          </a:p>
          <a:p>
            <a:pPr marL="800100" lvl="1" indent="-228600" algn="l">
              <a:buFont typeface="Arial" panose="020B0604020202020204" pitchFamily="34" charset="0"/>
              <a:buChar char="•"/>
            </a:pPr>
            <a:r>
              <a:rPr lang="en-US" sz="1800" dirty="0">
                <a:solidFill>
                  <a:srgbClr val="FFFFFE"/>
                </a:solidFill>
              </a:rPr>
              <a:t>Listening behavior</a:t>
            </a:r>
          </a:p>
          <a:p>
            <a:pPr marL="1257300" lvl="2" indent="-228600" algn="l">
              <a:buFont typeface="Arial" panose="020B0604020202020204" pitchFamily="34" charset="0"/>
              <a:buChar char="•"/>
            </a:pPr>
            <a:r>
              <a:rPr lang="en-US" dirty="0">
                <a:solidFill>
                  <a:srgbClr val="FFFFFE"/>
                </a:solidFill>
              </a:rPr>
              <a:t>Genre music selected from</a:t>
            </a:r>
          </a:p>
          <a:p>
            <a:pPr marL="800100" lvl="1" indent="-228600" algn="l">
              <a:buFont typeface="Arial" panose="020B0604020202020204" pitchFamily="34" charset="0"/>
              <a:buChar char="•"/>
            </a:pPr>
            <a:r>
              <a:rPr lang="en-US" sz="1800" dirty="0">
                <a:solidFill>
                  <a:srgbClr val="FFFFFE"/>
                </a:solidFill>
              </a:rPr>
              <a:t>Song information</a:t>
            </a:r>
          </a:p>
          <a:p>
            <a:pPr marL="1257300" lvl="2" indent="-228600" algn="l">
              <a:buFont typeface="Arial" panose="020B0604020202020204" pitchFamily="34" charset="0"/>
              <a:buChar char="•"/>
            </a:pPr>
            <a:r>
              <a:rPr lang="en-US" dirty="0">
                <a:solidFill>
                  <a:srgbClr val="FFFFFE"/>
                </a:solidFill>
              </a:rPr>
              <a:t>Artist, song, length, and genre</a:t>
            </a:r>
          </a:p>
        </p:txBody>
      </p:sp>
      <p:pic>
        <p:nvPicPr>
          <p:cNvPr id="15" name="Picture 14">
            <a:extLst>
              <a:ext uri="{FF2B5EF4-FFF2-40B4-BE49-F238E27FC236}">
                <a16:creationId xmlns:a16="http://schemas.microsoft.com/office/drawing/2014/main" id="{03C85028-F5D7-4E4E-BEFB-9E36138E981D}"/>
              </a:ext>
            </a:extLst>
          </p:cNvPr>
          <p:cNvPicPr>
            <a:picLocks noChangeAspect="1"/>
          </p:cNvPicPr>
          <p:nvPr/>
        </p:nvPicPr>
        <p:blipFill rotWithShape="1">
          <a:blip r:embed="rId2"/>
          <a:srcRect t="44588" r="1" b="28273"/>
          <a:stretch/>
        </p:blipFill>
        <p:spPr>
          <a:xfrm>
            <a:off x="6790977" y="521208"/>
            <a:ext cx="5401023" cy="2770632"/>
          </a:xfrm>
          <a:custGeom>
            <a:avLst/>
            <a:gdLst/>
            <a:ahLst/>
            <a:cxnLst/>
            <a:rect l="l" t="t" r="r" b="b"/>
            <a:pathLst>
              <a:path w="5401023" h="2770632">
                <a:moveTo>
                  <a:pt x="3214941" y="0"/>
                </a:moveTo>
                <a:lnTo>
                  <a:pt x="5401023" y="0"/>
                </a:lnTo>
                <a:lnTo>
                  <a:pt x="5401023" y="2770632"/>
                </a:lnTo>
                <a:lnTo>
                  <a:pt x="3214941" y="2770632"/>
                </a:lnTo>
                <a:lnTo>
                  <a:pt x="3214941" y="2768786"/>
                </a:lnTo>
                <a:lnTo>
                  <a:pt x="1865202" y="2768786"/>
                </a:lnTo>
                <a:lnTo>
                  <a:pt x="1865202" y="2768787"/>
                </a:lnTo>
                <a:lnTo>
                  <a:pt x="0" y="2768787"/>
                </a:lnTo>
                <a:lnTo>
                  <a:pt x="1325372" y="2605"/>
                </a:lnTo>
                <a:lnTo>
                  <a:pt x="1653397" y="2605"/>
                </a:lnTo>
                <a:lnTo>
                  <a:pt x="1653397" y="2597"/>
                </a:lnTo>
                <a:lnTo>
                  <a:pt x="1723225" y="2597"/>
                </a:lnTo>
                <a:lnTo>
                  <a:pt x="1723225" y="2596"/>
                </a:lnTo>
                <a:lnTo>
                  <a:pt x="2263055" y="2596"/>
                </a:lnTo>
                <a:lnTo>
                  <a:pt x="2263055" y="2597"/>
                </a:lnTo>
                <a:lnTo>
                  <a:pt x="3204175" y="2597"/>
                </a:lnTo>
                <a:lnTo>
                  <a:pt x="3204175" y="2604"/>
                </a:lnTo>
                <a:lnTo>
                  <a:pt x="3214941" y="2604"/>
                </a:lnTo>
                <a:close/>
              </a:path>
            </a:pathLst>
          </a:custGeom>
        </p:spPr>
      </p:pic>
      <p:pic>
        <p:nvPicPr>
          <p:cNvPr id="14" name="Picture 13">
            <a:extLst>
              <a:ext uri="{FF2B5EF4-FFF2-40B4-BE49-F238E27FC236}">
                <a16:creationId xmlns:a16="http://schemas.microsoft.com/office/drawing/2014/main" id="{B9900969-E4BC-453B-908B-FC1B304C5C0F}"/>
              </a:ext>
            </a:extLst>
          </p:cNvPr>
          <p:cNvPicPr>
            <a:picLocks noChangeAspect="1"/>
          </p:cNvPicPr>
          <p:nvPr/>
        </p:nvPicPr>
        <p:blipFill rotWithShape="1">
          <a:blip r:embed="rId3"/>
          <a:srcRect t="16776" r="-2" b="-2"/>
          <a:stretch/>
        </p:blipFill>
        <p:spPr>
          <a:xfrm>
            <a:off x="5366251" y="3453634"/>
            <a:ext cx="6825749" cy="2755142"/>
          </a:xfrm>
          <a:custGeom>
            <a:avLst/>
            <a:gdLst/>
            <a:ahLst/>
            <a:cxnLst/>
            <a:rect l="l" t="t" r="r" b="b"/>
            <a:pathLst>
              <a:path w="6825749" h="2755142">
                <a:moveTo>
                  <a:pt x="3353180" y="0"/>
                </a:moveTo>
                <a:lnTo>
                  <a:pt x="4045207" y="0"/>
                </a:lnTo>
                <a:lnTo>
                  <a:pt x="4045207" y="1"/>
                </a:lnTo>
                <a:lnTo>
                  <a:pt x="4692417" y="1"/>
                </a:lnTo>
                <a:lnTo>
                  <a:pt x="4781930" y="1"/>
                </a:lnTo>
                <a:lnTo>
                  <a:pt x="4781930" y="0"/>
                </a:lnTo>
                <a:lnTo>
                  <a:pt x="5473957" y="0"/>
                </a:lnTo>
                <a:lnTo>
                  <a:pt x="5473957" y="1"/>
                </a:lnTo>
                <a:lnTo>
                  <a:pt x="6680412" y="1"/>
                </a:lnTo>
                <a:lnTo>
                  <a:pt x="6680412" y="2798"/>
                </a:lnTo>
                <a:lnTo>
                  <a:pt x="6825749" y="2798"/>
                </a:lnTo>
                <a:lnTo>
                  <a:pt x="6825749" y="2755142"/>
                </a:lnTo>
                <a:lnTo>
                  <a:pt x="4748668" y="2755142"/>
                </a:lnTo>
                <a:lnTo>
                  <a:pt x="4748668" y="2755099"/>
                </a:lnTo>
                <a:lnTo>
                  <a:pt x="3535184" y="2755099"/>
                </a:lnTo>
                <a:lnTo>
                  <a:pt x="3321602" y="2755099"/>
                </a:lnTo>
                <a:lnTo>
                  <a:pt x="3321602" y="2755100"/>
                </a:lnTo>
                <a:lnTo>
                  <a:pt x="1892852" y="2755100"/>
                </a:lnTo>
                <a:lnTo>
                  <a:pt x="1428750" y="2755100"/>
                </a:lnTo>
                <a:lnTo>
                  <a:pt x="0" y="2755100"/>
                </a:lnTo>
                <a:lnTo>
                  <a:pt x="1345020" y="10"/>
                </a:lnTo>
                <a:lnTo>
                  <a:pt x="1677909" y="10"/>
                </a:lnTo>
                <a:lnTo>
                  <a:pt x="1677909" y="2"/>
                </a:lnTo>
                <a:lnTo>
                  <a:pt x="1748771" y="2"/>
                </a:lnTo>
                <a:lnTo>
                  <a:pt x="1748771" y="1"/>
                </a:lnTo>
                <a:lnTo>
                  <a:pt x="2296604" y="1"/>
                </a:lnTo>
                <a:lnTo>
                  <a:pt x="2296604" y="2"/>
                </a:lnTo>
                <a:lnTo>
                  <a:pt x="3106658" y="2"/>
                </a:lnTo>
                <a:lnTo>
                  <a:pt x="3177521" y="2"/>
                </a:lnTo>
                <a:lnTo>
                  <a:pt x="3177521" y="1"/>
                </a:lnTo>
                <a:lnTo>
                  <a:pt x="3263667" y="1"/>
                </a:lnTo>
                <a:lnTo>
                  <a:pt x="3353180" y="1"/>
                </a:lnTo>
                <a:close/>
              </a:path>
            </a:pathLst>
          </a:custGeom>
        </p:spPr>
      </p:pic>
    </p:spTree>
    <p:extLst>
      <p:ext uri="{BB962C8B-B14F-4D97-AF65-F5344CB8AC3E}">
        <p14:creationId xmlns:p14="http://schemas.microsoft.com/office/powerpoint/2010/main" val="358959293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103524C-518E-4F66-B7B7-83362BFA59E6}"/>
              </a:ext>
            </a:extLst>
          </p:cNvPr>
          <p:cNvSpPr>
            <a:spLocks noGrp="1"/>
          </p:cNvSpPr>
          <p:nvPr>
            <p:ph type="ctrTitle"/>
          </p:nvPr>
        </p:nvSpPr>
        <p:spPr>
          <a:xfrm>
            <a:off x="838199" y="291090"/>
            <a:ext cx="10515599" cy="644575"/>
          </a:xfrm>
        </p:spPr>
        <p:txBody>
          <a:bodyPr>
            <a:normAutofit/>
          </a:bodyPr>
          <a:lstStyle/>
          <a:p>
            <a:pPr algn="r"/>
            <a:r>
              <a:rPr lang="en-US" sz="4000" dirty="0">
                <a:latin typeface="Arial" panose="020B0604020202020204" pitchFamily="34" charset="0"/>
                <a:cs typeface="Arial" panose="020B0604020202020204" pitchFamily="34" charset="0"/>
              </a:rPr>
              <a:t>Obtain</a:t>
            </a: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838199" y="946303"/>
            <a:ext cx="10515599" cy="1711842"/>
          </a:xfrm>
        </p:spPr>
        <p:txBody>
          <a:bodyPr vert="horz" lIns="91440" tIns="45720" rIns="91440" bIns="45720" rtlCol="0">
            <a:normAutofit fontScale="70000" lnSpcReduction="20000"/>
          </a:bodyPr>
          <a:lstStyle/>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Data was sourced from the following</a:t>
            </a:r>
          </a:p>
          <a:p>
            <a:pPr marL="800100" lvl="1"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Challenge website: </a:t>
            </a:r>
            <a:r>
              <a:rPr lang="en-US" dirty="0"/>
              <a:t>https://www.kaggle.com/c/kkbox-music-recommendation-challenge/data</a:t>
            </a:r>
          </a:p>
          <a:p>
            <a:pPr marL="800100" lvl="1" indent="-342900" algn="l">
              <a:buFont typeface="Arial" panose="020B0604020202020204" pitchFamily="34" charset="0"/>
              <a:buChar char="•"/>
            </a:pPr>
            <a:r>
              <a:rPr lang="en-US" dirty="0"/>
              <a:t>Additional resources used: </a:t>
            </a:r>
          </a:p>
          <a:p>
            <a:pPr marL="1257300" lvl="2" indent="-342900" algn="l">
              <a:buFont typeface="Arial" panose="020B0604020202020204" pitchFamily="34" charset="0"/>
              <a:buChar char="•"/>
            </a:pPr>
            <a:r>
              <a:rPr lang="en-US" dirty="0"/>
              <a:t>https://www.kaggle.com/myonin/music-recommendation-random-forest-xgboost</a:t>
            </a:r>
          </a:p>
          <a:p>
            <a:pPr marL="1257300" lvl="2" indent="-342900" algn="l">
              <a:buFont typeface="Arial" panose="020B0604020202020204" pitchFamily="34" charset="0"/>
              <a:buChar char="•"/>
            </a:pPr>
            <a:r>
              <a:rPr lang="en-US" dirty="0"/>
              <a:t>https://www.kaggle.com/rohandx1996/recommendation-system-with-83-accuracy-lgbm</a:t>
            </a:r>
          </a:p>
          <a:p>
            <a:pPr marL="1257300" lvl="2" indent="-342900" algn="l">
              <a:buFont typeface="Arial" panose="020B0604020202020204" pitchFamily="34" charset="0"/>
              <a:buChar char="•"/>
            </a:pPr>
            <a:r>
              <a:rPr lang="en-US" dirty="0"/>
              <a:t>https://www.kaggle.com/freshwater/basic-of-lgbm</a:t>
            </a:r>
          </a:p>
          <a:p>
            <a:pPr marL="342900" indent="-342900" algn="l">
              <a:buFont typeface="Arial" panose="020B0604020202020204" pitchFamily="34" charset="0"/>
              <a:buChar char="•"/>
            </a:pPr>
            <a:r>
              <a:rPr lang="en-US" dirty="0"/>
              <a:t>The initial data was then imported from csv files into dataframes for analysis:</a:t>
            </a:r>
          </a:p>
          <a:p>
            <a:pPr marL="1257300" lvl="2" indent="-342900" algn="l">
              <a:buFont typeface="Arial" panose="020B0604020202020204" pitchFamily="34" charset="0"/>
              <a:buChar char="•"/>
            </a:pPr>
            <a:endParaRPr lang="en-US" u="sng" dirty="0"/>
          </a:p>
          <a:p>
            <a:pPr marL="1257300" lvl="2" indent="-342900" algn="l">
              <a:buFont typeface="Arial" panose="020B0604020202020204" pitchFamily="34" charset="0"/>
              <a:buChar char="•"/>
            </a:pPr>
            <a:endParaRPr lang="en-US" u="sng" dirty="0"/>
          </a:p>
          <a:p>
            <a:pPr marL="800100" lvl="1" indent="-342900" algn="r">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8E7B0984-3F2A-4E43-A1AA-272B224C86A7}"/>
              </a:ext>
            </a:extLst>
          </p:cNvPr>
          <p:cNvPicPr>
            <a:picLocks noChangeAspect="1"/>
          </p:cNvPicPr>
          <p:nvPr/>
        </p:nvPicPr>
        <p:blipFill>
          <a:blip r:embed="rId2"/>
          <a:stretch>
            <a:fillRect/>
          </a:stretch>
        </p:blipFill>
        <p:spPr>
          <a:xfrm>
            <a:off x="47280" y="2717923"/>
            <a:ext cx="12097436" cy="3208490"/>
          </a:xfrm>
          <a:prstGeom prst="rect">
            <a:avLst/>
          </a:prstGeom>
        </p:spPr>
      </p:pic>
    </p:spTree>
    <p:extLst>
      <p:ext uri="{BB962C8B-B14F-4D97-AF65-F5344CB8AC3E}">
        <p14:creationId xmlns:p14="http://schemas.microsoft.com/office/powerpoint/2010/main" val="20271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103524C-518E-4F66-B7B7-83362BFA59E6}"/>
              </a:ext>
            </a:extLst>
          </p:cNvPr>
          <p:cNvSpPr>
            <a:spLocks noGrp="1"/>
          </p:cNvSpPr>
          <p:nvPr>
            <p:ph type="ctrTitle"/>
          </p:nvPr>
        </p:nvSpPr>
        <p:spPr>
          <a:xfrm>
            <a:off x="838199" y="291090"/>
            <a:ext cx="10515599" cy="644575"/>
          </a:xfrm>
        </p:spPr>
        <p:txBody>
          <a:bodyPr>
            <a:normAutofit/>
          </a:bodyPr>
          <a:lstStyle/>
          <a:p>
            <a:pPr algn="r"/>
            <a:r>
              <a:rPr lang="en-US" sz="4000" dirty="0">
                <a:latin typeface="Arial" panose="020B0604020202020204" pitchFamily="34" charset="0"/>
                <a:cs typeface="Arial" panose="020B0604020202020204" pitchFamily="34" charset="0"/>
              </a:rPr>
              <a:t>Scrub</a:t>
            </a: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838199" y="946302"/>
            <a:ext cx="10515599" cy="5620607"/>
          </a:xfrm>
        </p:spPr>
        <p:txBody>
          <a:bodyPr vert="horz" lIns="91440" tIns="45720" rIns="91440" bIns="45720" rtlCol="0">
            <a:normAutofit/>
          </a:bodyPr>
          <a:lstStyle/>
          <a:p>
            <a:pPr algn="l"/>
            <a:r>
              <a:rPr lang="en-US" sz="2000" dirty="0"/>
              <a:t>The data is then cleaned:</a:t>
            </a:r>
          </a:p>
          <a:p>
            <a:pPr marL="342900" lvl="0" indent="-342900" algn="l">
              <a:buFont typeface="Arial" panose="020B0604020202020204" pitchFamily="34" charset="0"/>
              <a:buChar char="•"/>
            </a:pPr>
            <a:r>
              <a:rPr lang="en-US" sz="2000" dirty="0"/>
              <a:t>Remove all non-English entries (as indicated by the float 52 in df_songs</a:t>
            </a:r>
          </a:p>
          <a:p>
            <a:pPr marL="342900" lvl="0" indent="-342900" algn="l">
              <a:buFont typeface="Arial" panose="020B0604020202020204" pitchFamily="34" charset="0"/>
              <a:buChar char="•"/>
            </a:pPr>
            <a:r>
              <a:rPr lang="en-US" sz="2000" dirty="0"/>
              <a:t>Remove all non-Roman characters and punctuation from artist_name, composer and lyricist in df_songs</a:t>
            </a:r>
          </a:p>
          <a:p>
            <a:pPr marL="342900" lvl="0" indent="-342900" algn="l">
              <a:buFont typeface="Arial" panose="020B0604020202020204" pitchFamily="34" charset="0"/>
              <a:buChar char="•"/>
            </a:pPr>
            <a:r>
              <a:rPr lang="en-US" sz="2000" dirty="0"/>
              <a:t>Replace all spaces with “_”</a:t>
            </a:r>
          </a:p>
          <a:p>
            <a:pPr marL="342900" lvl="0" indent="-342900" algn="l">
              <a:buFont typeface="Arial" panose="020B0604020202020204" pitchFamily="34" charset="0"/>
              <a:buChar char="•"/>
            </a:pPr>
            <a:r>
              <a:rPr lang="en-US" sz="2000" dirty="0"/>
              <a:t>Create new feature for membership days (expiration_date - registration_init_time)</a:t>
            </a:r>
          </a:p>
          <a:p>
            <a:pPr marL="342900" lvl="0" indent="-342900" algn="l">
              <a:buFont typeface="Arial" panose="020B0604020202020204" pitchFamily="34" charset="0"/>
              <a:buChar char="•"/>
            </a:pPr>
            <a:r>
              <a:rPr lang="en-US" sz="2000" dirty="0"/>
              <a:t>Remove all columns with NA values contributing to more than 1% of total values</a:t>
            </a:r>
          </a:p>
          <a:p>
            <a:pPr marL="342900" lvl="0" indent="-342900" algn="l">
              <a:buFont typeface="Arial" panose="020B0604020202020204" pitchFamily="34" charset="0"/>
              <a:buChar char="•"/>
            </a:pPr>
            <a:r>
              <a:rPr lang="en-US" sz="2000" dirty="0"/>
              <a:t>Remove all ages younger than 15 years and older than 55</a:t>
            </a:r>
          </a:p>
          <a:p>
            <a:pPr marL="1257300" lvl="2" indent="-342900" algn="l">
              <a:buFont typeface="Arial" panose="020B0604020202020204" pitchFamily="34" charset="0"/>
              <a:buChar char="•"/>
            </a:pPr>
            <a:endParaRPr lang="en-US" u="sng" dirty="0"/>
          </a:p>
          <a:p>
            <a:pPr marL="1257300" lvl="2" indent="-342900" algn="l">
              <a:buFont typeface="Arial" panose="020B0604020202020204" pitchFamily="34" charset="0"/>
              <a:buChar char="•"/>
            </a:pPr>
            <a:endParaRPr lang="en-US" u="sng" dirty="0"/>
          </a:p>
          <a:p>
            <a:pPr marL="800100" lvl="1" indent="-342900" algn="r">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2099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103524C-518E-4F66-B7B7-83362BFA59E6}"/>
              </a:ext>
            </a:extLst>
          </p:cNvPr>
          <p:cNvSpPr>
            <a:spLocks noGrp="1"/>
          </p:cNvSpPr>
          <p:nvPr>
            <p:ph type="ctrTitle"/>
          </p:nvPr>
        </p:nvSpPr>
        <p:spPr>
          <a:xfrm>
            <a:off x="838199" y="291090"/>
            <a:ext cx="10515599" cy="644575"/>
          </a:xfrm>
        </p:spPr>
        <p:txBody>
          <a:bodyPr>
            <a:normAutofit/>
          </a:bodyPr>
          <a:lstStyle/>
          <a:p>
            <a:pPr algn="r"/>
            <a:r>
              <a:rPr lang="en-US" sz="4000" dirty="0">
                <a:latin typeface="Arial" panose="020B0604020202020204" pitchFamily="34" charset="0"/>
                <a:cs typeface="Arial" panose="020B0604020202020204" pitchFamily="34" charset="0"/>
              </a:rPr>
              <a:t>Scrub</a:t>
            </a:r>
          </a:p>
        </p:txBody>
      </p:sp>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838199" y="1084526"/>
            <a:ext cx="10515599" cy="733642"/>
          </a:xfrm>
        </p:spPr>
        <p:txBody>
          <a:bodyPr vert="horz" lIns="91440" tIns="45720" rIns="91440" bIns="45720" rtlCol="0">
            <a:normAutofit fontScale="85000" lnSpcReduction="20000"/>
          </a:bodyPr>
          <a:lstStyle/>
          <a:p>
            <a:pPr algn="l"/>
            <a:r>
              <a:rPr lang="en-US" dirty="0"/>
              <a:t>The df_train dataframe is then merged with features from df_songs, df_song_extra_info and df_members and the df_test dataframe is merged with features from df_songs, df_song_extra_info and df_members:</a:t>
            </a:r>
          </a:p>
          <a:p>
            <a:pPr marL="1257300" lvl="2" indent="-342900" algn="l">
              <a:buFont typeface="Arial" panose="020B0604020202020204" pitchFamily="34" charset="0"/>
              <a:buChar char="•"/>
            </a:pPr>
            <a:endParaRPr lang="en-US" u="sng" dirty="0"/>
          </a:p>
          <a:p>
            <a:pPr marL="1257300" lvl="2" indent="-342900" algn="l">
              <a:buFont typeface="Arial" panose="020B0604020202020204" pitchFamily="34" charset="0"/>
              <a:buChar char="•"/>
            </a:pPr>
            <a:endParaRPr lang="en-US" u="sng" dirty="0"/>
          </a:p>
          <a:p>
            <a:pPr marL="800100" lvl="1" indent="-342900" algn="r">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54B3D1-8C4E-477F-9711-EA09E4795E7E}"/>
              </a:ext>
            </a:extLst>
          </p:cNvPr>
          <p:cNvPicPr>
            <a:picLocks noChangeAspect="1"/>
          </p:cNvPicPr>
          <p:nvPr/>
        </p:nvPicPr>
        <p:blipFill>
          <a:blip r:embed="rId2"/>
          <a:stretch>
            <a:fillRect/>
          </a:stretch>
        </p:blipFill>
        <p:spPr>
          <a:xfrm>
            <a:off x="0" y="2415641"/>
            <a:ext cx="5974080" cy="3496056"/>
          </a:xfrm>
          <a:prstGeom prst="rect">
            <a:avLst/>
          </a:prstGeom>
        </p:spPr>
      </p:pic>
      <p:pic>
        <p:nvPicPr>
          <p:cNvPr id="7" name="Picture 6">
            <a:extLst>
              <a:ext uri="{FF2B5EF4-FFF2-40B4-BE49-F238E27FC236}">
                <a16:creationId xmlns:a16="http://schemas.microsoft.com/office/drawing/2014/main" id="{6860D997-CF28-4EFA-B70B-3D2204FDC553}"/>
              </a:ext>
            </a:extLst>
          </p:cNvPr>
          <p:cNvPicPr>
            <a:picLocks noChangeAspect="1"/>
          </p:cNvPicPr>
          <p:nvPr/>
        </p:nvPicPr>
        <p:blipFill>
          <a:blip r:embed="rId3"/>
          <a:stretch>
            <a:fillRect/>
          </a:stretch>
        </p:blipFill>
        <p:spPr>
          <a:xfrm>
            <a:off x="5974080" y="2415641"/>
            <a:ext cx="6400800" cy="3496056"/>
          </a:xfrm>
          <a:prstGeom prst="rect">
            <a:avLst/>
          </a:prstGeom>
        </p:spPr>
      </p:pic>
    </p:spTree>
    <p:extLst>
      <p:ext uri="{BB962C8B-B14F-4D97-AF65-F5344CB8AC3E}">
        <p14:creationId xmlns:p14="http://schemas.microsoft.com/office/powerpoint/2010/main" val="886420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60C3A7-8D13-48F0-9B0D-5355104FCEC1}"/>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b="1">
                <a:solidFill>
                  <a:schemeClr val="tx1"/>
                </a:solidFill>
                <a:latin typeface="+mj-lt"/>
                <a:cs typeface="+mj-cs"/>
              </a:rPr>
              <a:t>Explore</a:t>
            </a:r>
          </a:p>
        </p:txBody>
      </p:sp>
      <p:sp>
        <p:nvSpPr>
          <p:cNvPr id="19" name="Rectangle 1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5CBD1A98-AA40-4C46-9875-3D20EF7FC2E8}"/>
              </a:ext>
            </a:extLst>
          </p:cNvPr>
          <p:cNvPicPr>
            <a:picLocks noGrp="1" noChangeAspect="1"/>
          </p:cNvPicPr>
          <p:nvPr>
            <p:ph idx="1"/>
          </p:nvPr>
        </p:nvPicPr>
        <p:blipFill rotWithShape="1">
          <a:blip r:embed="rId2"/>
          <a:srcRect t="1471" r="1" b="1706"/>
          <a:stretch/>
        </p:blipFill>
        <p:spPr>
          <a:xfrm>
            <a:off x="545238" y="858525"/>
            <a:ext cx="7608304" cy="5211906"/>
          </a:xfrm>
          <a:prstGeom prst="rect">
            <a:avLst/>
          </a:prstGeom>
        </p:spPr>
      </p:pic>
      <p:sp>
        <p:nvSpPr>
          <p:cNvPr id="23" name="Rectangle 22">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28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60C3A7-8D13-48F0-9B0D-5355104FCEC1}"/>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b="1">
                <a:solidFill>
                  <a:schemeClr val="tx1"/>
                </a:solidFill>
                <a:latin typeface="+mj-lt"/>
                <a:cs typeface="+mj-cs"/>
              </a:rPr>
              <a:t>Explore</a:t>
            </a:r>
          </a:p>
        </p:txBody>
      </p:sp>
      <p:sp>
        <p:nvSpPr>
          <p:cNvPr id="27" name="Rectangle 2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3BEC87C0-3FB6-4BF5-81AC-57F54D605A6D}"/>
              </a:ext>
            </a:extLst>
          </p:cNvPr>
          <p:cNvPicPr>
            <a:picLocks noGrp="1" noChangeAspect="1"/>
          </p:cNvPicPr>
          <p:nvPr>
            <p:ph idx="1"/>
          </p:nvPr>
        </p:nvPicPr>
        <p:blipFill rotWithShape="1">
          <a:blip r:embed="rId2"/>
          <a:srcRect r="8765" b="2"/>
          <a:stretch/>
        </p:blipFill>
        <p:spPr>
          <a:xfrm>
            <a:off x="545238" y="858525"/>
            <a:ext cx="7608304" cy="5211906"/>
          </a:xfrm>
          <a:prstGeom prst="rect">
            <a:avLst/>
          </a:prstGeom>
        </p:spPr>
      </p:pic>
      <p:sp>
        <p:nvSpPr>
          <p:cNvPr id="31" name="Rectangle 3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4038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60C3A7-8D13-48F0-9B0D-5355104FCEC1}"/>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b="1">
                <a:solidFill>
                  <a:schemeClr val="tx1"/>
                </a:solidFill>
                <a:latin typeface="+mj-lt"/>
                <a:cs typeface="+mj-cs"/>
              </a:rPr>
              <a:t>Explore</a:t>
            </a:r>
          </a:p>
        </p:txBody>
      </p: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7E53DB3-1E6A-40A3-8259-AFB73C770A7F}"/>
              </a:ext>
            </a:extLst>
          </p:cNvPr>
          <p:cNvPicPr>
            <a:picLocks noGrp="1" noChangeAspect="1"/>
          </p:cNvPicPr>
          <p:nvPr>
            <p:ph idx="1"/>
          </p:nvPr>
        </p:nvPicPr>
        <p:blipFill rotWithShape="1">
          <a:blip r:embed="rId2"/>
          <a:srcRect t="359" r="1" b="1"/>
          <a:stretch/>
        </p:blipFill>
        <p:spPr>
          <a:xfrm>
            <a:off x="545238" y="858525"/>
            <a:ext cx="7608304" cy="5211906"/>
          </a:xfrm>
          <a:prstGeom prst="rect">
            <a:avLst/>
          </a:prstGeom>
        </p:spPr>
      </p:pic>
      <p:sp>
        <p:nvSpPr>
          <p:cNvPr id="17" name="Rectangle 16">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6165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598986-380B-413B-8624-1BDD0ADEC94F}"/>
              </a:ext>
            </a:extLst>
          </p:cNvPr>
          <p:cNvSpPr>
            <a:spLocks noGrp="1"/>
          </p:cNvSpPr>
          <p:nvPr>
            <p:ph type="title"/>
          </p:nvPr>
        </p:nvSpPr>
        <p:spPr/>
        <p:txBody>
          <a:bodyPr>
            <a:normAutofit fontScale="90000"/>
          </a:bodyPr>
          <a:lstStyle/>
          <a:p>
            <a:r>
              <a:rPr lang="en-US"/>
              <a:t>Model</a:t>
            </a:r>
            <a:endParaRPr lang="en-US" dirty="0"/>
          </a:p>
        </p:txBody>
      </p:sp>
      <p:sp>
        <p:nvSpPr>
          <p:cNvPr id="11" name="Content Placeholder 10">
            <a:extLst>
              <a:ext uri="{FF2B5EF4-FFF2-40B4-BE49-F238E27FC236}">
                <a16:creationId xmlns:a16="http://schemas.microsoft.com/office/drawing/2014/main" id="{A4AFBCE4-10EC-4F51-9A70-F033D9C88796}"/>
              </a:ext>
            </a:extLst>
          </p:cNvPr>
          <p:cNvSpPr>
            <a:spLocks noGrp="1"/>
          </p:cNvSpPr>
          <p:nvPr>
            <p:ph idx="1"/>
          </p:nvPr>
        </p:nvSpPr>
        <p:spPr>
          <a:xfrm>
            <a:off x="457200" y="820367"/>
            <a:ext cx="10896600" cy="5964270"/>
          </a:xfrm>
        </p:spPr>
        <p:txBody>
          <a:bodyPr>
            <a:normAutofit/>
          </a:bodyPr>
          <a:lstStyle/>
          <a:p>
            <a:r>
              <a:rPr lang="en-US" sz="2000" u="sng" dirty="0" err="1"/>
              <a:t>CatBoostClassifier</a:t>
            </a:r>
            <a:endParaRPr lang="en-US" sz="2000" u="sng" dirty="0"/>
          </a:p>
          <a:p>
            <a:r>
              <a:rPr lang="en-US" sz="1600" dirty="0"/>
              <a:t>The </a:t>
            </a:r>
            <a:r>
              <a:rPr lang="en-US" sz="1600" dirty="0" err="1"/>
              <a:t>CatBoost</a:t>
            </a:r>
            <a:r>
              <a:rPr lang="en-US" sz="1600" dirty="0"/>
              <a:t> Classifier was chosen as it is a performant classifier that can easily handle categorical features</a:t>
            </a:r>
          </a:p>
          <a:p>
            <a:pPr lvl="1"/>
            <a:endParaRPr lang="en-US" sz="1600" dirty="0"/>
          </a:p>
          <a:p>
            <a:pPr lvl="1"/>
            <a:endParaRPr lang="en-US" sz="1600" dirty="0"/>
          </a:p>
          <a:p>
            <a:pPr marL="0" indent="0">
              <a:buNone/>
            </a:pPr>
            <a:endParaRPr lang="en-US" sz="1600" dirty="0"/>
          </a:p>
          <a:p>
            <a:pPr marL="457200" lvl="1" indent="0">
              <a:buNone/>
            </a:pPr>
            <a:endParaRPr lang="en-US" sz="1600" dirty="0"/>
          </a:p>
        </p:txBody>
      </p:sp>
      <p:pic>
        <p:nvPicPr>
          <p:cNvPr id="4" name="Picture 3">
            <a:extLst>
              <a:ext uri="{FF2B5EF4-FFF2-40B4-BE49-F238E27FC236}">
                <a16:creationId xmlns:a16="http://schemas.microsoft.com/office/drawing/2014/main" id="{6D117D14-DF3F-4515-A4FC-CBE80F086FA5}"/>
              </a:ext>
            </a:extLst>
          </p:cNvPr>
          <p:cNvPicPr>
            <a:picLocks noChangeAspect="1"/>
          </p:cNvPicPr>
          <p:nvPr/>
        </p:nvPicPr>
        <p:blipFill>
          <a:blip r:embed="rId2"/>
          <a:stretch>
            <a:fillRect/>
          </a:stretch>
        </p:blipFill>
        <p:spPr>
          <a:xfrm>
            <a:off x="457200" y="1695156"/>
            <a:ext cx="9799546" cy="1076180"/>
          </a:xfrm>
          <a:prstGeom prst="rect">
            <a:avLst/>
          </a:prstGeom>
        </p:spPr>
      </p:pic>
      <p:pic>
        <p:nvPicPr>
          <p:cNvPr id="5" name="Picture 4">
            <a:extLst>
              <a:ext uri="{FF2B5EF4-FFF2-40B4-BE49-F238E27FC236}">
                <a16:creationId xmlns:a16="http://schemas.microsoft.com/office/drawing/2014/main" id="{AB35CFB5-35E9-4FB9-BA85-81682956FE0E}"/>
              </a:ext>
            </a:extLst>
          </p:cNvPr>
          <p:cNvPicPr>
            <a:picLocks noChangeAspect="1"/>
          </p:cNvPicPr>
          <p:nvPr/>
        </p:nvPicPr>
        <p:blipFill>
          <a:blip r:embed="rId3"/>
          <a:stretch>
            <a:fillRect/>
          </a:stretch>
        </p:blipFill>
        <p:spPr>
          <a:xfrm>
            <a:off x="457200" y="3174414"/>
            <a:ext cx="4792394" cy="1603572"/>
          </a:xfrm>
          <a:prstGeom prst="rect">
            <a:avLst/>
          </a:prstGeom>
        </p:spPr>
      </p:pic>
    </p:spTree>
    <p:extLst>
      <p:ext uri="{BB962C8B-B14F-4D97-AF65-F5344CB8AC3E}">
        <p14:creationId xmlns:p14="http://schemas.microsoft.com/office/powerpoint/2010/main" val="2988189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598986-380B-413B-8624-1BDD0ADEC94F}"/>
              </a:ext>
            </a:extLst>
          </p:cNvPr>
          <p:cNvSpPr>
            <a:spLocks noGrp="1"/>
          </p:cNvSpPr>
          <p:nvPr>
            <p:ph type="title"/>
          </p:nvPr>
        </p:nvSpPr>
        <p:spPr/>
        <p:txBody>
          <a:bodyPr>
            <a:normAutofit fontScale="90000"/>
          </a:bodyPr>
          <a:lstStyle/>
          <a:p>
            <a:r>
              <a:rPr lang="en-US"/>
              <a:t>Model</a:t>
            </a:r>
            <a:endParaRPr lang="en-US" dirty="0"/>
          </a:p>
        </p:txBody>
      </p:sp>
      <p:sp>
        <p:nvSpPr>
          <p:cNvPr id="11" name="Content Placeholder 10">
            <a:extLst>
              <a:ext uri="{FF2B5EF4-FFF2-40B4-BE49-F238E27FC236}">
                <a16:creationId xmlns:a16="http://schemas.microsoft.com/office/drawing/2014/main" id="{A4AFBCE4-10EC-4F51-9A70-F033D9C88796}"/>
              </a:ext>
            </a:extLst>
          </p:cNvPr>
          <p:cNvSpPr>
            <a:spLocks noGrp="1"/>
          </p:cNvSpPr>
          <p:nvPr>
            <p:ph idx="1"/>
          </p:nvPr>
        </p:nvSpPr>
        <p:spPr>
          <a:xfrm>
            <a:off x="457200" y="820367"/>
            <a:ext cx="10896600" cy="1205381"/>
          </a:xfrm>
        </p:spPr>
        <p:txBody>
          <a:bodyPr>
            <a:normAutofit/>
          </a:bodyPr>
          <a:lstStyle/>
          <a:p>
            <a:r>
              <a:rPr lang="en-US" sz="2000"/>
              <a:t>A Random Forest Classifier is used to identify the importance of features. User ID {mnso} and the song id (song_id) are removed from the analysis as they will not scale analysis across new users or songs. Additionally, features with importance of &lt; 0.05 are removed due to their limited impact on analysis.</a:t>
            </a:r>
            <a:endParaRPr lang="en-US" sz="2000" dirty="0"/>
          </a:p>
        </p:txBody>
      </p:sp>
      <p:pic>
        <p:nvPicPr>
          <p:cNvPr id="12" name="Picture 11">
            <a:extLst>
              <a:ext uri="{FF2B5EF4-FFF2-40B4-BE49-F238E27FC236}">
                <a16:creationId xmlns:a16="http://schemas.microsoft.com/office/drawing/2014/main" id="{0F8550EF-796E-4E9C-983E-25FD5A1729C7}"/>
              </a:ext>
            </a:extLst>
          </p:cNvPr>
          <p:cNvPicPr>
            <a:picLocks noChangeAspect="1"/>
          </p:cNvPicPr>
          <p:nvPr/>
        </p:nvPicPr>
        <p:blipFill>
          <a:blip r:embed="rId2"/>
          <a:stretch>
            <a:fillRect/>
          </a:stretch>
        </p:blipFill>
        <p:spPr>
          <a:xfrm>
            <a:off x="1156525" y="2104127"/>
            <a:ext cx="9878950" cy="4403188"/>
          </a:xfrm>
          <a:prstGeom prst="rect">
            <a:avLst/>
          </a:prstGeom>
        </p:spPr>
      </p:pic>
    </p:spTree>
    <p:extLst>
      <p:ext uri="{BB962C8B-B14F-4D97-AF65-F5344CB8AC3E}">
        <p14:creationId xmlns:p14="http://schemas.microsoft.com/office/powerpoint/2010/main" val="2147943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598986-380B-413B-8624-1BDD0ADEC94F}"/>
              </a:ext>
            </a:extLst>
          </p:cNvPr>
          <p:cNvSpPr>
            <a:spLocks noGrp="1"/>
          </p:cNvSpPr>
          <p:nvPr>
            <p:ph type="title"/>
          </p:nvPr>
        </p:nvSpPr>
        <p:spPr/>
        <p:txBody>
          <a:bodyPr>
            <a:normAutofit fontScale="90000"/>
          </a:bodyPr>
          <a:lstStyle/>
          <a:p>
            <a:r>
              <a:rPr lang="en-US"/>
              <a:t>Model</a:t>
            </a:r>
            <a:endParaRPr lang="en-US" dirty="0"/>
          </a:p>
        </p:txBody>
      </p:sp>
      <p:sp>
        <p:nvSpPr>
          <p:cNvPr id="11" name="Content Placeholder 10">
            <a:extLst>
              <a:ext uri="{FF2B5EF4-FFF2-40B4-BE49-F238E27FC236}">
                <a16:creationId xmlns:a16="http://schemas.microsoft.com/office/drawing/2014/main" id="{A4AFBCE4-10EC-4F51-9A70-F033D9C88796}"/>
              </a:ext>
            </a:extLst>
          </p:cNvPr>
          <p:cNvSpPr>
            <a:spLocks noGrp="1"/>
          </p:cNvSpPr>
          <p:nvPr>
            <p:ph idx="1"/>
          </p:nvPr>
        </p:nvSpPr>
        <p:spPr>
          <a:xfrm>
            <a:off x="457200" y="820367"/>
            <a:ext cx="10896600" cy="6037633"/>
          </a:xfrm>
        </p:spPr>
        <p:txBody>
          <a:bodyPr>
            <a:normAutofit/>
          </a:bodyPr>
          <a:lstStyle/>
          <a:p>
            <a:r>
              <a:rPr lang="en-US" sz="2000" u="sng" dirty="0"/>
              <a:t>Random Forest Classifier</a:t>
            </a:r>
          </a:p>
          <a:p>
            <a:pPr lvl="1"/>
            <a:r>
              <a:rPr lang="en-US" sz="1600" dirty="0"/>
              <a:t>A Random Forest algorithm is chosen for its ability to handle large datasets with high dimensionality, the ability to manage missing values without significantly impacting the outcome and to minimize overfitting by averaging results.</a:t>
            </a:r>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marL="342900" lvl="1" indent="-342900">
              <a:spcBef>
                <a:spcPts val="1000"/>
              </a:spcBef>
            </a:pPr>
            <a:r>
              <a:rPr lang="en-US" sz="2000" u="sng" dirty="0"/>
              <a:t>Naïve-Bayes</a:t>
            </a:r>
          </a:p>
          <a:p>
            <a:pPr marL="685800" lvl="2">
              <a:spcBef>
                <a:spcPts val="1000"/>
              </a:spcBef>
            </a:pPr>
            <a:r>
              <a:rPr lang="en-US" sz="1600" dirty="0"/>
              <a:t>Naïve-Bayes was chosen due to the fast training and low resource usage</a:t>
            </a:r>
          </a:p>
          <a:p>
            <a:pPr marL="685800" lvl="2">
              <a:spcBef>
                <a:spcPts val="1000"/>
              </a:spcBef>
            </a:pPr>
            <a:endParaRPr lang="en-US" sz="1600" dirty="0"/>
          </a:p>
        </p:txBody>
      </p:sp>
      <p:pic>
        <p:nvPicPr>
          <p:cNvPr id="2" name="Picture 1">
            <a:extLst>
              <a:ext uri="{FF2B5EF4-FFF2-40B4-BE49-F238E27FC236}">
                <a16:creationId xmlns:a16="http://schemas.microsoft.com/office/drawing/2014/main" id="{464F09F0-ACCF-4951-A764-39C02F44FA7E}"/>
              </a:ext>
            </a:extLst>
          </p:cNvPr>
          <p:cNvPicPr>
            <a:picLocks noChangeAspect="1"/>
          </p:cNvPicPr>
          <p:nvPr/>
        </p:nvPicPr>
        <p:blipFill>
          <a:blip r:embed="rId2"/>
          <a:stretch>
            <a:fillRect/>
          </a:stretch>
        </p:blipFill>
        <p:spPr>
          <a:xfrm>
            <a:off x="3918374" y="1985690"/>
            <a:ext cx="4355252" cy="1443310"/>
          </a:xfrm>
          <a:prstGeom prst="rect">
            <a:avLst/>
          </a:prstGeom>
        </p:spPr>
      </p:pic>
      <p:pic>
        <p:nvPicPr>
          <p:cNvPr id="3" name="Picture 2">
            <a:extLst>
              <a:ext uri="{FF2B5EF4-FFF2-40B4-BE49-F238E27FC236}">
                <a16:creationId xmlns:a16="http://schemas.microsoft.com/office/drawing/2014/main" id="{F998CDA7-DF48-451B-9E4F-12BB880955C5}"/>
              </a:ext>
            </a:extLst>
          </p:cNvPr>
          <p:cNvPicPr>
            <a:picLocks noChangeAspect="1"/>
          </p:cNvPicPr>
          <p:nvPr/>
        </p:nvPicPr>
        <p:blipFill>
          <a:blip r:embed="rId3"/>
          <a:stretch>
            <a:fillRect/>
          </a:stretch>
        </p:blipFill>
        <p:spPr>
          <a:xfrm>
            <a:off x="3921082" y="4425793"/>
            <a:ext cx="4352544" cy="1435413"/>
          </a:xfrm>
          <a:prstGeom prst="rect">
            <a:avLst/>
          </a:prstGeom>
        </p:spPr>
      </p:pic>
    </p:spTree>
    <p:extLst>
      <p:ext uri="{BB962C8B-B14F-4D97-AF65-F5344CB8AC3E}">
        <p14:creationId xmlns:p14="http://schemas.microsoft.com/office/powerpoint/2010/main" val="2564589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6598986-380B-413B-8624-1BDD0ADEC94F}"/>
              </a:ext>
            </a:extLst>
          </p:cNvPr>
          <p:cNvSpPr>
            <a:spLocks noGrp="1"/>
          </p:cNvSpPr>
          <p:nvPr>
            <p:ph type="title"/>
          </p:nvPr>
        </p:nvSpPr>
        <p:spPr/>
        <p:txBody>
          <a:bodyPr>
            <a:normAutofit fontScale="90000"/>
          </a:bodyPr>
          <a:lstStyle/>
          <a:p>
            <a:r>
              <a:rPr lang="en-US"/>
              <a:t>Model</a:t>
            </a:r>
            <a:endParaRPr lang="en-US" dirty="0"/>
          </a:p>
        </p:txBody>
      </p:sp>
      <p:sp>
        <p:nvSpPr>
          <p:cNvPr id="11" name="Content Placeholder 10">
            <a:extLst>
              <a:ext uri="{FF2B5EF4-FFF2-40B4-BE49-F238E27FC236}">
                <a16:creationId xmlns:a16="http://schemas.microsoft.com/office/drawing/2014/main" id="{A4AFBCE4-10EC-4F51-9A70-F033D9C88796}"/>
              </a:ext>
            </a:extLst>
          </p:cNvPr>
          <p:cNvSpPr>
            <a:spLocks noGrp="1"/>
          </p:cNvSpPr>
          <p:nvPr>
            <p:ph idx="1"/>
          </p:nvPr>
        </p:nvSpPr>
        <p:spPr>
          <a:xfrm>
            <a:off x="457200" y="820367"/>
            <a:ext cx="10896600" cy="5964270"/>
          </a:xfrm>
        </p:spPr>
        <p:txBody>
          <a:bodyPr>
            <a:normAutofit/>
          </a:bodyPr>
          <a:lstStyle/>
          <a:p>
            <a:r>
              <a:rPr lang="en-US" sz="2000" u="sng" dirty="0"/>
              <a:t>XGBClassifier</a:t>
            </a:r>
          </a:p>
          <a:p>
            <a:pPr lvl="1"/>
            <a:r>
              <a:rPr lang="en-US" sz="1600" dirty="0"/>
              <a:t>Boosting ensemble techniques weight votes with a collection of classifiers by averaging the prediction over a collection of classifiers and combining a set of heterogeneous classifiers. </a:t>
            </a:r>
          </a:p>
          <a:p>
            <a:pPr lvl="1"/>
            <a:r>
              <a:rPr lang="en-US" sz="1600" dirty="0"/>
              <a:t>The XGB Classifier was chosen due to its speed and focus on minimizing potential loss for all possible splits and creates a new branch</a:t>
            </a:r>
          </a:p>
          <a:p>
            <a:pPr lvl="1"/>
            <a:endParaRPr lang="en-US" sz="1600" dirty="0"/>
          </a:p>
          <a:p>
            <a:pPr lvl="1"/>
            <a:endParaRPr lang="en-US" sz="1600" dirty="0"/>
          </a:p>
          <a:p>
            <a:pPr lvl="1"/>
            <a:endParaRPr lang="en-US" sz="1600" dirty="0"/>
          </a:p>
          <a:p>
            <a:pPr marL="0" indent="0">
              <a:buNone/>
            </a:pPr>
            <a:endParaRPr lang="en-US" sz="1600" dirty="0"/>
          </a:p>
          <a:p>
            <a:pPr marL="0" indent="0">
              <a:buNone/>
            </a:pPr>
            <a:r>
              <a:rPr lang="en-US" sz="1600" dirty="0"/>
              <a:t>Parameters</a:t>
            </a:r>
          </a:p>
          <a:p>
            <a:pPr marL="0" indent="0">
              <a:buNone/>
            </a:pPr>
            <a:r>
              <a:rPr lang="en-US" sz="1600" dirty="0" err="1"/>
              <a:t>n_estimators</a:t>
            </a:r>
            <a:r>
              <a:rPr lang="en-US" sz="1600" dirty="0"/>
              <a:t> = dictates how many subtrees will be trained and helps to manage overfitting. </a:t>
            </a:r>
          </a:p>
          <a:p>
            <a:pPr marL="0" indent="0">
              <a:buNone/>
            </a:pPr>
            <a:r>
              <a:rPr lang="en-US" sz="1600" dirty="0" err="1"/>
              <a:t>max_depth</a:t>
            </a:r>
            <a:r>
              <a:rPr lang="en-US" sz="1600" dirty="0"/>
              <a:t> = maximum tree depth each individual tree h can grow to</a:t>
            </a:r>
          </a:p>
          <a:p>
            <a:pPr marL="0" indent="0">
              <a:buNone/>
            </a:pPr>
            <a:r>
              <a:rPr lang="en-US" sz="1600" dirty="0" err="1"/>
              <a:t>learning_rate</a:t>
            </a:r>
            <a:r>
              <a:rPr lang="en-US" sz="1600" dirty="0"/>
              <a:t> = manages through local minima</a:t>
            </a:r>
          </a:p>
          <a:p>
            <a:pPr marL="457200" lvl="1" indent="0">
              <a:buNone/>
            </a:pPr>
            <a:endParaRPr lang="en-US" sz="1600" dirty="0"/>
          </a:p>
          <a:p>
            <a:pPr marL="457200" lvl="1" indent="0">
              <a:buNone/>
            </a:pPr>
            <a:endParaRPr lang="en-US" sz="1600" dirty="0"/>
          </a:p>
        </p:txBody>
      </p:sp>
      <p:pic>
        <p:nvPicPr>
          <p:cNvPr id="2" name="Picture 1">
            <a:extLst>
              <a:ext uri="{FF2B5EF4-FFF2-40B4-BE49-F238E27FC236}">
                <a16:creationId xmlns:a16="http://schemas.microsoft.com/office/drawing/2014/main" id="{8539DB19-1662-4A3E-8B4F-64EB64694D43}"/>
              </a:ext>
            </a:extLst>
          </p:cNvPr>
          <p:cNvPicPr>
            <a:picLocks noChangeAspect="1"/>
          </p:cNvPicPr>
          <p:nvPr/>
        </p:nvPicPr>
        <p:blipFill>
          <a:blip r:embed="rId2"/>
          <a:stretch>
            <a:fillRect/>
          </a:stretch>
        </p:blipFill>
        <p:spPr>
          <a:xfrm>
            <a:off x="457200" y="2285998"/>
            <a:ext cx="8293250" cy="851098"/>
          </a:xfrm>
          <a:prstGeom prst="rect">
            <a:avLst/>
          </a:prstGeom>
        </p:spPr>
      </p:pic>
      <p:pic>
        <p:nvPicPr>
          <p:cNvPr id="3" name="Picture 2">
            <a:extLst>
              <a:ext uri="{FF2B5EF4-FFF2-40B4-BE49-F238E27FC236}">
                <a16:creationId xmlns:a16="http://schemas.microsoft.com/office/drawing/2014/main" id="{C78A7AD5-6FE6-4D6C-8534-0650DC77EE49}"/>
              </a:ext>
            </a:extLst>
          </p:cNvPr>
          <p:cNvPicPr>
            <a:picLocks noChangeAspect="1"/>
          </p:cNvPicPr>
          <p:nvPr/>
        </p:nvPicPr>
        <p:blipFill>
          <a:blip r:embed="rId3"/>
          <a:stretch>
            <a:fillRect/>
          </a:stretch>
        </p:blipFill>
        <p:spPr>
          <a:xfrm>
            <a:off x="457200" y="4771539"/>
            <a:ext cx="5343248" cy="1777714"/>
          </a:xfrm>
          <a:prstGeom prst="rect">
            <a:avLst/>
          </a:prstGeom>
        </p:spPr>
      </p:pic>
    </p:spTree>
    <p:extLst>
      <p:ext uri="{BB962C8B-B14F-4D97-AF65-F5344CB8AC3E}">
        <p14:creationId xmlns:p14="http://schemas.microsoft.com/office/powerpoint/2010/main" val="1013927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9CA6EC6-A229-4363-BF2E-D84B231858B6}"/>
              </a:ext>
            </a:extLst>
          </p:cNvPr>
          <p:cNvSpPr>
            <a:spLocks noGrp="1"/>
          </p:cNvSpPr>
          <p:nvPr>
            <p:ph type="subTitle" idx="1"/>
          </p:nvPr>
        </p:nvSpPr>
        <p:spPr>
          <a:xfrm>
            <a:off x="-22" y="621417"/>
            <a:ext cx="8384987" cy="1070223"/>
          </a:xfrm>
        </p:spPr>
        <p:txBody>
          <a:bodyPr vert="horz" lIns="91440" tIns="45720" rIns="91440" bIns="45720" rtlCol="0" anchor="t">
            <a:normAutofit/>
          </a:bodyPr>
          <a:lstStyle/>
          <a:p>
            <a:pPr marL="342900" indent="-342900" algn="l">
              <a:buFont typeface="Arial" panose="020B0604020202020204" pitchFamily="34" charset="0"/>
              <a:buChar char="•"/>
            </a:pPr>
            <a:r>
              <a:rPr lang="en-US" dirty="0">
                <a:latin typeface="Arial" panose="020B0604020202020204" pitchFamily="34" charset="0"/>
                <a:cs typeface="Arial" panose="020B0604020202020204" pitchFamily="34" charset="0"/>
              </a:rPr>
              <a:t>Out of 300 genres country music is easiest to predict what new genre a listener would be most receptive to</a:t>
            </a:r>
          </a:p>
        </p:txBody>
      </p:sp>
      <p:sp>
        <p:nvSpPr>
          <p:cNvPr id="6" name="Title 5">
            <a:extLst>
              <a:ext uri="{FF2B5EF4-FFF2-40B4-BE49-F238E27FC236}">
                <a16:creationId xmlns:a16="http://schemas.microsoft.com/office/drawing/2014/main" id="{A103524C-518E-4F66-B7B7-83362BFA59E6}"/>
              </a:ext>
            </a:extLst>
          </p:cNvPr>
          <p:cNvSpPr>
            <a:spLocks noGrp="1"/>
          </p:cNvSpPr>
          <p:nvPr>
            <p:ph type="ctrTitle"/>
          </p:nvPr>
        </p:nvSpPr>
        <p:spPr>
          <a:xfrm>
            <a:off x="0" y="61259"/>
            <a:ext cx="5468469" cy="667590"/>
          </a:xfrm>
        </p:spPr>
        <p:txBody>
          <a:bodyPr>
            <a:noAutofit/>
          </a:bodyPr>
          <a:lstStyle/>
          <a:p>
            <a:pPr algn="l"/>
            <a:r>
              <a:rPr lang="en-US" sz="4800" dirty="0">
                <a:solidFill>
                  <a:schemeClr val="bg1">
                    <a:lumMod val="75000"/>
                  </a:schemeClr>
                </a:solidFill>
                <a:latin typeface="Arial" panose="020B0604020202020204" pitchFamily="34" charset="0"/>
                <a:cs typeface="Arial" panose="020B0604020202020204" pitchFamily="34" charset="0"/>
              </a:rPr>
              <a:t>Association Rules</a:t>
            </a:r>
          </a:p>
        </p:txBody>
      </p:sp>
      <p:pic>
        <p:nvPicPr>
          <p:cNvPr id="14" name="Picture 13">
            <a:extLst>
              <a:ext uri="{FF2B5EF4-FFF2-40B4-BE49-F238E27FC236}">
                <a16:creationId xmlns:a16="http://schemas.microsoft.com/office/drawing/2014/main" id="{B9900969-E4BC-453B-908B-FC1B304C5C0F}"/>
              </a:ext>
            </a:extLst>
          </p:cNvPr>
          <p:cNvPicPr>
            <a:picLocks noChangeAspect="1"/>
          </p:cNvPicPr>
          <p:nvPr/>
        </p:nvPicPr>
        <p:blipFill rotWithShape="1">
          <a:blip r:embed="rId2"/>
          <a:srcRect l="9161" r="27571" b="1"/>
          <a:stretch/>
        </p:blipFill>
        <p:spPr>
          <a:xfrm>
            <a:off x="9062920" y="0"/>
            <a:ext cx="3129080" cy="6858000"/>
          </a:xfrm>
          <a:custGeom>
            <a:avLst/>
            <a:gdLst/>
            <a:ahLst/>
            <a:cxnLst/>
            <a:rect l="l" t="t" r="r" b="b"/>
            <a:pathLst>
              <a:path w="8946363" h="6858000">
                <a:moveTo>
                  <a:pt x="0" y="0"/>
                </a:moveTo>
                <a:lnTo>
                  <a:pt x="8946363" y="0"/>
                </a:lnTo>
                <a:lnTo>
                  <a:pt x="8946363" y="6858000"/>
                </a:lnTo>
                <a:lnTo>
                  <a:pt x="1" y="6858000"/>
                </a:lnTo>
                <a:lnTo>
                  <a:pt x="60040" y="6788731"/>
                </a:lnTo>
                <a:cubicBezTo>
                  <a:pt x="770566" y="5928901"/>
                  <a:pt x="1210035" y="4741057"/>
                  <a:pt x="1210035" y="3429001"/>
                </a:cubicBezTo>
                <a:cubicBezTo>
                  <a:pt x="1210035" y="2116945"/>
                  <a:pt x="770566" y="929101"/>
                  <a:pt x="60040" y="69272"/>
                </a:cubicBezTo>
                <a:close/>
              </a:path>
            </a:pathLst>
          </a:custGeom>
        </p:spPr>
      </p:pic>
      <p:pic>
        <p:nvPicPr>
          <p:cNvPr id="15" name="Picture 14">
            <a:extLst>
              <a:ext uri="{FF2B5EF4-FFF2-40B4-BE49-F238E27FC236}">
                <a16:creationId xmlns:a16="http://schemas.microsoft.com/office/drawing/2014/main" id="{03C85028-F5D7-4E4E-BEFB-9E36138E981D}"/>
              </a:ext>
            </a:extLst>
          </p:cNvPr>
          <p:cNvPicPr>
            <a:picLocks noChangeAspect="1"/>
          </p:cNvPicPr>
          <p:nvPr/>
        </p:nvPicPr>
        <p:blipFill rotWithShape="1">
          <a:blip r:embed="rId3">
            <a:duotone>
              <a:prstClr val="black"/>
              <a:prstClr val="white"/>
            </a:duotone>
          </a:blip>
          <a:srcRect r="2015" b="-1"/>
          <a:stretch/>
        </p:blipFill>
        <p:spPr>
          <a:xfrm>
            <a:off x="10390757" y="1691640"/>
            <a:ext cx="1801265" cy="3474720"/>
          </a:xfrm>
          <a:custGeom>
            <a:avLst/>
            <a:gdLst/>
            <a:ahLst/>
            <a:cxnLst/>
            <a:rect l="l" t="t" r="r" b="b"/>
            <a:pathLst>
              <a:path w="1801265" h="3474720">
                <a:moveTo>
                  <a:pt x="1737360" y="0"/>
                </a:moveTo>
                <a:lnTo>
                  <a:pt x="1801265" y="3228"/>
                </a:lnTo>
                <a:lnTo>
                  <a:pt x="1801265" y="3471494"/>
                </a:lnTo>
                <a:lnTo>
                  <a:pt x="1737360" y="3474720"/>
                </a:lnTo>
                <a:cubicBezTo>
                  <a:pt x="777842" y="3474720"/>
                  <a:pt x="0" y="2696878"/>
                  <a:pt x="0" y="1737360"/>
                </a:cubicBezTo>
                <a:cubicBezTo>
                  <a:pt x="0" y="777842"/>
                  <a:pt x="777842" y="0"/>
                  <a:pt x="1737360" y="0"/>
                </a:cubicBezTo>
                <a:close/>
              </a:path>
            </a:pathLst>
          </a:custGeom>
        </p:spPr>
      </p:pic>
      <p:pic>
        <p:nvPicPr>
          <p:cNvPr id="2" name="Picture 1">
            <a:extLst>
              <a:ext uri="{FF2B5EF4-FFF2-40B4-BE49-F238E27FC236}">
                <a16:creationId xmlns:a16="http://schemas.microsoft.com/office/drawing/2014/main" id="{BB4AE9D1-B387-4A1F-AF95-CDFE0ED94CE6}"/>
              </a:ext>
            </a:extLst>
          </p:cNvPr>
          <p:cNvPicPr>
            <a:picLocks noChangeAspect="1"/>
          </p:cNvPicPr>
          <p:nvPr/>
        </p:nvPicPr>
        <p:blipFill>
          <a:blip r:embed="rId4"/>
          <a:stretch>
            <a:fillRect/>
          </a:stretch>
        </p:blipFill>
        <p:spPr>
          <a:xfrm>
            <a:off x="218452" y="1353836"/>
            <a:ext cx="8330042" cy="2870699"/>
          </a:xfrm>
          <a:prstGeom prst="rect">
            <a:avLst/>
          </a:prstGeom>
        </p:spPr>
      </p:pic>
      <p:pic>
        <p:nvPicPr>
          <p:cNvPr id="19" name="Picture 18">
            <a:extLst>
              <a:ext uri="{FF2B5EF4-FFF2-40B4-BE49-F238E27FC236}">
                <a16:creationId xmlns:a16="http://schemas.microsoft.com/office/drawing/2014/main" id="{97D4B9EA-ACE4-415B-AC07-EF5FEB9B64F9}"/>
              </a:ext>
            </a:extLst>
          </p:cNvPr>
          <p:cNvPicPr>
            <a:picLocks noChangeAspect="1"/>
          </p:cNvPicPr>
          <p:nvPr/>
        </p:nvPicPr>
        <p:blipFill>
          <a:blip r:embed="rId5"/>
          <a:stretch>
            <a:fillRect/>
          </a:stretch>
        </p:blipFill>
        <p:spPr>
          <a:xfrm>
            <a:off x="218452" y="4318877"/>
            <a:ext cx="3322887" cy="2374711"/>
          </a:xfrm>
          <a:prstGeom prst="rect">
            <a:avLst/>
          </a:prstGeom>
          <a:ln>
            <a:solidFill>
              <a:schemeClr val="tx1"/>
            </a:solidFill>
          </a:ln>
        </p:spPr>
      </p:pic>
      <p:pic>
        <p:nvPicPr>
          <p:cNvPr id="8" name="Picture 7">
            <a:extLst>
              <a:ext uri="{FF2B5EF4-FFF2-40B4-BE49-F238E27FC236}">
                <a16:creationId xmlns:a16="http://schemas.microsoft.com/office/drawing/2014/main" id="{7BA4E19A-AD96-491E-910D-7A8BEBF47D7B}"/>
              </a:ext>
            </a:extLst>
          </p:cNvPr>
          <p:cNvPicPr>
            <a:picLocks noChangeAspect="1"/>
          </p:cNvPicPr>
          <p:nvPr/>
        </p:nvPicPr>
        <p:blipFill>
          <a:blip r:embed="rId6"/>
          <a:stretch>
            <a:fillRect/>
          </a:stretch>
        </p:blipFill>
        <p:spPr>
          <a:xfrm>
            <a:off x="3611864" y="4318877"/>
            <a:ext cx="3322886" cy="2374711"/>
          </a:xfrm>
          <a:prstGeom prst="rect">
            <a:avLst/>
          </a:prstGeom>
          <a:ln>
            <a:solidFill>
              <a:schemeClr val="tx1"/>
            </a:solidFill>
          </a:ln>
        </p:spPr>
      </p:pic>
      <p:pic>
        <p:nvPicPr>
          <p:cNvPr id="10" name="Picture 9">
            <a:extLst>
              <a:ext uri="{FF2B5EF4-FFF2-40B4-BE49-F238E27FC236}">
                <a16:creationId xmlns:a16="http://schemas.microsoft.com/office/drawing/2014/main" id="{BB7D0C68-11AF-432E-8BE8-2DE9182F5D9E}"/>
              </a:ext>
            </a:extLst>
          </p:cNvPr>
          <p:cNvPicPr>
            <a:picLocks noChangeAspect="1"/>
          </p:cNvPicPr>
          <p:nvPr/>
        </p:nvPicPr>
        <p:blipFill>
          <a:blip r:embed="rId7"/>
          <a:stretch>
            <a:fillRect/>
          </a:stretch>
        </p:blipFill>
        <p:spPr>
          <a:xfrm>
            <a:off x="7054241" y="4300661"/>
            <a:ext cx="3371852" cy="2392927"/>
          </a:xfrm>
          <a:prstGeom prst="rect">
            <a:avLst/>
          </a:prstGeom>
          <a:ln>
            <a:solidFill>
              <a:schemeClr val="tx1"/>
            </a:solidFill>
          </a:ln>
        </p:spPr>
      </p:pic>
    </p:spTree>
    <p:extLst>
      <p:ext uri="{BB962C8B-B14F-4D97-AF65-F5344CB8AC3E}">
        <p14:creationId xmlns:p14="http://schemas.microsoft.com/office/powerpoint/2010/main" val="1681435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EB181E26-89C4-4A14-92DE-0F4C4B0E9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342402E1-B9D8-424B-837F-6E4AA2E0FF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23805"/>
            <a:ext cx="7800441" cy="5696020"/>
          </a:xfrm>
          <a:custGeom>
            <a:avLst/>
            <a:gdLst>
              <a:gd name="connsiteX0" fmla="*/ 0 w 7800441"/>
              <a:gd name="connsiteY0" fmla="*/ 0 h 5696020"/>
              <a:gd name="connsiteX1" fmla="*/ 7800441 w 7800441"/>
              <a:gd name="connsiteY1" fmla="*/ 0 h 5696020"/>
              <a:gd name="connsiteX2" fmla="*/ 5037161 w 7800441"/>
              <a:gd name="connsiteY2" fmla="*/ 5696020 h 5696020"/>
              <a:gd name="connsiteX3" fmla="*/ 0 w 7800441"/>
              <a:gd name="connsiteY3" fmla="*/ 5696020 h 5696020"/>
            </a:gdLst>
            <a:ahLst/>
            <a:cxnLst>
              <a:cxn ang="0">
                <a:pos x="connsiteX0" y="connsiteY0"/>
              </a:cxn>
              <a:cxn ang="0">
                <a:pos x="connsiteX1" y="connsiteY1"/>
              </a:cxn>
              <a:cxn ang="0">
                <a:pos x="connsiteX2" y="connsiteY2"/>
              </a:cxn>
              <a:cxn ang="0">
                <a:pos x="connsiteX3" y="connsiteY3"/>
              </a:cxn>
            </a:cxnLst>
            <a:rect l="l" t="t" r="r" b="b"/>
            <a:pathLst>
              <a:path w="7800441" h="5696020">
                <a:moveTo>
                  <a:pt x="0" y="0"/>
                </a:moveTo>
                <a:lnTo>
                  <a:pt x="7800441" y="0"/>
                </a:lnTo>
                <a:lnTo>
                  <a:pt x="5037161" y="5696020"/>
                </a:lnTo>
                <a:lnTo>
                  <a:pt x="0" y="569602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lumMod val="95000"/>
                </a:schemeClr>
              </a:solidFill>
            </a:endParaRPr>
          </a:p>
        </p:txBody>
      </p:sp>
      <p:sp>
        <p:nvSpPr>
          <p:cNvPr id="2" name="Title 1">
            <a:extLst>
              <a:ext uri="{FF2B5EF4-FFF2-40B4-BE49-F238E27FC236}">
                <a16:creationId xmlns:a16="http://schemas.microsoft.com/office/drawing/2014/main" id="{05E64A52-A1E4-4FE9-A8A5-68273BB639A1}"/>
              </a:ext>
            </a:extLst>
          </p:cNvPr>
          <p:cNvSpPr>
            <a:spLocks noGrp="1"/>
          </p:cNvSpPr>
          <p:nvPr>
            <p:ph type="title"/>
          </p:nvPr>
        </p:nvSpPr>
        <p:spPr>
          <a:xfrm>
            <a:off x="838200" y="552518"/>
            <a:ext cx="5111496" cy="1097280"/>
          </a:xfrm>
        </p:spPr>
        <p:txBody>
          <a:bodyPr vert="horz" lIns="91440" tIns="45720" rIns="91440" bIns="45720" rtlCol="0">
            <a:normAutofit/>
          </a:bodyPr>
          <a:lstStyle/>
          <a:p>
            <a:r>
              <a:rPr lang="en-US" dirty="0">
                <a:solidFill>
                  <a:srgbClr val="FFFFFE"/>
                </a:solidFill>
              </a:rPr>
              <a:t> Conclusion</a:t>
            </a:r>
          </a:p>
        </p:txBody>
      </p:sp>
      <p:pic>
        <p:nvPicPr>
          <p:cNvPr id="6" name="Picture 5">
            <a:extLst>
              <a:ext uri="{FF2B5EF4-FFF2-40B4-BE49-F238E27FC236}">
                <a16:creationId xmlns:a16="http://schemas.microsoft.com/office/drawing/2014/main" id="{B08DBA15-11AB-4442-845D-4F83F4C31B93}"/>
              </a:ext>
            </a:extLst>
          </p:cNvPr>
          <p:cNvPicPr>
            <a:picLocks noChangeAspect="1"/>
          </p:cNvPicPr>
          <p:nvPr/>
        </p:nvPicPr>
        <p:blipFill>
          <a:blip r:embed="rId2"/>
          <a:stretch>
            <a:fillRect/>
          </a:stretch>
        </p:blipFill>
        <p:spPr>
          <a:xfrm>
            <a:off x="6570920" y="2575246"/>
            <a:ext cx="5359047" cy="3629792"/>
          </a:xfrm>
          <a:prstGeom prst="rect">
            <a:avLst/>
          </a:prstGeom>
        </p:spPr>
      </p:pic>
      <p:sp>
        <p:nvSpPr>
          <p:cNvPr id="3" name="Subtitle 2">
            <a:extLst>
              <a:ext uri="{FF2B5EF4-FFF2-40B4-BE49-F238E27FC236}">
                <a16:creationId xmlns:a16="http://schemas.microsoft.com/office/drawing/2014/main" id="{49CA6EC6-A229-4363-BF2E-D84B231858B6}"/>
              </a:ext>
            </a:extLst>
          </p:cNvPr>
          <p:cNvSpPr>
            <a:spLocks noGrp="1"/>
          </p:cNvSpPr>
          <p:nvPr>
            <p:ph idx="1"/>
          </p:nvPr>
        </p:nvSpPr>
        <p:spPr>
          <a:xfrm>
            <a:off x="576167" y="1556748"/>
            <a:ext cx="4642009" cy="4322844"/>
          </a:xfrm>
        </p:spPr>
        <p:txBody>
          <a:bodyPr vert="horz" lIns="91440" tIns="45720" rIns="91440" bIns="45720" rtlCol="0" anchor="t">
            <a:normAutofit/>
          </a:bodyPr>
          <a:lstStyle/>
          <a:p>
            <a:endParaRPr lang="en-US" sz="1800" dirty="0">
              <a:solidFill>
                <a:srgbClr val="FFFFFE"/>
              </a:solidFill>
            </a:endParaRPr>
          </a:p>
          <a:p>
            <a:r>
              <a:rPr lang="en-US" sz="2000" dirty="0" err="1"/>
              <a:t>XGBClassifier</a:t>
            </a:r>
            <a:r>
              <a:rPr lang="en-US" sz="2000" dirty="0"/>
              <a:t> had the greatest success in properly classifying</a:t>
            </a:r>
          </a:p>
          <a:p>
            <a:r>
              <a:rPr lang="en-US" sz="2000" dirty="0"/>
              <a:t>Length of membership and age had greatest impact on classifiers</a:t>
            </a:r>
          </a:p>
        </p:txBody>
      </p:sp>
      <p:pic>
        <p:nvPicPr>
          <p:cNvPr id="4" name="Picture 3">
            <a:extLst>
              <a:ext uri="{FF2B5EF4-FFF2-40B4-BE49-F238E27FC236}">
                <a16:creationId xmlns:a16="http://schemas.microsoft.com/office/drawing/2014/main" id="{3985455A-5AAF-40D3-B4D2-768378643920}"/>
              </a:ext>
            </a:extLst>
          </p:cNvPr>
          <p:cNvPicPr>
            <a:picLocks noChangeAspect="1"/>
          </p:cNvPicPr>
          <p:nvPr/>
        </p:nvPicPr>
        <p:blipFill rotWithShape="1">
          <a:blip r:embed="rId3"/>
          <a:srcRect t="8396" r="3" b="3"/>
          <a:stretch/>
        </p:blipFill>
        <p:spPr>
          <a:xfrm>
            <a:off x="7146388" y="552518"/>
            <a:ext cx="3468344" cy="1779202"/>
          </a:xfrm>
          <a:custGeom>
            <a:avLst/>
            <a:gdLst/>
            <a:ahLst/>
            <a:cxnLst/>
            <a:rect l="l" t="t" r="r" b="b"/>
            <a:pathLst>
              <a:path w="5401023" h="2770632">
                <a:moveTo>
                  <a:pt x="3214941" y="0"/>
                </a:moveTo>
                <a:lnTo>
                  <a:pt x="5401023" y="0"/>
                </a:lnTo>
                <a:lnTo>
                  <a:pt x="5401023" y="2770632"/>
                </a:lnTo>
                <a:lnTo>
                  <a:pt x="3214941" y="2770632"/>
                </a:lnTo>
                <a:lnTo>
                  <a:pt x="3214941" y="2768786"/>
                </a:lnTo>
                <a:lnTo>
                  <a:pt x="1865202" y="2768786"/>
                </a:lnTo>
                <a:lnTo>
                  <a:pt x="1865202" y="2768787"/>
                </a:lnTo>
                <a:lnTo>
                  <a:pt x="0" y="2768787"/>
                </a:lnTo>
                <a:lnTo>
                  <a:pt x="1325372" y="2605"/>
                </a:lnTo>
                <a:lnTo>
                  <a:pt x="1653397" y="2605"/>
                </a:lnTo>
                <a:lnTo>
                  <a:pt x="1653397" y="2597"/>
                </a:lnTo>
                <a:lnTo>
                  <a:pt x="1723225" y="2597"/>
                </a:lnTo>
                <a:lnTo>
                  <a:pt x="1723225" y="2596"/>
                </a:lnTo>
                <a:lnTo>
                  <a:pt x="2263055" y="2596"/>
                </a:lnTo>
                <a:lnTo>
                  <a:pt x="2263055" y="2597"/>
                </a:lnTo>
                <a:lnTo>
                  <a:pt x="3204175" y="2597"/>
                </a:lnTo>
                <a:lnTo>
                  <a:pt x="3204175" y="2604"/>
                </a:lnTo>
                <a:lnTo>
                  <a:pt x="3214941" y="2604"/>
                </a:lnTo>
                <a:close/>
              </a:path>
            </a:pathLst>
          </a:custGeom>
        </p:spPr>
      </p:pic>
      <p:sp>
        <p:nvSpPr>
          <p:cNvPr id="7" name="Parallelogram 6">
            <a:extLst>
              <a:ext uri="{FF2B5EF4-FFF2-40B4-BE49-F238E27FC236}">
                <a16:creationId xmlns:a16="http://schemas.microsoft.com/office/drawing/2014/main" id="{AE071879-1C34-4B32-82E4-1B43372B9008}"/>
              </a:ext>
            </a:extLst>
          </p:cNvPr>
          <p:cNvSpPr/>
          <p:nvPr/>
        </p:nvSpPr>
        <p:spPr>
          <a:xfrm rot="1486748">
            <a:off x="6213944" y="460816"/>
            <a:ext cx="455797" cy="4978722"/>
          </a:xfrm>
          <a:prstGeom prst="parallelogram">
            <a:avLst/>
          </a:prstGeom>
          <a:solidFill>
            <a:schemeClr val="tx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882079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589</TotalTime>
  <Words>857</Words>
  <Application>Microsoft Office PowerPoint</Application>
  <PresentationFormat>Widescreen</PresentationFormat>
  <Paragraphs>88</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Music Recommendation Analysis</vt:lpstr>
      <vt:lpstr>Specification</vt:lpstr>
      <vt:lpstr>Problem Statement</vt:lpstr>
      <vt:lpstr>Situation</vt:lpstr>
      <vt:lpstr>Obtain</vt:lpstr>
      <vt:lpstr>Scrub</vt:lpstr>
      <vt:lpstr>Scrub</vt:lpstr>
      <vt:lpstr>Explore</vt:lpstr>
      <vt:lpstr>Explore</vt:lpstr>
      <vt:lpstr>Explore</vt:lpstr>
      <vt:lpstr>Model</vt:lpstr>
      <vt:lpstr>Model</vt:lpstr>
      <vt:lpstr>Model</vt:lpstr>
      <vt:lpstr>Model</vt:lpstr>
      <vt:lpstr>Association Rules</vt:lpstr>
      <vt:lpstr>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Recommendation Analysis</dc:title>
  <dc:creator>Tim Abrams</dc:creator>
  <cp:lastModifiedBy>Telly Cooper</cp:lastModifiedBy>
  <cp:revision>7</cp:revision>
  <dcterms:created xsi:type="dcterms:W3CDTF">2020-03-21T20:48:05Z</dcterms:created>
  <dcterms:modified xsi:type="dcterms:W3CDTF">2020-03-23T04:54:52Z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tellycoo@microsoft.com</vt:lpwstr>
  </property>
  <property fmtid="{D5CDD505-2E9C-101B-9397-08002B2CF9AE}" pid="5" name="MSIP_Label_f42aa342-8706-4288-bd11-ebb85995028c_SetDate">
    <vt:lpwstr>2020-03-23T04:54:09.6282483Z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16e821db-993f-4790-b5ae-bb9371df7c83</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