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90" r:id="rId2"/>
    <p:sldId id="291" r:id="rId3"/>
    <p:sldId id="261" r:id="rId4"/>
    <p:sldId id="297" r:id="rId5"/>
    <p:sldId id="294" r:id="rId6"/>
    <p:sldId id="295" r:id="rId7"/>
    <p:sldId id="296" r:id="rId8"/>
    <p:sldId id="266" r:id="rId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a:srgbClr val="4472C4"/>
    <a:srgbClr val="00E5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62" autoAdjust="0"/>
    <p:restoredTop sz="94641" autoAdjust="0"/>
  </p:normalViewPr>
  <p:slideViewPr>
    <p:cSldViewPr snapToGrid="0">
      <p:cViewPr>
        <p:scale>
          <a:sx n="50" d="100"/>
          <a:sy n="50" d="100"/>
        </p:scale>
        <p:origin x="1788" y="34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14" d="100"/>
        <a:sy n="114" d="100"/>
      </p:scale>
      <p:origin x="0" y="0"/>
    </p:cViewPr>
  </p:sorterViewPr>
  <p:notesViewPr>
    <p:cSldViewPr snapToGrid="0">
      <p:cViewPr varScale="1">
        <p:scale>
          <a:sx n="85" d="100"/>
          <a:sy n="85" d="100"/>
        </p:scale>
        <p:origin x="383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50779C-1821-4272-86D8-8C2B369446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8F1A6A-DDA5-4C64-B472-C8E899FA3B93}">
      <dgm:prSet/>
      <dgm:spPr/>
      <dgm:t>
        <a:bodyPr/>
        <a:lstStyle/>
        <a:p>
          <a:r>
            <a:rPr lang="en-US" dirty="0"/>
            <a:t>Data mining approaches suggest caution when considering revealing a mental health issue either to peers or a supervisor. </a:t>
          </a:r>
        </a:p>
      </dgm:t>
    </dgm:pt>
    <dgm:pt modelId="{25FD617F-F4D2-4CAD-A833-C8DD2C11403D}" type="parTrans" cxnId="{233DBC5E-19F7-4CCF-BF3E-5CA7896A5032}">
      <dgm:prSet/>
      <dgm:spPr/>
      <dgm:t>
        <a:bodyPr/>
        <a:lstStyle/>
        <a:p>
          <a:endParaRPr lang="en-US"/>
        </a:p>
      </dgm:t>
    </dgm:pt>
    <dgm:pt modelId="{99669006-55E9-4422-BD1C-5504982B0D55}" type="sibTrans" cxnId="{233DBC5E-19F7-4CCF-BF3E-5CA7896A5032}">
      <dgm:prSet/>
      <dgm:spPr/>
      <dgm:t>
        <a:bodyPr/>
        <a:lstStyle/>
        <a:p>
          <a:endParaRPr lang="en-US"/>
        </a:p>
      </dgm:t>
    </dgm:pt>
    <dgm:pt modelId="{3CB9F0C6-77A7-4DD9-AB48-2E209625CE67}">
      <dgm:prSet/>
      <dgm:spPr/>
      <dgm:t>
        <a:bodyPr/>
        <a:lstStyle/>
        <a:p>
          <a:r>
            <a:rPr lang="en-US" dirty="0"/>
            <a:t>Difficult to conclude companies are not receptive to employees discussing mental disorders, but companies do not seem to foster an environment where employees feel comfortable to speak openly about mental illness.</a:t>
          </a:r>
        </a:p>
      </dgm:t>
    </dgm:pt>
    <dgm:pt modelId="{D532DA92-3AFD-4EEB-8FAC-B8745EF05D0B}" type="parTrans" cxnId="{F30802AF-A7A2-4702-8436-E77DED8ABF74}">
      <dgm:prSet/>
      <dgm:spPr/>
      <dgm:t>
        <a:bodyPr/>
        <a:lstStyle/>
        <a:p>
          <a:endParaRPr lang="en-US"/>
        </a:p>
      </dgm:t>
    </dgm:pt>
    <dgm:pt modelId="{7DD9024F-2986-4C76-A2B0-078F87387BA6}" type="sibTrans" cxnId="{F30802AF-A7A2-4702-8436-E77DED8ABF74}">
      <dgm:prSet/>
      <dgm:spPr/>
      <dgm:t>
        <a:bodyPr/>
        <a:lstStyle/>
        <a:p>
          <a:endParaRPr lang="en-US"/>
        </a:p>
      </dgm:t>
    </dgm:pt>
    <dgm:pt modelId="{BB0B37BF-6724-45F0-913C-32F0C5A0EDBF}">
      <dgm:prSet/>
      <dgm:spPr/>
      <dgm:t>
        <a:bodyPr/>
        <a:lstStyle/>
        <a:p>
          <a:r>
            <a:rPr lang="en-US" dirty="0"/>
            <a:t>Employers can help: a) make employees feel their career will not be adversely affected by coming forward about mental illness, and b) help to create a culture where employees talk openly with each other about MH without stigmatizing those who suffer.</a:t>
          </a:r>
        </a:p>
      </dgm:t>
    </dgm:pt>
    <dgm:pt modelId="{9C34295D-9A1E-4420-BF57-2B7CB302677A}" type="parTrans" cxnId="{83610856-EDEA-4D87-921A-F3FEC967A713}">
      <dgm:prSet/>
      <dgm:spPr/>
      <dgm:t>
        <a:bodyPr/>
        <a:lstStyle/>
        <a:p>
          <a:endParaRPr lang="en-US"/>
        </a:p>
      </dgm:t>
    </dgm:pt>
    <dgm:pt modelId="{78FB9548-5BC6-4307-83DC-4175A0BFF79F}" type="sibTrans" cxnId="{83610856-EDEA-4D87-921A-F3FEC967A713}">
      <dgm:prSet/>
      <dgm:spPr/>
      <dgm:t>
        <a:bodyPr/>
        <a:lstStyle/>
        <a:p>
          <a:endParaRPr lang="en-US"/>
        </a:p>
      </dgm:t>
    </dgm:pt>
    <dgm:pt modelId="{FA0B9CAD-9020-43ED-B519-4B8920B6B616}">
      <dgm:prSet/>
      <dgm:spPr/>
      <dgm:t>
        <a:bodyPr/>
        <a:lstStyle/>
        <a:p>
          <a:r>
            <a:rPr lang="en-US" dirty="0"/>
            <a:t>Employers can benefit: many respondents indicate a loss of productivity due to MH issues; by encouraging open communication, employers can help connect employees with needed resources.</a:t>
          </a:r>
        </a:p>
      </dgm:t>
    </dgm:pt>
    <dgm:pt modelId="{C51FD05B-0B53-44C8-9960-70E08C49B0F5}" type="parTrans" cxnId="{83CF02E5-EB8E-45F6-BD1E-E301A4696EB3}">
      <dgm:prSet/>
      <dgm:spPr/>
      <dgm:t>
        <a:bodyPr/>
        <a:lstStyle/>
        <a:p>
          <a:endParaRPr lang="en-US"/>
        </a:p>
      </dgm:t>
    </dgm:pt>
    <dgm:pt modelId="{D5F77B67-B32F-45CA-B81A-AC89FC3131E9}" type="sibTrans" cxnId="{83CF02E5-EB8E-45F6-BD1E-E301A4696EB3}">
      <dgm:prSet/>
      <dgm:spPr/>
      <dgm:t>
        <a:bodyPr/>
        <a:lstStyle/>
        <a:p>
          <a:endParaRPr lang="en-US"/>
        </a:p>
      </dgm:t>
    </dgm:pt>
    <dgm:pt modelId="{B507A3D7-D113-41B3-8061-61A13C4965D6}">
      <dgm:prSet/>
      <dgm:spPr/>
      <dgm:t>
        <a:bodyPr/>
        <a:lstStyle/>
        <a:p>
          <a:r>
            <a:rPr lang="en-US" dirty="0"/>
            <a:t>A supervisor is key in establishing the work environment and supervising their employee assets. A supervisor is also a bridge between the employee and the major decision makers within a company.*</a:t>
          </a:r>
        </a:p>
      </dgm:t>
    </dgm:pt>
    <dgm:pt modelId="{D8C33163-66C0-4F2E-B088-775994EFDEBE}" type="parTrans" cxnId="{62DB5DF3-1596-4424-95C8-925A13378678}">
      <dgm:prSet/>
      <dgm:spPr/>
      <dgm:t>
        <a:bodyPr/>
        <a:lstStyle/>
        <a:p>
          <a:endParaRPr lang="en-US"/>
        </a:p>
      </dgm:t>
    </dgm:pt>
    <dgm:pt modelId="{223A19F4-EE77-4BA8-B9CF-5D61084F93B3}" type="sibTrans" cxnId="{62DB5DF3-1596-4424-95C8-925A13378678}">
      <dgm:prSet/>
      <dgm:spPr/>
      <dgm:t>
        <a:bodyPr/>
        <a:lstStyle/>
        <a:p>
          <a:endParaRPr lang="en-US"/>
        </a:p>
      </dgm:t>
    </dgm:pt>
    <dgm:pt modelId="{47C135A9-CEDB-4728-9268-EFDBD5A0FE77}">
      <dgm:prSet/>
      <dgm:spPr/>
      <dgm:t>
        <a:bodyPr/>
        <a:lstStyle/>
        <a:p>
          <a:r>
            <a:rPr lang="en-US" dirty="0"/>
            <a:t>Training may be needed in cases to help supervisors identify individuals who may need assistance, to know how to approach these individuals, and to help foster an atmosphere of openness among their work groups without fear of repercussion for an employee.</a:t>
          </a:r>
        </a:p>
      </dgm:t>
    </dgm:pt>
    <dgm:pt modelId="{FFB58AE9-0C80-4544-A78C-84F0E5BD1F1D}" type="parTrans" cxnId="{33A8FA90-8A35-416F-BB2A-ED5A0EE04395}">
      <dgm:prSet/>
      <dgm:spPr/>
      <dgm:t>
        <a:bodyPr/>
        <a:lstStyle/>
        <a:p>
          <a:endParaRPr lang="en-US"/>
        </a:p>
      </dgm:t>
    </dgm:pt>
    <dgm:pt modelId="{5581A825-BF65-497D-94E9-00FA9751A664}" type="sibTrans" cxnId="{33A8FA90-8A35-416F-BB2A-ED5A0EE04395}">
      <dgm:prSet/>
      <dgm:spPr/>
      <dgm:t>
        <a:bodyPr/>
        <a:lstStyle/>
        <a:p>
          <a:endParaRPr lang="en-US"/>
        </a:p>
      </dgm:t>
    </dgm:pt>
    <dgm:pt modelId="{DC990704-316F-47DE-99AB-6FC9CC4F4197}" type="pres">
      <dgm:prSet presAssocID="{F450779C-1821-4272-86D8-8C2B3694462A}" presName="root" presStyleCnt="0">
        <dgm:presLayoutVars>
          <dgm:dir/>
          <dgm:resizeHandles val="exact"/>
        </dgm:presLayoutVars>
      </dgm:prSet>
      <dgm:spPr/>
    </dgm:pt>
    <dgm:pt modelId="{398E3CA0-808B-49B5-A783-E113EBEDBF5E}" type="pres">
      <dgm:prSet presAssocID="{3E8F1A6A-DDA5-4C64-B472-C8E899FA3B93}" presName="compNode" presStyleCnt="0"/>
      <dgm:spPr/>
    </dgm:pt>
    <dgm:pt modelId="{4C7742B7-2239-485C-A2FE-6F7B07DFBD6B}" type="pres">
      <dgm:prSet presAssocID="{3E8F1A6A-DDA5-4C64-B472-C8E899FA3B93}" presName="bgRect" presStyleLbl="bgShp" presStyleIdx="0" presStyleCnt="6"/>
      <dgm:spPr/>
    </dgm:pt>
    <dgm:pt modelId="{6B7CF6F9-1F18-43DA-B488-EA20B40CC89C}" type="pres">
      <dgm:prSet presAssocID="{3E8F1A6A-DDA5-4C64-B472-C8E899FA3B9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997404F8-4DBC-4C8D-8901-1C29F286A2CF}" type="pres">
      <dgm:prSet presAssocID="{3E8F1A6A-DDA5-4C64-B472-C8E899FA3B93}" presName="spaceRect" presStyleCnt="0"/>
      <dgm:spPr/>
    </dgm:pt>
    <dgm:pt modelId="{05118473-2717-44DE-939D-D806656F51EA}" type="pres">
      <dgm:prSet presAssocID="{3E8F1A6A-DDA5-4C64-B472-C8E899FA3B93}" presName="parTx" presStyleLbl="revTx" presStyleIdx="0" presStyleCnt="6">
        <dgm:presLayoutVars>
          <dgm:chMax val="0"/>
          <dgm:chPref val="0"/>
        </dgm:presLayoutVars>
      </dgm:prSet>
      <dgm:spPr/>
    </dgm:pt>
    <dgm:pt modelId="{1826E1F0-1A20-42FF-B514-161E1C54F616}" type="pres">
      <dgm:prSet presAssocID="{99669006-55E9-4422-BD1C-5504982B0D55}" presName="sibTrans" presStyleCnt="0"/>
      <dgm:spPr/>
    </dgm:pt>
    <dgm:pt modelId="{52FACCE7-8FE9-49CA-BF10-01A060EDCD94}" type="pres">
      <dgm:prSet presAssocID="{3CB9F0C6-77A7-4DD9-AB48-2E209625CE67}" presName="compNode" presStyleCnt="0"/>
      <dgm:spPr/>
    </dgm:pt>
    <dgm:pt modelId="{FD35A362-5F9F-408C-91D9-C3BE78B7BCC0}" type="pres">
      <dgm:prSet presAssocID="{3CB9F0C6-77A7-4DD9-AB48-2E209625CE67}" presName="bgRect" presStyleLbl="bgShp" presStyleIdx="1" presStyleCnt="6"/>
      <dgm:spPr/>
    </dgm:pt>
    <dgm:pt modelId="{B421CEC1-8120-4F48-AB10-9561B7397903}" type="pres">
      <dgm:prSet presAssocID="{3CB9F0C6-77A7-4DD9-AB48-2E209625CE6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F0007245-D55A-41A6-A7ED-D1026B43FB55}" type="pres">
      <dgm:prSet presAssocID="{3CB9F0C6-77A7-4DD9-AB48-2E209625CE67}" presName="spaceRect" presStyleCnt="0"/>
      <dgm:spPr/>
    </dgm:pt>
    <dgm:pt modelId="{B68B8EB6-AEF3-482A-8FC7-09962EB1983D}" type="pres">
      <dgm:prSet presAssocID="{3CB9F0C6-77A7-4DD9-AB48-2E209625CE67}" presName="parTx" presStyleLbl="revTx" presStyleIdx="1" presStyleCnt="6">
        <dgm:presLayoutVars>
          <dgm:chMax val="0"/>
          <dgm:chPref val="0"/>
        </dgm:presLayoutVars>
      </dgm:prSet>
      <dgm:spPr/>
    </dgm:pt>
    <dgm:pt modelId="{74BBA5E3-7666-4AE4-9BC3-3BADA768A39B}" type="pres">
      <dgm:prSet presAssocID="{7DD9024F-2986-4C76-A2B0-078F87387BA6}" presName="sibTrans" presStyleCnt="0"/>
      <dgm:spPr/>
    </dgm:pt>
    <dgm:pt modelId="{AE616B9A-13C3-4259-8B4C-3AE807CEC098}" type="pres">
      <dgm:prSet presAssocID="{BB0B37BF-6724-45F0-913C-32F0C5A0EDBF}" presName="compNode" presStyleCnt="0"/>
      <dgm:spPr/>
    </dgm:pt>
    <dgm:pt modelId="{79487ECE-88C0-486E-B715-8BE7D08E6661}" type="pres">
      <dgm:prSet presAssocID="{BB0B37BF-6724-45F0-913C-32F0C5A0EDBF}" presName="bgRect" presStyleLbl="bgShp" presStyleIdx="2" presStyleCnt="6" custScaleY="141713"/>
      <dgm:spPr/>
    </dgm:pt>
    <dgm:pt modelId="{924F686C-1758-4159-B0DC-818200D2D23C}" type="pres">
      <dgm:prSet presAssocID="{BB0B37BF-6724-45F0-913C-32F0C5A0EDB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ctions"/>
        </a:ext>
      </dgm:extLst>
    </dgm:pt>
    <dgm:pt modelId="{80BCED16-0D16-4733-A0E5-2B622FCE5DC0}" type="pres">
      <dgm:prSet presAssocID="{BB0B37BF-6724-45F0-913C-32F0C5A0EDBF}" presName="spaceRect" presStyleCnt="0"/>
      <dgm:spPr/>
    </dgm:pt>
    <dgm:pt modelId="{CED8CA58-707E-46E0-9CCD-D12CBC2F6BB9}" type="pres">
      <dgm:prSet presAssocID="{BB0B37BF-6724-45F0-913C-32F0C5A0EDBF}" presName="parTx" presStyleLbl="revTx" presStyleIdx="2" presStyleCnt="6">
        <dgm:presLayoutVars>
          <dgm:chMax val="0"/>
          <dgm:chPref val="0"/>
        </dgm:presLayoutVars>
      </dgm:prSet>
      <dgm:spPr/>
    </dgm:pt>
    <dgm:pt modelId="{43452DBF-9F61-403B-B0A8-F242CB43D773}" type="pres">
      <dgm:prSet presAssocID="{78FB9548-5BC6-4307-83DC-4175A0BFF79F}" presName="sibTrans" presStyleCnt="0"/>
      <dgm:spPr/>
    </dgm:pt>
    <dgm:pt modelId="{45C4D62E-4D60-4F42-9F3A-AE8CACD11721}" type="pres">
      <dgm:prSet presAssocID="{FA0B9CAD-9020-43ED-B519-4B8920B6B616}" presName="compNode" presStyleCnt="0"/>
      <dgm:spPr/>
    </dgm:pt>
    <dgm:pt modelId="{404FA7EB-C156-4112-91DA-8D8B626B384A}" type="pres">
      <dgm:prSet presAssocID="{FA0B9CAD-9020-43ED-B519-4B8920B6B616}" presName="bgRect" presStyleLbl="bgShp" presStyleIdx="3" presStyleCnt="6"/>
      <dgm:spPr/>
    </dgm:pt>
    <dgm:pt modelId="{A58158F5-6C8D-4B63-A931-B4884F8ED5D5}" type="pres">
      <dgm:prSet presAssocID="{FA0B9CAD-9020-43ED-B519-4B8920B6B61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ocial Network"/>
        </a:ext>
      </dgm:extLst>
    </dgm:pt>
    <dgm:pt modelId="{F11E9007-3993-4575-900B-B7CA8A8E358B}" type="pres">
      <dgm:prSet presAssocID="{FA0B9CAD-9020-43ED-B519-4B8920B6B616}" presName="spaceRect" presStyleCnt="0"/>
      <dgm:spPr/>
    </dgm:pt>
    <dgm:pt modelId="{6353BF66-CF5E-4D51-AC1C-84F987CEE221}" type="pres">
      <dgm:prSet presAssocID="{FA0B9CAD-9020-43ED-B519-4B8920B6B616}" presName="parTx" presStyleLbl="revTx" presStyleIdx="3" presStyleCnt="6">
        <dgm:presLayoutVars>
          <dgm:chMax val="0"/>
          <dgm:chPref val="0"/>
        </dgm:presLayoutVars>
      </dgm:prSet>
      <dgm:spPr/>
    </dgm:pt>
    <dgm:pt modelId="{BF5D8A07-A11E-4864-83FE-A6827D829751}" type="pres">
      <dgm:prSet presAssocID="{D5F77B67-B32F-45CA-B81A-AC89FC3131E9}" presName="sibTrans" presStyleCnt="0"/>
      <dgm:spPr/>
    </dgm:pt>
    <dgm:pt modelId="{07522C3E-7F82-44EA-A65A-FE4E558C4DEC}" type="pres">
      <dgm:prSet presAssocID="{B507A3D7-D113-41B3-8061-61A13C4965D6}" presName="compNode" presStyleCnt="0"/>
      <dgm:spPr/>
    </dgm:pt>
    <dgm:pt modelId="{A34787C9-4532-4FF6-BA63-619E784211B1}" type="pres">
      <dgm:prSet presAssocID="{B507A3D7-D113-41B3-8061-61A13C4965D6}" presName="bgRect" presStyleLbl="bgShp" presStyleIdx="4" presStyleCnt="6"/>
      <dgm:spPr/>
    </dgm:pt>
    <dgm:pt modelId="{3F13D81F-3827-444E-A3DB-246BCD211146}" type="pres">
      <dgm:prSet presAssocID="{B507A3D7-D113-41B3-8061-61A13C4965D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elder"/>
        </a:ext>
      </dgm:extLst>
    </dgm:pt>
    <dgm:pt modelId="{4079E905-04B8-4379-8636-D58DBD9AD2BE}" type="pres">
      <dgm:prSet presAssocID="{B507A3D7-D113-41B3-8061-61A13C4965D6}" presName="spaceRect" presStyleCnt="0"/>
      <dgm:spPr/>
    </dgm:pt>
    <dgm:pt modelId="{AEB716AE-7AED-4D46-A7AF-CD77EA22691F}" type="pres">
      <dgm:prSet presAssocID="{B507A3D7-D113-41B3-8061-61A13C4965D6}" presName="parTx" presStyleLbl="revTx" presStyleIdx="4" presStyleCnt="6">
        <dgm:presLayoutVars>
          <dgm:chMax val="0"/>
          <dgm:chPref val="0"/>
        </dgm:presLayoutVars>
      </dgm:prSet>
      <dgm:spPr/>
    </dgm:pt>
    <dgm:pt modelId="{BA734B4C-F00C-4609-8149-6107B6FD50ED}" type="pres">
      <dgm:prSet presAssocID="{223A19F4-EE77-4BA8-B9CF-5D61084F93B3}" presName="sibTrans" presStyleCnt="0"/>
      <dgm:spPr/>
    </dgm:pt>
    <dgm:pt modelId="{5FAD5FE6-B4BD-42EA-A0DA-7BE8D60EDBC1}" type="pres">
      <dgm:prSet presAssocID="{47C135A9-CEDB-4728-9268-EFDBD5A0FE77}" presName="compNode" presStyleCnt="0"/>
      <dgm:spPr/>
    </dgm:pt>
    <dgm:pt modelId="{BBF39A1F-53C2-4592-BD17-48C658F699CE}" type="pres">
      <dgm:prSet presAssocID="{47C135A9-CEDB-4728-9268-EFDBD5A0FE77}" presName="bgRect" presStyleLbl="bgShp" presStyleIdx="5" presStyleCnt="6" custScaleY="151291"/>
      <dgm:spPr/>
    </dgm:pt>
    <dgm:pt modelId="{6516C876-314A-4FC0-A218-4B37BE142CDF}" type="pres">
      <dgm:prSet presAssocID="{47C135A9-CEDB-4728-9268-EFDBD5A0FE7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 Network"/>
        </a:ext>
      </dgm:extLst>
    </dgm:pt>
    <dgm:pt modelId="{54BABC91-F84F-45FA-AE2E-649BDB823374}" type="pres">
      <dgm:prSet presAssocID="{47C135A9-CEDB-4728-9268-EFDBD5A0FE77}" presName="spaceRect" presStyleCnt="0"/>
      <dgm:spPr/>
    </dgm:pt>
    <dgm:pt modelId="{A4C7E28A-5B7D-460D-ABF0-B4202E005129}" type="pres">
      <dgm:prSet presAssocID="{47C135A9-CEDB-4728-9268-EFDBD5A0FE77}" presName="parTx" presStyleLbl="revTx" presStyleIdx="5" presStyleCnt="6">
        <dgm:presLayoutVars>
          <dgm:chMax val="0"/>
          <dgm:chPref val="0"/>
        </dgm:presLayoutVars>
      </dgm:prSet>
      <dgm:spPr/>
    </dgm:pt>
  </dgm:ptLst>
  <dgm:cxnLst>
    <dgm:cxn modelId="{D18F7609-4D70-42DD-8009-F5865CB1E31E}" type="presOf" srcId="{3CB9F0C6-77A7-4DD9-AB48-2E209625CE67}" destId="{B68B8EB6-AEF3-482A-8FC7-09962EB1983D}" srcOrd="0" destOrd="0" presId="urn:microsoft.com/office/officeart/2018/2/layout/IconVerticalSolidList"/>
    <dgm:cxn modelId="{FBFE980D-B5D8-43FE-BA91-287F545F8488}" type="presOf" srcId="{3E8F1A6A-DDA5-4C64-B472-C8E899FA3B93}" destId="{05118473-2717-44DE-939D-D806656F51EA}" srcOrd="0" destOrd="0" presId="urn:microsoft.com/office/officeart/2018/2/layout/IconVerticalSolidList"/>
    <dgm:cxn modelId="{9935A11A-3BE2-4A95-8700-81FFB8F72952}" type="presOf" srcId="{FA0B9CAD-9020-43ED-B519-4B8920B6B616}" destId="{6353BF66-CF5E-4D51-AC1C-84F987CEE221}" srcOrd="0" destOrd="0" presId="urn:microsoft.com/office/officeart/2018/2/layout/IconVerticalSolidList"/>
    <dgm:cxn modelId="{5304F55B-03C4-421A-920E-F99E066CC8C6}" type="presOf" srcId="{F450779C-1821-4272-86D8-8C2B3694462A}" destId="{DC990704-316F-47DE-99AB-6FC9CC4F4197}" srcOrd="0" destOrd="0" presId="urn:microsoft.com/office/officeart/2018/2/layout/IconVerticalSolidList"/>
    <dgm:cxn modelId="{233DBC5E-19F7-4CCF-BF3E-5CA7896A5032}" srcId="{F450779C-1821-4272-86D8-8C2B3694462A}" destId="{3E8F1A6A-DDA5-4C64-B472-C8E899FA3B93}" srcOrd="0" destOrd="0" parTransId="{25FD617F-F4D2-4CAD-A833-C8DD2C11403D}" sibTransId="{99669006-55E9-4422-BD1C-5504982B0D55}"/>
    <dgm:cxn modelId="{4C18CF50-B595-428A-AB5F-FF1D767E41AD}" type="presOf" srcId="{47C135A9-CEDB-4728-9268-EFDBD5A0FE77}" destId="{A4C7E28A-5B7D-460D-ABF0-B4202E005129}" srcOrd="0" destOrd="0" presId="urn:microsoft.com/office/officeart/2018/2/layout/IconVerticalSolidList"/>
    <dgm:cxn modelId="{83610856-EDEA-4D87-921A-F3FEC967A713}" srcId="{F450779C-1821-4272-86D8-8C2B3694462A}" destId="{BB0B37BF-6724-45F0-913C-32F0C5A0EDBF}" srcOrd="2" destOrd="0" parTransId="{9C34295D-9A1E-4420-BF57-2B7CB302677A}" sibTransId="{78FB9548-5BC6-4307-83DC-4175A0BFF79F}"/>
    <dgm:cxn modelId="{33A8FA90-8A35-416F-BB2A-ED5A0EE04395}" srcId="{F450779C-1821-4272-86D8-8C2B3694462A}" destId="{47C135A9-CEDB-4728-9268-EFDBD5A0FE77}" srcOrd="5" destOrd="0" parTransId="{FFB58AE9-0C80-4544-A78C-84F0E5BD1F1D}" sibTransId="{5581A825-BF65-497D-94E9-00FA9751A664}"/>
    <dgm:cxn modelId="{F30802AF-A7A2-4702-8436-E77DED8ABF74}" srcId="{F450779C-1821-4272-86D8-8C2B3694462A}" destId="{3CB9F0C6-77A7-4DD9-AB48-2E209625CE67}" srcOrd="1" destOrd="0" parTransId="{D532DA92-3AFD-4EEB-8FAC-B8745EF05D0B}" sibTransId="{7DD9024F-2986-4C76-A2B0-078F87387BA6}"/>
    <dgm:cxn modelId="{83CF02E5-EB8E-45F6-BD1E-E301A4696EB3}" srcId="{F450779C-1821-4272-86D8-8C2B3694462A}" destId="{FA0B9CAD-9020-43ED-B519-4B8920B6B616}" srcOrd="3" destOrd="0" parTransId="{C51FD05B-0B53-44C8-9960-70E08C49B0F5}" sibTransId="{D5F77B67-B32F-45CA-B81A-AC89FC3131E9}"/>
    <dgm:cxn modelId="{4FA5CBE6-2CE0-4746-BEFF-B76BE351C092}" type="presOf" srcId="{B507A3D7-D113-41B3-8061-61A13C4965D6}" destId="{AEB716AE-7AED-4D46-A7AF-CD77EA22691F}" srcOrd="0" destOrd="0" presId="urn:microsoft.com/office/officeart/2018/2/layout/IconVerticalSolidList"/>
    <dgm:cxn modelId="{6B1D2CEB-DFE2-4361-B6D6-6B0ECD20C8A2}" type="presOf" srcId="{BB0B37BF-6724-45F0-913C-32F0C5A0EDBF}" destId="{CED8CA58-707E-46E0-9CCD-D12CBC2F6BB9}" srcOrd="0" destOrd="0" presId="urn:microsoft.com/office/officeart/2018/2/layout/IconVerticalSolidList"/>
    <dgm:cxn modelId="{62DB5DF3-1596-4424-95C8-925A13378678}" srcId="{F450779C-1821-4272-86D8-8C2B3694462A}" destId="{B507A3D7-D113-41B3-8061-61A13C4965D6}" srcOrd="4" destOrd="0" parTransId="{D8C33163-66C0-4F2E-B088-775994EFDEBE}" sibTransId="{223A19F4-EE77-4BA8-B9CF-5D61084F93B3}"/>
    <dgm:cxn modelId="{D804FAF6-D172-47B0-A22E-CE8CED5FB9A6}" type="presParOf" srcId="{DC990704-316F-47DE-99AB-6FC9CC4F4197}" destId="{398E3CA0-808B-49B5-A783-E113EBEDBF5E}" srcOrd="0" destOrd="0" presId="urn:microsoft.com/office/officeart/2018/2/layout/IconVerticalSolidList"/>
    <dgm:cxn modelId="{E18048FF-3C41-4630-8174-A450FCC2EC4F}" type="presParOf" srcId="{398E3CA0-808B-49B5-A783-E113EBEDBF5E}" destId="{4C7742B7-2239-485C-A2FE-6F7B07DFBD6B}" srcOrd="0" destOrd="0" presId="urn:microsoft.com/office/officeart/2018/2/layout/IconVerticalSolidList"/>
    <dgm:cxn modelId="{0C8BE669-61B1-4A8F-88A9-906FCB16A880}" type="presParOf" srcId="{398E3CA0-808B-49B5-A783-E113EBEDBF5E}" destId="{6B7CF6F9-1F18-43DA-B488-EA20B40CC89C}" srcOrd="1" destOrd="0" presId="urn:microsoft.com/office/officeart/2018/2/layout/IconVerticalSolidList"/>
    <dgm:cxn modelId="{48110CF4-4C9F-46DB-820A-3DA3BA7BD712}" type="presParOf" srcId="{398E3CA0-808B-49B5-A783-E113EBEDBF5E}" destId="{997404F8-4DBC-4C8D-8901-1C29F286A2CF}" srcOrd="2" destOrd="0" presId="urn:microsoft.com/office/officeart/2018/2/layout/IconVerticalSolidList"/>
    <dgm:cxn modelId="{9C4B42D7-246A-4F1A-A671-18B72F75B7E0}" type="presParOf" srcId="{398E3CA0-808B-49B5-A783-E113EBEDBF5E}" destId="{05118473-2717-44DE-939D-D806656F51EA}" srcOrd="3" destOrd="0" presId="urn:microsoft.com/office/officeart/2018/2/layout/IconVerticalSolidList"/>
    <dgm:cxn modelId="{8C1C3C99-C0DD-4845-8EEF-9BC2253A5562}" type="presParOf" srcId="{DC990704-316F-47DE-99AB-6FC9CC4F4197}" destId="{1826E1F0-1A20-42FF-B514-161E1C54F616}" srcOrd="1" destOrd="0" presId="urn:microsoft.com/office/officeart/2018/2/layout/IconVerticalSolidList"/>
    <dgm:cxn modelId="{5CEBCD9F-02FD-4511-A880-7A625E97D308}" type="presParOf" srcId="{DC990704-316F-47DE-99AB-6FC9CC4F4197}" destId="{52FACCE7-8FE9-49CA-BF10-01A060EDCD94}" srcOrd="2" destOrd="0" presId="urn:microsoft.com/office/officeart/2018/2/layout/IconVerticalSolidList"/>
    <dgm:cxn modelId="{84AA7B6F-E174-4131-9A7E-C253BBB8EE67}" type="presParOf" srcId="{52FACCE7-8FE9-49CA-BF10-01A060EDCD94}" destId="{FD35A362-5F9F-408C-91D9-C3BE78B7BCC0}" srcOrd="0" destOrd="0" presId="urn:microsoft.com/office/officeart/2018/2/layout/IconVerticalSolidList"/>
    <dgm:cxn modelId="{73D9B878-EB4D-46BD-9007-C90498D3AF8A}" type="presParOf" srcId="{52FACCE7-8FE9-49CA-BF10-01A060EDCD94}" destId="{B421CEC1-8120-4F48-AB10-9561B7397903}" srcOrd="1" destOrd="0" presId="urn:microsoft.com/office/officeart/2018/2/layout/IconVerticalSolidList"/>
    <dgm:cxn modelId="{500B8DC4-2DA0-48DF-A2CE-C1E12D2E6426}" type="presParOf" srcId="{52FACCE7-8FE9-49CA-BF10-01A060EDCD94}" destId="{F0007245-D55A-41A6-A7ED-D1026B43FB55}" srcOrd="2" destOrd="0" presId="urn:microsoft.com/office/officeart/2018/2/layout/IconVerticalSolidList"/>
    <dgm:cxn modelId="{D0CFC64A-DCC7-46F7-B5BC-B3F22A8FDAA4}" type="presParOf" srcId="{52FACCE7-8FE9-49CA-BF10-01A060EDCD94}" destId="{B68B8EB6-AEF3-482A-8FC7-09962EB1983D}" srcOrd="3" destOrd="0" presId="urn:microsoft.com/office/officeart/2018/2/layout/IconVerticalSolidList"/>
    <dgm:cxn modelId="{E50E6CE2-ED96-4BBF-A5DA-9413D2815DA8}" type="presParOf" srcId="{DC990704-316F-47DE-99AB-6FC9CC4F4197}" destId="{74BBA5E3-7666-4AE4-9BC3-3BADA768A39B}" srcOrd="3" destOrd="0" presId="urn:microsoft.com/office/officeart/2018/2/layout/IconVerticalSolidList"/>
    <dgm:cxn modelId="{15A43441-E328-4366-BB52-47ADC66187D9}" type="presParOf" srcId="{DC990704-316F-47DE-99AB-6FC9CC4F4197}" destId="{AE616B9A-13C3-4259-8B4C-3AE807CEC098}" srcOrd="4" destOrd="0" presId="urn:microsoft.com/office/officeart/2018/2/layout/IconVerticalSolidList"/>
    <dgm:cxn modelId="{57156B21-1271-4DDF-8C9C-4350508AB987}" type="presParOf" srcId="{AE616B9A-13C3-4259-8B4C-3AE807CEC098}" destId="{79487ECE-88C0-486E-B715-8BE7D08E6661}" srcOrd="0" destOrd="0" presId="urn:microsoft.com/office/officeart/2018/2/layout/IconVerticalSolidList"/>
    <dgm:cxn modelId="{28C37CE1-3F1F-4A2F-9BC6-C133F4BBC0F6}" type="presParOf" srcId="{AE616B9A-13C3-4259-8B4C-3AE807CEC098}" destId="{924F686C-1758-4159-B0DC-818200D2D23C}" srcOrd="1" destOrd="0" presId="urn:microsoft.com/office/officeart/2018/2/layout/IconVerticalSolidList"/>
    <dgm:cxn modelId="{08D77795-2983-49F0-B625-FD71EF3EE0CA}" type="presParOf" srcId="{AE616B9A-13C3-4259-8B4C-3AE807CEC098}" destId="{80BCED16-0D16-4733-A0E5-2B622FCE5DC0}" srcOrd="2" destOrd="0" presId="urn:microsoft.com/office/officeart/2018/2/layout/IconVerticalSolidList"/>
    <dgm:cxn modelId="{98DD347E-5133-400E-8986-18A771A0F8F4}" type="presParOf" srcId="{AE616B9A-13C3-4259-8B4C-3AE807CEC098}" destId="{CED8CA58-707E-46E0-9CCD-D12CBC2F6BB9}" srcOrd="3" destOrd="0" presId="urn:microsoft.com/office/officeart/2018/2/layout/IconVerticalSolidList"/>
    <dgm:cxn modelId="{E548FE5A-FAAB-4259-BA57-9114499162CA}" type="presParOf" srcId="{DC990704-316F-47DE-99AB-6FC9CC4F4197}" destId="{43452DBF-9F61-403B-B0A8-F242CB43D773}" srcOrd="5" destOrd="0" presId="urn:microsoft.com/office/officeart/2018/2/layout/IconVerticalSolidList"/>
    <dgm:cxn modelId="{1B4A4B9D-36BE-4037-93E4-E5DF42B08969}" type="presParOf" srcId="{DC990704-316F-47DE-99AB-6FC9CC4F4197}" destId="{45C4D62E-4D60-4F42-9F3A-AE8CACD11721}" srcOrd="6" destOrd="0" presId="urn:microsoft.com/office/officeart/2018/2/layout/IconVerticalSolidList"/>
    <dgm:cxn modelId="{1F9EA271-EEFF-457C-8B73-9701B78FD68C}" type="presParOf" srcId="{45C4D62E-4D60-4F42-9F3A-AE8CACD11721}" destId="{404FA7EB-C156-4112-91DA-8D8B626B384A}" srcOrd="0" destOrd="0" presId="urn:microsoft.com/office/officeart/2018/2/layout/IconVerticalSolidList"/>
    <dgm:cxn modelId="{B46BEC47-DE5B-4EF4-96DC-F660C3924253}" type="presParOf" srcId="{45C4D62E-4D60-4F42-9F3A-AE8CACD11721}" destId="{A58158F5-6C8D-4B63-A931-B4884F8ED5D5}" srcOrd="1" destOrd="0" presId="urn:microsoft.com/office/officeart/2018/2/layout/IconVerticalSolidList"/>
    <dgm:cxn modelId="{9F6C8383-3810-4699-A09F-0B4893C50A11}" type="presParOf" srcId="{45C4D62E-4D60-4F42-9F3A-AE8CACD11721}" destId="{F11E9007-3993-4575-900B-B7CA8A8E358B}" srcOrd="2" destOrd="0" presId="urn:microsoft.com/office/officeart/2018/2/layout/IconVerticalSolidList"/>
    <dgm:cxn modelId="{BDD18CF8-3C7B-4A22-A874-2E27119A135A}" type="presParOf" srcId="{45C4D62E-4D60-4F42-9F3A-AE8CACD11721}" destId="{6353BF66-CF5E-4D51-AC1C-84F987CEE221}" srcOrd="3" destOrd="0" presId="urn:microsoft.com/office/officeart/2018/2/layout/IconVerticalSolidList"/>
    <dgm:cxn modelId="{6C119ED5-14D0-4CE6-8642-6388212BD125}" type="presParOf" srcId="{DC990704-316F-47DE-99AB-6FC9CC4F4197}" destId="{BF5D8A07-A11E-4864-83FE-A6827D829751}" srcOrd="7" destOrd="0" presId="urn:microsoft.com/office/officeart/2018/2/layout/IconVerticalSolidList"/>
    <dgm:cxn modelId="{F87B8BE5-B05A-4077-83E0-567F1F9A40CF}" type="presParOf" srcId="{DC990704-316F-47DE-99AB-6FC9CC4F4197}" destId="{07522C3E-7F82-44EA-A65A-FE4E558C4DEC}" srcOrd="8" destOrd="0" presId="urn:microsoft.com/office/officeart/2018/2/layout/IconVerticalSolidList"/>
    <dgm:cxn modelId="{67885416-9980-4BAF-8E49-00F451F7264C}" type="presParOf" srcId="{07522C3E-7F82-44EA-A65A-FE4E558C4DEC}" destId="{A34787C9-4532-4FF6-BA63-619E784211B1}" srcOrd="0" destOrd="0" presId="urn:microsoft.com/office/officeart/2018/2/layout/IconVerticalSolidList"/>
    <dgm:cxn modelId="{B3414AE4-F6F9-464C-9B2E-724C61002C30}" type="presParOf" srcId="{07522C3E-7F82-44EA-A65A-FE4E558C4DEC}" destId="{3F13D81F-3827-444E-A3DB-246BCD211146}" srcOrd="1" destOrd="0" presId="urn:microsoft.com/office/officeart/2018/2/layout/IconVerticalSolidList"/>
    <dgm:cxn modelId="{B7448534-EB19-4609-AAD1-265642498AFF}" type="presParOf" srcId="{07522C3E-7F82-44EA-A65A-FE4E558C4DEC}" destId="{4079E905-04B8-4379-8636-D58DBD9AD2BE}" srcOrd="2" destOrd="0" presId="urn:microsoft.com/office/officeart/2018/2/layout/IconVerticalSolidList"/>
    <dgm:cxn modelId="{18E30D22-76B1-4CA5-BBF7-EA7958BADA97}" type="presParOf" srcId="{07522C3E-7F82-44EA-A65A-FE4E558C4DEC}" destId="{AEB716AE-7AED-4D46-A7AF-CD77EA22691F}" srcOrd="3" destOrd="0" presId="urn:microsoft.com/office/officeart/2018/2/layout/IconVerticalSolidList"/>
    <dgm:cxn modelId="{DF51AB71-BA45-4203-B4B5-1015AE5D6C96}" type="presParOf" srcId="{DC990704-316F-47DE-99AB-6FC9CC4F4197}" destId="{BA734B4C-F00C-4609-8149-6107B6FD50ED}" srcOrd="9" destOrd="0" presId="urn:microsoft.com/office/officeart/2018/2/layout/IconVerticalSolidList"/>
    <dgm:cxn modelId="{710E6A4D-B726-4CB3-AB4A-329A91EB3D0F}" type="presParOf" srcId="{DC990704-316F-47DE-99AB-6FC9CC4F4197}" destId="{5FAD5FE6-B4BD-42EA-A0DA-7BE8D60EDBC1}" srcOrd="10" destOrd="0" presId="urn:microsoft.com/office/officeart/2018/2/layout/IconVerticalSolidList"/>
    <dgm:cxn modelId="{820C551D-B25B-4AB8-BBAC-F9EA99E777D3}" type="presParOf" srcId="{5FAD5FE6-B4BD-42EA-A0DA-7BE8D60EDBC1}" destId="{BBF39A1F-53C2-4592-BD17-48C658F699CE}" srcOrd="0" destOrd="0" presId="urn:microsoft.com/office/officeart/2018/2/layout/IconVerticalSolidList"/>
    <dgm:cxn modelId="{3B233143-A23E-4FA3-91D5-B69E0BEED847}" type="presParOf" srcId="{5FAD5FE6-B4BD-42EA-A0DA-7BE8D60EDBC1}" destId="{6516C876-314A-4FC0-A218-4B37BE142CDF}" srcOrd="1" destOrd="0" presId="urn:microsoft.com/office/officeart/2018/2/layout/IconVerticalSolidList"/>
    <dgm:cxn modelId="{159F5180-4DB2-42DF-83FD-FCC2FB0F450C}" type="presParOf" srcId="{5FAD5FE6-B4BD-42EA-A0DA-7BE8D60EDBC1}" destId="{54BABC91-F84F-45FA-AE2E-649BDB823374}" srcOrd="2" destOrd="0" presId="urn:microsoft.com/office/officeart/2018/2/layout/IconVerticalSolidList"/>
    <dgm:cxn modelId="{AD88F6AE-B860-4D79-9F6C-92249CAE4303}" type="presParOf" srcId="{5FAD5FE6-B4BD-42EA-A0DA-7BE8D60EDBC1}" destId="{A4C7E28A-5B7D-460D-ABF0-B4202E0051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742B7-2239-485C-A2FE-6F7B07DFBD6B}">
      <dsp:nvSpPr>
        <dsp:cNvPr id="0" name=""/>
        <dsp:cNvSpPr/>
      </dsp:nvSpPr>
      <dsp:spPr>
        <a:xfrm>
          <a:off x="0" y="66719"/>
          <a:ext cx="6513603" cy="6760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7CF6F9-1F18-43DA-B488-EA20B40CC89C}">
      <dsp:nvSpPr>
        <dsp:cNvPr id="0" name=""/>
        <dsp:cNvSpPr/>
      </dsp:nvSpPr>
      <dsp:spPr>
        <a:xfrm>
          <a:off x="204506" y="218831"/>
          <a:ext cx="372193" cy="371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18473-2717-44DE-939D-D806656F51EA}">
      <dsp:nvSpPr>
        <dsp:cNvPr id="0" name=""/>
        <dsp:cNvSpPr/>
      </dsp:nvSpPr>
      <dsp:spPr>
        <a:xfrm>
          <a:off x="781206" y="66719"/>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Data mining approaches suggest caution when considering revealing a mental health issue either to peers or a supervisor. </a:t>
          </a:r>
        </a:p>
      </dsp:txBody>
      <dsp:txXfrm>
        <a:off x="781206" y="66719"/>
        <a:ext cx="5708735" cy="718308"/>
      </dsp:txXfrm>
    </dsp:sp>
    <dsp:sp modelId="{FD35A362-5F9F-408C-91D9-C3BE78B7BCC0}">
      <dsp:nvSpPr>
        <dsp:cNvPr id="0" name=""/>
        <dsp:cNvSpPr/>
      </dsp:nvSpPr>
      <dsp:spPr>
        <a:xfrm>
          <a:off x="0" y="964604"/>
          <a:ext cx="6513603" cy="6760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21CEC1-8120-4F48-AB10-9561B7397903}">
      <dsp:nvSpPr>
        <dsp:cNvPr id="0" name=""/>
        <dsp:cNvSpPr/>
      </dsp:nvSpPr>
      <dsp:spPr>
        <a:xfrm>
          <a:off x="204506" y="1116717"/>
          <a:ext cx="372193" cy="371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8B8EB6-AEF3-482A-8FC7-09962EB1983D}">
      <dsp:nvSpPr>
        <dsp:cNvPr id="0" name=""/>
        <dsp:cNvSpPr/>
      </dsp:nvSpPr>
      <dsp:spPr>
        <a:xfrm>
          <a:off x="781206" y="964604"/>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Difficult to conclude companies are not receptive to employees discussing mental disorders, but companies do not seem to foster an environment where employees feel comfortable to speak openly about mental illness.</a:t>
          </a:r>
        </a:p>
      </dsp:txBody>
      <dsp:txXfrm>
        <a:off x="781206" y="964604"/>
        <a:ext cx="5708735" cy="718308"/>
      </dsp:txXfrm>
    </dsp:sp>
    <dsp:sp modelId="{79487ECE-88C0-486E-B715-8BE7D08E6661}">
      <dsp:nvSpPr>
        <dsp:cNvPr id="0" name=""/>
        <dsp:cNvSpPr/>
      </dsp:nvSpPr>
      <dsp:spPr>
        <a:xfrm>
          <a:off x="0" y="1862490"/>
          <a:ext cx="6513603" cy="9580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4F686C-1758-4159-B0DC-818200D2D23C}">
      <dsp:nvSpPr>
        <dsp:cNvPr id="0" name=""/>
        <dsp:cNvSpPr/>
      </dsp:nvSpPr>
      <dsp:spPr>
        <a:xfrm>
          <a:off x="204506" y="2155604"/>
          <a:ext cx="372193" cy="371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D8CA58-707E-46E0-9CCD-D12CBC2F6BB9}">
      <dsp:nvSpPr>
        <dsp:cNvPr id="0" name=""/>
        <dsp:cNvSpPr/>
      </dsp:nvSpPr>
      <dsp:spPr>
        <a:xfrm>
          <a:off x="781206" y="2003491"/>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Employers can help: a) make employees feel their career will not be adversely affected by coming forward about mental illness, and b) help to create a culture where employees talk openly with each other about MH without stigmatizing those who suffer.</a:t>
          </a:r>
        </a:p>
      </dsp:txBody>
      <dsp:txXfrm>
        <a:off x="781206" y="2003491"/>
        <a:ext cx="5708735" cy="718308"/>
      </dsp:txXfrm>
    </dsp:sp>
    <dsp:sp modelId="{404FA7EB-C156-4112-91DA-8D8B626B384A}">
      <dsp:nvSpPr>
        <dsp:cNvPr id="0" name=""/>
        <dsp:cNvSpPr/>
      </dsp:nvSpPr>
      <dsp:spPr>
        <a:xfrm>
          <a:off x="0" y="3000125"/>
          <a:ext cx="6513603" cy="6760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8158F5-6C8D-4B63-A931-B4884F8ED5D5}">
      <dsp:nvSpPr>
        <dsp:cNvPr id="0" name=""/>
        <dsp:cNvSpPr/>
      </dsp:nvSpPr>
      <dsp:spPr>
        <a:xfrm>
          <a:off x="204506" y="3152237"/>
          <a:ext cx="372193" cy="371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53BF66-CF5E-4D51-AC1C-84F987CEE221}">
      <dsp:nvSpPr>
        <dsp:cNvPr id="0" name=""/>
        <dsp:cNvSpPr/>
      </dsp:nvSpPr>
      <dsp:spPr>
        <a:xfrm>
          <a:off x="781206" y="3000125"/>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Employers can benefit: many respondents indicate a loss of productivity due to MH issues; by encouraging open communication, employers can help connect employees with needed resources.</a:t>
          </a:r>
        </a:p>
      </dsp:txBody>
      <dsp:txXfrm>
        <a:off x="781206" y="3000125"/>
        <a:ext cx="5708735" cy="718308"/>
      </dsp:txXfrm>
    </dsp:sp>
    <dsp:sp modelId="{A34787C9-4532-4FF6-BA63-619E784211B1}">
      <dsp:nvSpPr>
        <dsp:cNvPr id="0" name=""/>
        <dsp:cNvSpPr/>
      </dsp:nvSpPr>
      <dsp:spPr>
        <a:xfrm>
          <a:off x="0" y="3898010"/>
          <a:ext cx="6513603" cy="6760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13D81F-3827-444E-A3DB-246BCD211146}">
      <dsp:nvSpPr>
        <dsp:cNvPr id="0" name=""/>
        <dsp:cNvSpPr/>
      </dsp:nvSpPr>
      <dsp:spPr>
        <a:xfrm>
          <a:off x="204506" y="4050123"/>
          <a:ext cx="372193" cy="37183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B716AE-7AED-4D46-A7AF-CD77EA22691F}">
      <dsp:nvSpPr>
        <dsp:cNvPr id="0" name=""/>
        <dsp:cNvSpPr/>
      </dsp:nvSpPr>
      <dsp:spPr>
        <a:xfrm>
          <a:off x="781206" y="3898010"/>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A supervisor is key in establishing the work environment and supervising their employee assets. A supervisor is also a bridge between the employee and the major decision makers within a company.*</a:t>
          </a:r>
        </a:p>
      </dsp:txBody>
      <dsp:txXfrm>
        <a:off x="781206" y="3898010"/>
        <a:ext cx="5708735" cy="718308"/>
      </dsp:txXfrm>
    </dsp:sp>
    <dsp:sp modelId="{BBF39A1F-53C2-4592-BD17-48C658F699CE}">
      <dsp:nvSpPr>
        <dsp:cNvPr id="0" name=""/>
        <dsp:cNvSpPr/>
      </dsp:nvSpPr>
      <dsp:spPr>
        <a:xfrm>
          <a:off x="0" y="4795896"/>
          <a:ext cx="6513603" cy="102281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16C876-314A-4FC0-A218-4B37BE142CDF}">
      <dsp:nvSpPr>
        <dsp:cNvPr id="0" name=""/>
        <dsp:cNvSpPr/>
      </dsp:nvSpPr>
      <dsp:spPr>
        <a:xfrm>
          <a:off x="204506" y="5121386"/>
          <a:ext cx="372193" cy="37183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C7E28A-5B7D-460D-ABF0-B4202E005129}">
      <dsp:nvSpPr>
        <dsp:cNvPr id="0" name=""/>
        <dsp:cNvSpPr/>
      </dsp:nvSpPr>
      <dsp:spPr>
        <a:xfrm>
          <a:off x="781206" y="4969273"/>
          <a:ext cx="5708735" cy="718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021" tIns="76021" rIns="76021" bIns="76021" numCol="1" spcCol="1270" anchor="ctr" anchorCtr="0">
          <a:noAutofit/>
        </a:bodyPr>
        <a:lstStyle/>
        <a:p>
          <a:pPr marL="0" lvl="0" indent="0" algn="l" defTabSz="622300">
            <a:lnSpc>
              <a:spcPct val="90000"/>
            </a:lnSpc>
            <a:spcBef>
              <a:spcPct val="0"/>
            </a:spcBef>
            <a:spcAft>
              <a:spcPct val="35000"/>
            </a:spcAft>
            <a:buNone/>
          </a:pPr>
          <a:r>
            <a:rPr lang="en-US" sz="1400" kern="1200" dirty="0"/>
            <a:t>Training may be needed in cases to help supervisors identify individuals who may need assistance, to know how to approach these individuals, and to help foster an atmosphere of openness among their work groups without fear of repercussion for an employee.</a:t>
          </a:r>
        </a:p>
      </dsp:txBody>
      <dsp:txXfrm>
        <a:off x="781206" y="4969273"/>
        <a:ext cx="5708735" cy="7183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6-11T22:34:11.53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1 254,'968'0,"-945"-3,0 0,0-2,-1 0,1-1,-1-2,-1 0,0-2,0 0,0-1,1-3,122-51,-92 49,1 1,1 4,0 1,0 3,1 2,4 3,113-18,-143 13,1 2,1 1,-1 2,1 1,-1 1,1 1,11 4,-5 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6-11T22:34:14.2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91,'1494'0,"-1213"-78,-150 66,-94 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6-11T22:34:17.87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1 171,'3300'0,"-3000"-53,-123 22,1 7,1 9,63 6,135-29,-227 37,-108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6953D8CE-89AB-4B31-B64D-F8B00203A2AE}" type="datetimeFigureOut">
              <a:rPr lang="en-US" smtClean="0"/>
              <a:t>6/12/2019</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D34C1011-3EAA-4C0E-9FA3-2BCB9C188235}" type="slidenum">
              <a:rPr lang="en-US" smtClean="0"/>
              <a:t>‹#›</a:t>
            </a:fld>
            <a:endParaRPr lang="en-US" dirty="0"/>
          </a:p>
        </p:txBody>
      </p:sp>
    </p:spTree>
    <p:extLst>
      <p:ext uri="{BB962C8B-B14F-4D97-AF65-F5344CB8AC3E}">
        <p14:creationId xmlns:p14="http://schemas.microsoft.com/office/powerpoint/2010/main" val="796924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4C1011-3EAA-4C0E-9FA3-2BCB9C188235}" type="slidenum">
              <a:rPr lang="en-US" smtClean="0"/>
              <a:t>1</a:t>
            </a:fld>
            <a:endParaRPr lang="en-US" dirty="0"/>
          </a:p>
        </p:txBody>
      </p:sp>
    </p:spTree>
    <p:extLst>
      <p:ext uri="{BB962C8B-B14F-4D97-AF65-F5344CB8AC3E}">
        <p14:creationId xmlns:p14="http://schemas.microsoft.com/office/powerpoint/2010/main" val="1378485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8C8FDD-B734-469B-B28C-9A573C896C94}" type="slidenum">
              <a:rPr lang="en-US" smtClean="0"/>
              <a:t>2</a:t>
            </a:fld>
            <a:endParaRPr lang="en-US" dirty="0"/>
          </a:p>
        </p:txBody>
      </p:sp>
    </p:spTree>
    <p:extLst>
      <p:ext uri="{BB962C8B-B14F-4D97-AF65-F5344CB8AC3E}">
        <p14:creationId xmlns:p14="http://schemas.microsoft.com/office/powerpoint/2010/main" val="424877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4C1011-3EAA-4C0E-9FA3-2BCB9C188235}" type="slidenum">
              <a:rPr lang="en-US" smtClean="0"/>
              <a:t>3</a:t>
            </a:fld>
            <a:endParaRPr lang="en-US" dirty="0"/>
          </a:p>
        </p:txBody>
      </p:sp>
    </p:spTree>
    <p:extLst>
      <p:ext uri="{BB962C8B-B14F-4D97-AF65-F5344CB8AC3E}">
        <p14:creationId xmlns:p14="http://schemas.microsoft.com/office/powerpoint/2010/main" val="207299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4EC2-5CA7-4285-9D7A-656F924A3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7BF228-B264-4F72-9A2D-61A0F9DC51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007E14-B390-4219-A59F-D3A036C84104}"/>
              </a:ext>
            </a:extLst>
          </p:cNvPr>
          <p:cNvSpPr>
            <a:spLocks noGrp="1"/>
          </p:cNvSpPr>
          <p:nvPr>
            <p:ph type="dt" sz="half" idx="10"/>
          </p:nvPr>
        </p:nvSpPr>
        <p:spPr/>
        <p:txBody>
          <a:bodyPr/>
          <a:lstStyle/>
          <a:p>
            <a:fld id="{C59B0272-E55A-4DC1-A14B-57686F62E6BD}" type="datetimeFigureOut">
              <a:rPr lang="en-US" smtClean="0"/>
              <a:t>6/12/2019</a:t>
            </a:fld>
            <a:endParaRPr lang="en-US" dirty="0"/>
          </a:p>
        </p:txBody>
      </p:sp>
      <p:sp>
        <p:nvSpPr>
          <p:cNvPr id="5" name="Footer Placeholder 4">
            <a:extLst>
              <a:ext uri="{FF2B5EF4-FFF2-40B4-BE49-F238E27FC236}">
                <a16:creationId xmlns:a16="http://schemas.microsoft.com/office/drawing/2014/main" id="{D4ACC06D-E943-4AC1-8124-C82B5F8BAF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DF341D-7234-44BE-9323-9F33EB63595F}"/>
              </a:ext>
            </a:extLst>
          </p:cNvPr>
          <p:cNvSpPr>
            <a:spLocks noGrp="1"/>
          </p:cNvSpPr>
          <p:nvPr>
            <p:ph type="sldNum" sz="quarter" idx="12"/>
          </p:nvPr>
        </p:nvSpPr>
        <p:spPr/>
        <p:txBody>
          <a:bodyPr/>
          <a:lstStyle/>
          <a:p>
            <a:fld id="{808CD9DD-6E24-4BC9-AFE9-2EAD8EF8146E}" type="slidenum">
              <a:rPr lang="en-US" smtClean="0"/>
              <a:t>‹#›</a:t>
            </a:fld>
            <a:endParaRPr lang="en-US" dirty="0"/>
          </a:p>
        </p:txBody>
      </p:sp>
    </p:spTree>
    <p:extLst>
      <p:ext uri="{BB962C8B-B14F-4D97-AF65-F5344CB8AC3E}">
        <p14:creationId xmlns:p14="http://schemas.microsoft.com/office/powerpoint/2010/main" val="48258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DBFB6-8166-4F52-A44A-964DB5271603}"/>
              </a:ext>
            </a:extLst>
          </p:cNvPr>
          <p:cNvSpPr>
            <a:spLocks noGrp="1"/>
          </p:cNvSpPr>
          <p:nvPr>
            <p:ph type="title"/>
          </p:nvPr>
        </p:nvSpPr>
        <p:spPr>
          <a:xfrm>
            <a:off x="457200" y="51880"/>
            <a:ext cx="10896600" cy="668625"/>
          </a:xfrm>
        </p:spPr>
        <p:txBody>
          <a:bodyPr/>
          <a:lstStyle>
            <a:lvl1pPr>
              <a:defRPr>
                <a:solidFill>
                  <a:schemeClr val="bg1">
                    <a:lumMod val="65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9872892-115A-425C-9B67-F7DFADD2DF7D}"/>
              </a:ext>
            </a:extLst>
          </p:cNvPr>
          <p:cNvSpPr>
            <a:spLocks noGrp="1"/>
          </p:cNvSpPr>
          <p:nvPr>
            <p:ph idx="1"/>
          </p:nvPr>
        </p:nvSpPr>
        <p:spPr>
          <a:xfrm>
            <a:off x="457200" y="820367"/>
            <a:ext cx="10896600" cy="5601564"/>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46916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C81A6-A5E3-43BA-B080-269D62C3B7C1}"/>
              </a:ext>
            </a:extLst>
          </p:cNvPr>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2E6E3701-2414-4C8E-B710-A59568587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AF64B60-33C6-4191-9521-77B94B5B9187}"/>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5" name="Footer Placeholder 4">
            <a:extLst>
              <a:ext uri="{FF2B5EF4-FFF2-40B4-BE49-F238E27FC236}">
                <a16:creationId xmlns:a16="http://schemas.microsoft.com/office/drawing/2014/main" id="{290F2903-D41C-4322-8FC5-D7F4AD67D2E8}"/>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8EAC0365-388A-4CE5-ABCB-F530EC1F8FB8}"/>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12965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88A24-E618-4EC9-8F41-993F11765A71}"/>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FC758B9-A640-451A-94A3-6A0301413B37}"/>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E129F2-0FE3-407E-A981-6F62603CB8D9}"/>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03125C-0F95-4F4B-9756-76EDC575BC9E}"/>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6" name="Footer Placeholder 5">
            <a:extLst>
              <a:ext uri="{FF2B5EF4-FFF2-40B4-BE49-F238E27FC236}">
                <a16:creationId xmlns:a16="http://schemas.microsoft.com/office/drawing/2014/main" id="{ABFD324B-3696-4CEB-BFD3-BFD45FD841C6}"/>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CAE9B040-0795-43BF-99E4-BD9B12760A73}"/>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184783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44B2-C218-431F-A5F6-1706383B8A6A}"/>
              </a:ext>
            </a:extLst>
          </p:cNvPr>
          <p:cNvSpPr>
            <a:spLocks noGrp="1"/>
          </p:cNvSpPr>
          <p:nvPr>
            <p:ph type="title"/>
          </p:nvPr>
        </p:nvSpPr>
        <p:spPr>
          <a:xfrm>
            <a:off x="839788" y="365125"/>
            <a:ext cx="10515600" cy="1325563"/>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2CB06206-2BE7-4BC0-8775-34FB54C3AA05}"/>
              </a:ext>
            </a:extLst>
          </p:cNvPr>
          <p:cNvSpPr>
            <a:spLocks noGrp="1"/>
          </p:cNvSpPr>
          <p:nvPr>
            <p:ph type="body" idx="1"/>
          </p:nvPr>
        </p:nvSpPr>
        <p:spPr>
          <a:xfrm>
            <a:off x="839788" y="1681163"/>
            <a:ext cx="5157787"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9CCB55-28F6-46EF-B8C4-9D65FA6072F4}"/>
              </a:ext>
            </a:extLst>
          </p:cNvPr>
          <p:cNvSpPr>
            <a:spLocks noGrp="1"/>
          </p:cNvSpPr>
          <p:nvPr>
            <p:ph sz="half" idx="2"/>
          </p:nvPr>
        </p:nvSpPr>
        <p:spPr>
          <a:xfrm>
            <a:off x="839788" y="2505075"/>
            <a:ext cx="5157787"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996C90-EE37-4C0A-BBB2-20237657BE29}"/>
              </a:ext>
            </a:extLst>
          </p:cNvPr>
          <p:cNvSpPr>
            <a:spLocks noGrp="1"/>
          </p:cNvSpPr>
          <p:nvPr>
            <p:ph type="body" sz="quarter" idx="3"/>
          </p:nvPr>
        </p:nvSpPr>
        <p:spPr>
          <a:xfrm>
            <a:off x="6172200" y="1681163"/>
            <a:ext cx="5183188"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BB1379B-5394-4350-82FA-44C889891640}"/>
              </a:ext>
            </a:extLst>
          </p:cNvPr>
          <p:cNvSpPr>
            <a:spLocks noGrp="1"/>
          </p:cNvSpPr>
          <p:nvPr>
            <p:ph sz="quarter" idx="4"/>
          </p:nvPr>
        </p:nvSpPr>
        <p:spPr>
          <a:xfrm>
            <a:off x="6172200" y="2505075"/>
            <a:ext cx="5183188"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B5A873-419A-413F-A182-D2F71F4FE1D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8" name="Footer Placeholder 7">
            <a:extLst>
              <a:ext uri="{FF2B5EF4-FFF2-40B4-BE49-F238E27FC236}">
                <a16:creationId xmlns:a16="http://schemas.microsoft.com/office/drawing/2014/main" id="{61E1A484-1DAE-4CDA-91B2-86B7995D50D1}"/>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9" name="Slide Number Placeholder 8">
            <a:extLst>
              <a:ext uri="{FF2B5EF4-FFF2-40B4-BE49-F238E27FC236}">
                <a16:creationId xmlns:a16="http://schemas.microsoft.com/office/drawing/2014/main" id="{400AE610-A71E-4416-B9FE-DBBFB2BA89D1}"/>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453402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1713A-BF9A-4CE7-A0DC-6607F715E78C}"/>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Date Placeholder 2">
            <a:extLst>
              <a:ext uri="{FF2B5EF4-FFF2-40B4-BE49-F238E27FC236}">
                <a16:creationId xmlns:a16="http://schemas.microsoft.com/office/drawing/2014/main" id="{671047F5-DA48-4F6E-98AF-F11E845287D6}"/>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4" name="Footer Placeholder 3">
            <a:extLst>
              <a:ext uri="{FF2B5EF4-FFF2-40B4-BE49-F238E27FC236}">
                <a16:creationId xmlns:a16="http://schemas.microsoft.com/office/drawing/2014/main" id="{E389DE1F-CD8D-49BA-BF65-009EF507A0B8}"/>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5" name="Slide Number Placeholder 4">
            <a:extLst>
              <a:ext uri="{FF2B5EF4-FFF2-40B4-BE49-F238E27FC236}">
                <a16:creationId xmlns:a16="http://schemas.microsoft.com/office/drawing/2014/main" id="{C4B73E84-8CFB-4ADF-AA22-22FDBE62A65B}"/>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143702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4BBEE0-6A57-4D59-ADC5-F7EC23E8C71B}"/>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3" name="Footer Placeholder 2">
            <a:extLst>
              <a:ext uri="{FF2B5EF4-FFF2-40B4-BE49-F238E27FC236}">
                <a16:creationId xmlns:a16="http://schemas.microsoft.com/office/drawing/2014/main" id="{FA91C269-9206-417D-89C2-276FFC318689}"/>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4" name="Slide Number Placeholder 3">
            <a:extLst>
              <a:ext uri="{FF2B5EF4-FFF2-40B4-BE49-F238E27FC236}">
                <a16:creationId xmlns:a16="http://schemas.microsoft.com/office/drawing/2014/main" id="{6EE999EE-8294-4140-A9AD-8A5EFCC51191}"/>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241479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D8AD-68A5-4A86-BEB0-AB3FCE1526B7}"/>
              </a:ext>
            </a:extLst>
          </p:cNvPr>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29031BE-93C0-429E-B29F-8C50900213F5}"/>
              </a:ext>
            </a:extLst>
          </p:cNvPr>
          <p:cNvSpPr>
            <a:spLocks noGrp="1"/>
          </p:cNvSpPr>
          <p:nvPr>
            <p:ph idx="1"/>
          </p:nvPr>
        </p:nvSpPr>
        <p:spPr>
          <a:xfrm>
            <a:off x="5183188" y="987425"/>
            <a:ext cx="6172200" cy="4873625"/>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D4C71-0FCC-4E89-AB95-41F401307193}"/>
              </a:ext>
            </a:extLst>
          </p:cNvPr>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E27B41B-1694-4DF2-AEF6-2F31996CA79F}"/>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6" name="Footer Placeholder 5">
            <a:extLst>
              <a:ext uri="{FF2B5EF4-FFF2-40B4-BE49-F238E27FC236}">
                <a16:creationId xmlns:a16="http://schemas.microsoft.com/office/drawing/2014/main" id="{F8696A1A-42EF-472C-A7F8-6C9E4C2A039F}"/>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1666782F-9514-4F84-A9F1-D276870895B7}"/>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64272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069A-DAB5-4310-AF02-B8382506BFED}"/>
              </a:ext>
            </a:extLst>
          </p:cNvPr>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Picture Placeholder 2">
            <a:extLst>
              <a:ext uri="{FF2B5EF4-FFF2-40B4-BE49-F238E27FC236}">
                <a16:creationId xmlns:a16="http://schemas.microsoft.com/office/drawing/2014/main" id="{76273945-B275-44F2-94C2-82883DD1690E}"/>
              </a:ext>
            </a:extLst>
          </p:cNvPr>
          <p:cNvSpPr>
            <a:spLocks noGrp="1"/>
          </p:cNvSpPr>
          <p:nvPr>
            <p:ph type="pic" idx="1"/>
          </p:nvPr>
        </p:nvSpPr>
        <p:spPr>
          <a:xfrm>
            <a:off x="5183188" y="987425"/>
            <a:ext cx="6172200" cy="4873625"/>
          </a:xfrm>
        </p:spPr>
        <p:txBody>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F55B59B-EF91-4ACC-BFD6-EACF4B5EF48E}"/>
              </a:ext>
            </a:extLst>
          </p:cNvPr>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BFA464-AEBE-43CA-855E-4E30DAAA35B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6" name="Footer Placeholder 5">
            <a:extLst>
              <a:ext uri="{FF2B5EF4-FFF2-40B4-BE49-F238E27FC236}">
                <a16:creationId xmlns:a16="http://schemas.microsoft.com/office/drawing/2014/main" id="{D752FED8-36DF-4C31-BB33-83CF1B7DED17}"/>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0F81149B-F339-4CAF-8F80-FD7DA48D41E8}"/>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50084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86A-12AB-4EA3-ADC8-8F53826E2CC7}"/>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7472BC2F-0D37-4B48-A232-F222FD9DD0A0}"/>
              </a:ext>
            </a:extLst>
          </p:cNvPr>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0D126-475F-47FB-BA48-34DB2E8B0BD1}"/>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5" name="Footer Placeholder 4">
            <a:extLst>
              <a:ext uri="{FF2B5EF4-FFF2-40B4-BE49-F238E27FC236}">
                <a16:creationId xmlns:a16="http://schemas.microsoft.com/office/drawing/2014/main" id="{FF21173E-3ECD-4A34-958F-B6CA7257F514}"/>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60149A38-F11D-403D-9192-CF9DC42DCF15}"/>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12211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9DE6D2-5865-440A-A54E-B8B2A954BA09}"/>
              </a:ext>
            </a:extLst>
          </p:cNvPr>
          <p:cNvSpPr>
            <a:spLocks noGrp="1"/>
          </p:cNvSpPr>
          <p:nvPr>
            <p:ph type="title" orient="vert"/>
          </p:nvPr>
        </p:nvSpPr>
        <p:spPr>
          <a:xfrm>
            <a:off x="8724900" y="365125"/>
            <a:ext cx="2628900" cy="5811838"/>
          </a:xfrm>
        </p:spPr>
        <p:txBody>
          <a:bodyPr vert="eaVert"/>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8BC9EB99-2F9D-4FE9-BE3A-2594199BE25E}"/>
              </a:ext>
            </a:extLst>
          </p:cNvPr>
          <p:cNvSpPr>
            <a:spLocks noGrp="1"/>
          </p:cNvSpPr>
          <p:nvPr>
            <p:ph type="body" orient="vert" idx="1"/>
          </p:nvPr>
        </p:nvSpPr>
        <p:spPr>
          <a:xfrm>
            <a:off x="838200" y="365125"/>
            <a:ext cx="7734300" cy="5811838"/>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97DD1-0D91-4AD9-B0A1-DBAE0792FE4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6/12/2019</a:t>
            </a:fld>
            <a:endParaRPr lang="en-US" dirty="0"/>
          </a:p>
        </p:txBody>
      </p:sp>
      <p:sp>
        <p:nvSpPr>
          <p:cNvPr id="5" name="Footer Placeholder 4">
            <a:extLst>
              <a:ext uri="{FF2B5EF4-FFF2-40B4-BE49-F238E27FC236}">
                <a16:creationId xmlns:a16="http://schemas.microsoft.com/office/drawing/2014/main" id="{282BFF8F-726C-479C-AB05-F4F34AD1661D}"/>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C1532301-0B01-4502-A257-B5E0DF02A213}"/>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861209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BD98E9-9088-44F2-9D28-CD3AD9AF9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3CEFC5-6EEA-46B1-A651-EBC602615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4073A-6E18-46B7-8952-106A0F573B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9B0272-E55A-4DC1-A14B-57686F62E6BD}" type="datetimeFigureOut">
              <a:rPr lang="en-US" smtClean="0"/>
              <a:t>6/12/2019</a:t>
            </a:fld>
            <a:endParaRPr lang="en-US" dirty="0"/>
          </a:p>
        </p:txBody>
      </p:sp>
      <p:sp>
        <p:nvSpPr>
          <p:cNvPr id="5" name="Footer Placeholder 4">
            <a:extLst>
              <a:ext uri="{FF2B5EF4-FFF2-40B4-BE49-F238E27FC236}">
                <a16:creationId xmlns:a16="http://schemas.microsoft.com/office/drawing/2014/main" id="{6EE84328-0ABA-43C9-9928-2393AF588F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92D3BA5-920C-4478-A40D-7A3F10D8B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8CD9DD-6E24-4BC9-AFE9-2EAD8EF8146E}" type="slidenum">
              <a:rPr lang="en-US" smtClean="0"/>
              <a:t>‹#›</a:t>
            </a:fld>
            <a:endParaRPr lang="en-US" dirty="0"/>
          </a:p>
        </p:txBody>
      </p:sp>
    </p:spTree>
    <p:extLst>
      <p:ext uri="{BB962C8B-B14F-4D97-AF65-F5344CB8AC3E}">
        <p14:creationId xmlns:p14="http://schemas.microsoft.com/office/powerpoint/2010/main" val="1089364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journal.ahima.org/2019/02/01/february-201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69972"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1"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7121"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5">
            <a:extLst>
              <a:ext uri="{FF2B5EF4-FFF2-40B4-BE49-F238E27FC236}">
                <a16:creationId xmlns:a16="http://schemas.microsoft.com/office/drawing/2014/main" id="{1E4001C0-9F68-49BF-8839-034342C0D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8830" y="1530656"/>
            <a:ext cx="3940062" cy="4377846"/>
          </a:xfrm>
          <a:prstGeom prst="rect">
            <a:avLst/>
          </a:prstGeom>
        </p:spPr>
      </p:pic>
      <p:sp>
        <p:nvSpPr>
          <p:cNvPr id="2" name="Title 1">
            <a:extLst>
              <a:ext uri="{FF2B5EF4-FFF2-40B4-BE49-F238E27FC236}">
                <a16:creationId xmlns:a16="http://schemas.microsoft.com/office/drawing/2014/main" id="{05E64A52-A1E4-4FE9-A8A5-68273BB639A1}"/>
              </a:ext>
            </a:extLst>
          </p:cNvPr>
          <p:cNvSpPr>
            <a:spLocks noGrp="1"/>
          </p:cNvSpPr>
          <p:nvPr>
            <p:ph type="ctrTitle"/>
          </p:nvPr>
        </p:nvSpPr>
        <p:spPr>
          <a:xfrm>
            <a:off x="262836" y="274320"/>
            <a:ext cx="5244301" cy="4642237"/>
          </a:xfrm>
        </p:spPr>
        <p:txBody>
          <a:bodyPr vert="horz" lIns="91440" tIns="45720" rIns="91440" bIns="45720" rtlCol="0" anchor="ctr">
            <a:normAutofit/>
          </a:bodyPr>
          <a:lstStyle/>
          <a:p>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Using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Data Science to Understand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Mental Health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in the Workplace</a:t>
            </a:r>
            <a:br>
              <a:rPr lang="en-US" sz="4400" b="1" kern="1200" dirty="0">
                <a:solidFill>
                  <a:schemeClr val="tx1"/>
                </a:solidFill>
                <a:latin typeface="+mj-lt"/>
                <a:ea typeface="+mj-ea"/>
                <a:cs typeface="+mj-cs"/>
              </a:rPr>
            </a:br>
            <a:endParaRPr lang="en-US" sz="4400" b="1"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533108" y="3872285"/>
            <a:ext cx="4102502" cy="2552586"/>
          </a:xfrm>
        </p:spPr>
        <p:txBody>
          <a:bodyPr vert="horz" lIns="91440" tIns="45720" rIns="91440" bIns="45720" rtlCol="0">
            <a:normAutofit/>
          </a:bodyPr>
          <a:lstStyle/>
          <a:p>
            <a:pPr algn="l"/>
            <a:endParaRPr lang="en-US" sz="1600" dirty="0"/>
          </a:p>
          <a:p>
            <a:pPr algn="l"/>
            <a:endParaRPr lang="en-US" sz="1600" dirty="0"/>
          </a:p>
          <a:p>
            <a:pPr algn="l"/>
            <a:r>
              <a:rPr lang="en-US" sz="1600" dirty="0"/>
              <a:t>IST707</a:t>
            </a:r>
          </a:p>
          <a:p>
            <a:pPr algn="l"/>
            <a:r>
              <a:rPr lang="en-US" sz="1600" dirty="0"/>
              <a:t>Professor Ying Lin, Ph.D.</a:t>
            </a:r>
          </a:p>
          <a:p>
            <a:pPr algn="l"/>
            <a:r>
              <a:rPr lang="en-US" sz="1600" dirty="0"/>
              <a:t>Final Project</a:t>
            </a:r>
          </a:p>
          <a:p>
            <a:pPr algn="l"/>
            <a:r>
              <a:rPr lang="en-US" sz="1600" dirty="0"/>
              <a:t>Walyon Abernathy, </a:t>
            </a:r>
          </a:p>
          <a:p>
            <a:pPr algn="l"/>
            <a:r>
              <a:rPr lang="en-US" sz="1600" dirty="0"/>
              <a:t>Brian Hogan &amp; David Madsen</a:t>
            </a:r>
          </a:p>
          <a:p>
            <a:pPr algn="l"/>
            <a:endParaRPr lang="en-US" sz="1600" dirty="0"/>
          </a:p>
        </p:txBody>
      </p:sp>
    </p:spTree>
    <p:extLst>
      <p:ext uri="{BB962C8B-B14F-4D97-AF65-F5344CB8AC3E}">
        <p14:creationId xmlns:p14="http://schemas.microsoft.com/office/powerpoint/2010/main" val="2742062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E6BABE10-EA0D-46E1-8E94-775C6E659546}"/>
              </a:ext>
            </a:extLst>
          </p:cNvPr>
          <p:cNvSpPr/>
          <p:nvPr/>
        </p:nvSpPr>
        <p:spPr>
          <a:xfrm>
            <a:off x="217649" y="3434902"/>
            <a:ext cx="3795816" cy="2331720"/>
          </a:xfrm>
          <a:prstGeom prst="homePlat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6E522B5C-FBC0-4E69-9331-F9B59EBA6DDD}"/>
              </a:ext>
            </a:extLst>
          </p:cNvPr>
          <p:cNvSpPr>
            <a:spLocks noGrp="1"/>
          </p:cNvSpPr>
          <p:nvPr>
            <p:ph type="title"/>
          </p:nvPr>
        </p:nvSpPr>
        <p:spPr>
          <a:xfrm>
            <a:off x="966952" y="1204108"/>
            <a:ext cx="2669406" cy="1781175"/>
          </a:xfrm>
        </p:spPr>
        <p:txBody>
          <a:bodyPr vert="horz" lIns="91440" tIns="45720" rIns="91440" bIns="45720" rtlCol="0" anchor="ctr">
            <a:normAutofit/>
          </a:bodyPr>
          <a:lstStyle/>
          <a:p>
            <a:r>
              <a:rPr lang="en-US" sz="3000" kern="1200" dirty="0">
                <a:solidFill>
                  <a:srgbClr val="FFFFFF"/>
                </a:solidFill>
                <a:latin typeface="+mj-lt"/>
                <a:ea typeface="+mj-ea"/>
                <a:cs typeface="+mj-cs"/>
              </a:rPr>
              <a:t>Situation: Disclosing Mental Health in Workplace</a:t>
            </a:r>
          </a:p>
        </p:txBody>
      </p:sp>
      <p:sp>
        <p:nvSpPr>
          <p:cNvPr id="12" name="TextBox 11">
            <a:extLst>
              <a:ext uri="{FF2B5EF4-FFF2-40B4-BE49-F238E27FC236}">
                <a16:creationId xmlns:a16="http://schemas.microsoft.com/office/drawing/2014/main" id="{3012185A-3AE5-4B8C-94D7-44FB23F5981A}"/>
              </a:ext>
            </a:extLst>
          </p:cNvPr>
          <p:cNvSpPr txBox="1"/>
          <p:nvPr/>
        </p:nvSpPr>
        <p:spPr>
          <a:xfrm>
            <a:off x="0" y="6096000"/>
            <a:ext cx="10848402" cy="838200"/>
          </a:xfrm>
          <a:prstGeom prst="rect">
            <a:avLst/>
          </a:prstGeom>
        </p:spPr>
        <p:txBody>
          <a:bodyPr vert="horz" lIns="91440" tIns="45720" rIns="91440" bIns="45720" rtlCol="0">
            <a:normAutofit/>
          </a:bodyPr>
          <a:lstStyle/>
          <a:p>
            <a:pPr>
              <a:lnSpc>
                <a:spcPct val="90000"/>
              </a:lnSpc>
              <a:spcAft>
                <a:spcPts val="600"/>
              </a:spcAft>
            </a:pPr>
            <a:r>
              <a:rPr lang="en-US" sz="1200" dirty="0"/>
              <a:t>References:</a:t>
            </a:r>
          </a:p>
          <a:p>
            <a:pPr>
              <a:lnSpc>
                <a:spcPct val="90000"/>
              </a:lnSpc>
              <a:spcAft>
                <a:spcPts val="600"/>
              </a:spcAft>
            </a:pPr>
            <a:r>
              <a:rPr lang="en-US" sz="1200" dirty="0"/>
              <a:t>* Clark,L., Woeppel, J. (2019). Importance of Analytics in Mental Health. Journal of AHIMA. Retrieved from: </a:t>
            </a:r>
            <a:r>
              <a:rPr lang="en-US" sz="1200" dirty="0">
                <a:hlinkClick r:id="rId3"/>
              </a:rPr>
              <a:t>https://journal.ahima.org/2019/02/01/february-2019/</a:t>
            </a:r>
            <a:endParaRPr lang="en-US" sz="1200" dirty="0"/>
          </a:p>
          <a:p>
            <a:pPr>
              <a:lnSpc>
                <a:spcPct val="90000"/>
              </a:lnSpc>
              <a:spcAft>
                <a:spcPts val="600"/>
              </a:spcAft>
            </a:pPr>
            <a:r>
              <a:rPr lang="en-US" sz="1200" dirty="0"/>
              <a:t>**Kirch, B., Krupa, T., Luong, D. (2018). How do supervisors perceive and manage employee mental health issues in their workplaces? IOS. DOI 10.3233/WOR-182698</a:t>
            </a:r>
          </a:p>
        </p:txBody>
      </p:sp>
      <p:pic>
        <p:nvPicPr>
          <p:cNvPr id="6" name="Picture 5" descr="A close up of a logo&#10;&#10;Description automatically generated">
            <a:extLst>
              <a:ext uri="{FF2B5EF4-FFF2-40B4-BE49-F238E27FC236}">
                <a16:creationId xmlns:a16="http://schemas.microsoft.com/office/drawing/2014/main" id="{BA527F79-3B1D-4CF9-AFC4-42E0D48B9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64772" y="0"/>
            <a:ext cx="927228" cy="1030253"/>
          </a:xfrm>
          <a:prstGeom prst="rect">
            <a:avLst/>
          </a:prstGeom>
        </p:spPr>
      </p:pic>
      <p:graphicFrame>
        <p:nvGraphicFramePr>
          <p:cNvPr id="5" name="Table 4">
            <a:extLst>
              <a:ext uri="{FF2B5EF4-FFF2-40B4-BE49-F238E27FC236}">
                <a16:creationId xmlns:a16="http://schemas.microsoft.com/office/drawing/2014/main" id="{2B368A6B-2F12-4BF9-9DE3-91F208390789}"/>
              </a:ext>
            </a:extLst>
          </p:cNvPr>
          <p:cNvGraphicFramePr>
            <a:graphicFrameLocks noGrp="1"/>
          </p:cNvGraphicFramePr>
          <p:nvPr>
            <p:extLst>
              <p:ext uri="{D42A27DB-BD31-4B8C-83A1-F6EECF244321}">
                <p14:modId xmlns:p14="http://schemas.microsoft.com/office/powerpoint/2010/main" val="518186444"/>
              </p:ext>
            </p:extLst>
          </p:nvPr>
        </p:nvGraphicFramePr>
        <p:xfrm>
          <a:off x="4078982" y="103614"/>
          <a:ext cx="7204840" cy="6114306"/>
        </p:xfrm>
        <a:graphic>
          <a:graphicData uri="http://schemas.openxmlformats.org/drawingml/2006/table">
            <a:tbl>
              <a:tblPr firstRow="1" bandRow="1">
                <a:tableStyleId>{5C22544A-7EE6-4342-B048-85BDC9FD1C3A}</a:tableStyleId>
              </a:tblPr>
              <a:tblGrid>
                <a:gridCol w="7204840">
                  <a:extLst>
                    <a:ext uri="{9D8B030D-6E8A-4147-A177-3AD203B41FA5}">
                      <a16:colId xmlns:a16="http://schemas.microsoft.com/office/drawing/2014/main" val="2651675034"/>
                    </a:ext>
                  </a:extLst>
                </a:gridCol>
              </a:tblGrid>
              <a:tr h="1259160">
                <a:tc>
                  <a:txBody>
                    <a:bodyPr/>
                    <a:lstStyle/>
                    <a:p>
                      <a:pPr marL="0" indent="0"/>
                      <a:r>
                        <a:rPr lang="en-US" sz="1800" dirty="0"/>
                        <a:t>Approximately “one in five adults in the U.S., or 9.8 million people, experiences mental illness each year*. Data science may be useful to help policy planners, communities, and businesses better understand mental health issues, their perceptions, and perhaps how to approach their existence in the workplace differently.</a:t>
                      </a:r>
                    </a:p>
                  </a:txBody>
                  <a:tcPr marL="57725" marR="57725" marT="28863" marB="28863"/>
                </a:tc>
                <a:extLst>
                  <a:ext uri="{0D108BD9-81ED-4DB2-BD59-A6C34878D82A}">
                    <a16:rowId xmlns:a16="http://schemas.microsoft.com/office/drawing/2014/main" val="3386166074"/>
                  </a:ext>
                </a:extLst>
              </a:tr>
              <a:tr h="917931">
                <a:tc>
                  <a:txBody>
                    <a:bodyPr/>
                    <a:lstStyle/>
                    <a:p>
                      <a:pPr marL="0" indent="0" algn="l"/>
                      <a:r>
                        <a:rPr lang="en-US" sz="1800" kern="1200" dirty="0">
                          <a:solidFill>
                            <a:schemeClr val="dk1"/>
                          </a:solidFill>
                          <a:effectLst/>
                          <a:latin typeface="+mn-lt"/>
                          <a:ea typeface="+mn-ea"/>
                          <a:cs typeface="+mn-cs"/>
                        </a:rPr>
                        <a:t>Decisions about whether an individual will or will not disclose a mental health issue to an existing or potential employer are complex.</a:t>
                      </a:r>
                    </a:p>
                  </a:txBody>
                  <a:tcPr marL="57725" marR="57725" marT="28863" marB="28863" anchor="ctr"/>
                </a:tc>
                <a:extLst>
                  <a:ext uri="{0D108BD9-81ED-4DB2-BD59-A6C34878D82A}">
                    <a16:rowId xmlns:a16="http://schemas.microsoft.com/office/drawing/2014/main" val="2287526110"/>
                  </a:ext>
                </a:extLst>
              </a:tr>
              <a:tr h="11827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Known or perceived stigmas as associated with mental health disorders and both employees and employers are uncomfortable approaching this topic. </a:t>
                      </a:r>
                    </a:p>
                  </a:txBody>
                  <a:tcPr marL="57725" marR="57725" marT="28863" marB="28863" anchor="ctr"/>
                </a:tc>
                <a:extLst>
                  <a:ext uri="{0D108BD9-81ED-4DB2-BD59-A6C34878D82A}">
                    <a16:rowId xmlns:a16="http://schemas.microsoft.com/office/drawing/2014/main" val="1134501651"/>
                  </a:ext>
                </a:extLst>
              </a:tr>
              <a:tr h="1182717">
                <a:tc>
                  <a:txBody>
                    <a:bodyPr/>
                    <a:lstStyle/>
                    <a:p>
                      <a:pPr marL="0" indent="0" algn="l"/>
                      <a:endParaRPr lang="en-US" sz="1800" dirty="0"/>
                    </a:p>
                    <a:p>
                      <a:pPr marL="0" indent="0" algn="l"/>
                      <a:r>
                        <a:rPr lang="en-US" sz="1800" dirty="0"/>
                        <a:t>Supervisors may be in a gateway position to understand individuals with a condition while simultaneously being able to help a business environment be more supportive of mental health while encouraging both personal and business health (Kirsh, Krupa, &amp; Luong**). </a:t>
                      </a:r>
                    </a:p>
                    <a:p>
                      <a:pPr marL="0" indent="0" algn="l"/>
                      <a:endParaRPr lang="en-US" sz="1800" dirty="0"/>
                    </a:p>
                  </a:txBody>
                  <a:tcPr marL="57725" marR="57725" marT="28863" marB="28863" anchor="ctr"/>
                </a:tc>
                <a:extLst>
                  <a:ext uri="{0D108BD9-81ED-4DB2-BD59-A6C34878D82A}">
                    <a16:rowId xmlns:a16="http://schemas.microsoft.com/office/drawing/2014/main" val="739442833"/>
                  </a:ext>
                </a:extLst>
              </a:tr>
              <a:tr h="819330">
                <a:tc>
                  <a:txBody>
                    <a:bodyPr/>
                    <a:lstStyle/>
                    <a:p>
                      <a:pPr marL="0" indent="0" algn="l"/>
                      <a:r>
                        <a:rPr lang="en-US" sz="1800" dirty="0"/>
                        <a:t>“Employer interest in understanding and supporting workplace mental health is increasing worldwide…as prevalence rates reveal common mental health and substance abuse disorders affect at least 1 in 5 workers”**.</a:t>
                      </a:r>
                    </a:p>
                  </a:txBody>
                  <a:tcPr marL="57725" marR="57725" marT="28863" marB="28863" anchor="ctr"/>
                </a:tc>
                <a:extLst>
                  <a:ext uri="{0D108BD9-81ED-4DB2-BD59-A6C34878D82A}">
                    <a16:rowId xmlns:a16="http://schemas.microsoft.com/office/drawing/2014/main" val="2099819880"/>
                  </a:ext>
                </a:extLst>
              </a:tr>
            </a:tbl>
          </a:graphicData>
        </a:graphic>
      </p:graphicFrame>
      <p:sp>
        <p:nvSpPr>
          <p:cNvPr id="8" name="Title 1">
            <a:extLst>
              <a:ext uri="{FF2B5EF4-FFF2-40B4-BE49-F238E27FC236}">
                <a16:creationId xmlns:a16="http://schemas.microsoft.com/office/drawing/2014/main" id="{FAD7792F-C1D8-4F7E-8DC0-DB6AEA7CD911}"/>
              </a:ext>
            </a:extLst>
          </p:cNvPr>
          <p:cNvSpPr txBox="1">
            <a:spLocks/>
          </p:cNvSpPr>
          <p:nvPr/>
        </p:nvSpPr>
        <p:spPr>
          <a:xfrm>
            <a:off x="217649" y="3309564"/>
            <a:ext cx="3349713" cy="2601838"/>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bg1">
                    <a:lumMod val="65000"/>
                  </a:schemeClr>
                </a:solidFill>
                <a:latin typeface="Times New Roman" panose="02020603050405020304" pitchFamily="18" charset="0"/>
                <a:ea typeface="+mj-ea"/>
                <a:cs typeface="Times New Roman" panose="02020603050405020304" pitchFamily="18" charset="0"/>
              </a:defRPr>
            </a:lvl1pPr>
          </a:lstStyle>
          <a:p>
            <a:r>
              <a:rPr lang="en-US" sz="3200" dirty="0">
                <a:solidFill>
                  <a:srgbClr val="FF0000"/>
                </a:solidFill>
              </a:rPr>
              <a:t>Perhaps data analytics can encourage employers to look differently regarding employee </a:t>
            </a:r>
          </a:p>
          <a:p>
            <a:r>
              <a:rPr lang="en-US" sz="3200" dirty="0">
                <a:solidFill>
                  <a:srgbClr val="FF0000"/>
                </a:solidFill>
              </a:rPr>
              <a:t>mental health?</a:t>
            </a:r>
          </a:p>
        </p:txBody>
      </p:sp>
    </p:spTree>
    <p:extLst>
      <p:ext uri="{BB962C8B-B14F-4D97-AF65-F5344CB8AC3E}">
        <p14:creationId xmlns:p14="http://schemas.microsoft.com/office/powerpoint/2010/main" val="132230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446E-55E3-4614-897D-E3CE82073BDE}"/>
              </a:ext>
            </a:extLst>
          </p:cNvPr>
          <p:cNvSpPr>
            <a:spLocks noGrp="1"/>
          </p:cNvSpPr>
          <p:nvPr>
            <p:ph type="title"/>
          </p:nvPr>
        </p:nvSpPr>
        <p:spPr>
          <a:xfrm>
            <a:off x="213360" y="224284"/>
            <a:ext cx="11135912" cy="668625"/>
          </a:xfrm>
        </p:spPr>
        <p:txBody>
          <a:bodyPr>
            <a:normAutofit fontScale="90000"/>
          </a:bodyPr>
          <a:lstStyle/>
          <a:p>
            <a:r>
              <a:rPr lang="en-US" dirty="0"/>
              <a:t>Data &amp; Preprocessing: </a:t>
            </a:r>
            <a:r>
              <a:rPr lang="en-US" i="1" dirty="0">
                <a:solidFill>
                  <a:srgbClr val="00B0F0"/>
                </a:solidFill>
              </a:rPr>
              <a:t>Open Sourcing Mental Illness</a:t>
            </a:r>
          </a:p>
        </p:txBody>
      </p:sp>
      <p:sp>
        <p:nvSpPr>
          <p:cNvPr id="3" name="Content Placeholder 2">
            <a:extLst>
              <a:ext uri="{FF2B5EF4-FFF2-40B4-BE49-F238E27FC236}">
                <a16:creationId xmlns:a16="http://schemas.microsoft.com/office/drawing/2014/main" id="{CCD3961A-D3E2-44AB-962D-9ED2FB1B28D4}"/>
              </a:ext>
            </a:extLst>
          </p:cNvPr>
          <p:cNvSpPr>
            <a:spLocks noGrp="1"/>
          </p:cNvSpPr>
          <p:nvPr>
            <p:ph idx="1"/>
          </p:nvPr>
        </p:nvSpPr>
        <p:spPr>
          <a:xfrm>
            <a:off x="4743289" y="1075821"/>
            <a:ext cx="7174863" cy="2681512"/>
          </a:xfrm>
          <a:ln>
            <a:noFill/>
            <a:prstDash val="lgDashDotDot"/>
          </a:ln>
        </p:spPr>
        <p:txBody>
          <a:bodyPr>
            <a:normAutofit/>
          </a:bodyPr>
          <a:lstStyle/>
          <a:p>
            <a:pPr marL="0" indent="0">
              <a:buNone/>
            </a:pPr>
            <a:r>
              <a:rPr lang="en-US" sz="2400" dirty="0"/>
              <a:t>Significant attention was paid to NA categories across 56 data fields to maximize total available observations. This involved extensive programming around “self-employed,” and “text” fields transforming freeform data into discrete buckets. Location data included ‘country’ and ‘state’ (</a:t>
            </a:r>
            <a:r>
              <a:rPr lang="en-US" sz="2000" i="1" dirty="0"/>
              <a:t>for those living or working in the United States</a:t>
            </a:r>
            <a:r>
              <a:rPr lang="en-US" sz="2400" dirty="0"/>
              <a:t>). </a:t>
            </a:r>
          </a:p>
          <a:p>
            <a:endParaRPr lang="en-US" sz="2400" dirty="0"/>
          </a:p>
          <a:p>
            <a:pPr marL="0" indent="0">
              <a:buNone/>
            </a:pPr>
            <a:endParaRPr lang="en-US" sz="2400" dirty="0"/>
          </a:p>
        </p:txBody>
      </p:sp>
      <p:sp>
        <p:nvSpPr>
          <p:cNvPr id="18" name="Rectangle 17">
            <a:extLst>
              <a:ext uri="{FF2B5EF4-FFF2-40B4-BE49-F238E27FC236}">
                <a16:creationId xmlns:a16="http://schemas.microsoft.com/office/drawing/2014/main" id="{4788527F-2B63-4925-B7FC-9D368327C624}"/>
              </a:ext>
            </a:extLst>
          </p:cNvPr>
          <p:cNvSpPr/>
          <p:nvPr/>
        </p:nvSpPr>
        <p:spPr>
          <a:xfrm>
            <a:off x="16217" y="6362076"/>
            <a:ext cx="11901935" cy="523220"/>
          </a:xfrm>
          <a:prstGeom prst="rect">
            <a:avLst/>
          </a:prstGeom>
        </p:spPr>
        <p:txBody>
          <a:bodyPr wrap="square">
            <a:spAutoFit/>
          </a:bodyPr>
          <a:lstStyle/>
          <a:p>
            <a:r>
              <a:rPr lang="en-US" sz="1400" dirty="0">
                <a:solidFill>
                  <a:schemeClr val="accent1"/>
                </a:solidFill>
              </a:rPr>
              <a:t>Esther, K. Open Sourcing Mental Illness (OMSI). https://osmihelp.org. </a:t>
            </a:r>
          </a:p>
          <a:p>
            <a:r>
              <a:rPr lang="en-US" sz="1400" dirty="0">
                <a:solidFill>
                  <a:schemeClr val="accent1"/>
                </a:solidFill>
              </a:rPr>
              <a:t>Retrieved from: https://www.kaggle.com/osmi/mental-health-in-tech-2016/version/1#mental-heath-in-tech-2016_20161114.csv.</a:t>
            </a:r>
          </a:p>
        </p:txBody>
      </p:sp>
      <p:pic>
        <p:nvPicPr>
          <p:cNvPr id="6" name="Picture 5">
            <a:extLst>
              <a:ext uri="{FF2B5EF4-FFF2-40B4-BE49-F238E27FC236}">
                <a16:creationId xmlns:a16="http://schemas.microsoft.com/office/drawing/2014/main" id="{CB6C5869-C562-40CB-AC68-6E2AAC64B70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33163" y="1027754"/>
            <a:ext cx="4041788" cy="2684528"/>
          </a:xfrm>
          <a:prstGeom prst="rect">
            <a:avLst/>
          </a:prstGeom>
          <a:noFill/>
          <a:ln>
            <a:solidFill>
              <a:schemeClr val="tx1"/>
            </a:solidFill>
          </a:ln>
        </p:spPr>
      </p:pic>
      <p:pic>
        <p:nvPicPr>
          <p:cNvPr id="7" name="Picture 6">
            <a:extLst>
              <a:ext uri="{FF2B5EF4-FFF2-40B4-BE49-F238E27FC236}">
                <a16:creationId xmlns:a16="http://schemas.microsoft.com/office/drawing/2014/main" id="{17EEBADE-D294-48A0-8F54-7F38569B2A9C}"/>
              </a:ext>
            </a:extLst>
          </p:cNvPr>
          <p:cNvPicPr/>
          <p:nvPr/>
        </p:nvPicPr>
        <p:blipFill rotWithShape="1">
          <a:blip r:embed="rId4">
            <a:extLst>
              <a:ext uri="{28A0092B-C50C-407E-A947-70E740481C1C}">
                <a14:useLocalDpi xmlns:a14="http://schemas.microsoft.com/office/drawing/2010/main" val="0"/>
              </a:ext>
            </a:extLst>
          </a:blip>
          <a:srcRect t="3410"/>
          <a:stretch/>
        </p:blipFill>
        <p:spPr bwMode="auto">
          <a:xfrm>
            <a:off x="6910142" y="3570949"/>
            <a:ext cx="4899622" cy="2611743"/>
          </a:xfrm>
          <a:prstGeom prst="rect">
            <a:avLst/>
          </a:prstGeom>
          <a:noFill/>
          <a:ln>
            <a:noFill/>
          </a:ln>
          <a:extLst>
            <a:ext uri="{53640926-AAD7-44D8-BBD7-CCE9431645EC}">
              <a14:shadowObscured xmlns:a14="http://schemas.microsoft.com/office/drawing/2010/main"/>
            </a:ext>
          </a:extLst>
        </p:spPr>
      </p:pic>
      <p:sp>
        <p:nvSpPr>
          <p:cNvPr id="8" name="Text Box 2">
            <a:extLst>
              <a:ext uri="{FF2B5EF4-FFF2-40B4-BE49-F238E27FC236}">
                <a16:creationId xmlns:a16="http://schemas.microsoft.com/office/drawing/2014/main" id="{B230732C-AC36-4889-A46E-33F1B0EF0EE9}"/>
              </a:ext>
            </a:extLst>
          </p:cNvPr>
          <p:cNvSpPr txBox="1"/>
          <p:nvPr/>
        </p:nvSpPr>
        <p:spPr>
          <a:xfrm>
            <a:off x="6910142" y="6002605"/>
            <a:ext cx="2647741" cy="179853"/>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Majority of respondents in California</a:t>
            </a:r>
            <a:endParaRPr lang="en-US" sz="14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55F058A6-D952-4E00-9869-35B889E2B670}"/>
              </a:ext>
            </a:extLst>
          </p:cNvPr>
          <p:cNvSpPr txBox="1"/>
          <p:nvPr/>
        </p:nvSpPr>
        <p:spPr>
          <a:xfrm>
            <a:off x="330661" y="3757333"/>
            <a:ext cx="6457470" cy="2677656"/>
          </a:xfrm>
          <a:prstGeom prst="rect">
            <a:avLst/>
          </a:prstGeom>
          <a:noFill/>
        </p:spPr>
        <p:txBody>
          <a:bodyPr wrap="square" rtlCol="0">
            <a:spAutoFit/>
          </a:bodyPr>
          <a:lstStyle/>
          <a:p>
            <a:r>
              <a:rPr lang="en-US" sz="2400" dirty="0"/>
              <a:t>Although many respondents were specifically from California, feature extraction of ‘continent’ and ‘region’ were still possible to assist in adding significance to other areas. Of the model’s 70,217 available data points, 1,000s of cells were recaptured with the “preprocessing_program_2” removing NAs.</a:t>
            </a:r>
          </a:p>
        </p:txBody>
      </p:sp>
    </p:spTree>
    <p:extLst>
      <p:ext uri="{BB962C8B-B14F-4D97-AF65-F5344CB8AC3E}">
        <p14:creationId xmlns:p14="http://schemas.microsoft.com/office/powerpoint/2010/main" val="1287098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37B456-5A49-4030-9C9C-FD078B3657E5}"/>
              </a:ext>
            </a:extLst>
          </p:cNvPr>
          <p:cNvSpPr>
            <a:spLocks noGrp="1"/>
          </p:cNvSpPr>
          <p:nvPr>
            <p:ph type="title"/>
          </p:nvPr>
        </p:nvSpPr>
        <p:spPr>
          <a:xfrm>
            <a:off x="524256" y="4767072"/>
            <a:ext cx="6594189" cy="1625210"/>
          </a:xfrm>
        </p:spPr>
        <p:txBody>
          <a:bodyPr>
            <a:normAutofit/>
          </a:bodyPr>
          <a:lstStyle/>
          <a:p>
            <a:pPr algn="r"/>
            <a:r>
              <a:rPr lang="en-US" dirty="0">
                <a:solidFill>
                  <a:srgbClr val="FFFFFF"/>
                </a:solidFill>
              </a:rPr>
              <a:t>Random Forest Analysis</a:t>
            </a:r>
          </a:p>
        </p:txBody>
      </p:sp>
      <p:pic>
        <p:nvPicPr>
          <p:cNvPr id="4" name="Picture 8">
            <a:extLst>
              <a:ext uri="{FF2B5EF4-FFF2-40B4-BE49-F238E27FC236}">
                <a16:creationId xmlns:a16="http://schemas.microsoft.com/office/drawing/2014/main" id="{AE1E1E48-D7BC-401A-875C-7B15312295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4211"/>
          <a:stretch/>
        </p:blipFill>
        <p:spPr bwMode="auto">
          <a:xfrm>
            <a:off x="91440" y="100955"/>
            <a:ext cx="7526087" cy="437960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03600E2-E1F8-4C39-8634-4FECF0B73AC9}"/>
              </a:ext>
            </a:extLst>
          </p:cNvPr>
          <p:cNvSpPr>
            <a:spLocks noGrp="1"/>
          </p:cNvSpPr>
          <p:nvPr>
            <p:ph idx="1"/>
          </p:nvPr>
        </p:nvSpPr>
        <p:spPr>
          <a:xfrm>
            <a:off x="7616277" y="447170"/>
            <a:ext cx="4051467" cy="5945112"/>
          </a:xfrm>
        </p:spPr>
        <p:txBody>
          <a:bodyPr anchor="ctr">
            <a:normAutofit/>
          </a:bodyPr>
          <a:lstStyle/>
          <a:p>
            <a:pPr marL="0" indent="0">
              <a:buNone/>
            </a:pPr>
            <a:r>
              <a:rPr lang="en-US" sz="2200" dirty="0">
                <a:solidFill>
                  <a:srgbClr val="FFFFFF"/>
                </a:solidFill>
              </a:rPr>
              <a:t>Random Forest was run initially to build an understanding of significant variables to guide analysis work. Tree modeling revealed the overall significance of “</a:t>
            </a:r>
            <a:r>
              <a:rPr lang="en-US" sz="2200" i="1" dirty="0">
                <a:solidFill>
                  <a:srgbClr val="FFFFFF"/>
                </a:solidFill>
              </a:rPr>
              <a:t>mental health consequence”</a:t>
            </a:r>
            <a:r>
              <a:rPr lang="en-US" sz="2200" dirty="0">
                <a:solidFill>
                  <a:srgbClr val="FFFFFF"/>
                </a:solidFill>
              </a:rPr>
              <a:t> even though it was coded “yes, no and maybe.” This field guided the design for associative rule mining revealing age and gender, particularly “male”, as contributing to </a:t>
            </a:r>
            <a:r>
              <a:rPr lang="en-US" sz="2400" i="1" dirty="0">
                <a:solidFill>
                  <a:srgbClr val="FFFFFF"/>
                </a:solidFill>
              </a:rPr>
              <a:t>not</a:t>
            </a:r>
            <a:r>
              <a:rPr lang="en-US" sz="2200" dirty="0">
                <a:solidFill>
                  <a:srgbClr val="FFFFFF"/>
                </a:solidFill>
              </a:rPr>
              <a:t> disclosing MH issues. </a:t>
            </a:r>
          </a:p>
          <a:p>
            <a:pPr marL="0" indent="0">
              <a:buNone/>
            </a:pPr>
            <a:r>
              <a:rPr lang="en-US" sz="2200" dirty="0">
                <a:solidFill>
                  <a:srgbClr val="FFFFFF"/>
                </a:solidFill>
              </a:rPr>
              <a:t>Descriptive statistics (</a:t>
            </a:r>
            <a:r>
              <a:rPr lang="en-US" sz="2000" i="1" dirty="0">
                <a:solidFill>
                  <a:srgbClr val="FFFFFF"/>
                </a:solidFill>
              </a:rPr>
              <a:t>next</a:t>
            </a:r>
            <a:r>
              <a:rPr lang="en-US" sz="2200" dirty="0">
                <a:solidFill>
                  <a:srgbClr val="FFFFFF"/>
                </a:solidFill>
              </a:rPr>
              <a:t>) indicated “</a:t>
            </a:r>
            <a:r>
              <a:rPr lang="en-US" sz="2200" i="1" dirty="0">
                <a:solidFill>
                  <a:srgbClr val="FFFFFF"/>
                </a:solidFill>
              </a:rPr>
              <a:t>diagnosed</a:t>
            </a:r>
            <a:r>
              <a:rPr lang="en-US" sz="2200" dirty="0">
                <a:solidFill>
                  <a:srgbClr val="FFFFFF"/>
                </a:solidFill>
              </a:rPr>
              <a:t>” was more important for prediction and also helped focus analysis work.</a:t>
            </a:r>
          </a:p>
          <a:p>
            <a:pPr marL="0" indent="0">
              <a:buNone/>
            </a:pPr>
            <a:endParaRPr lang="en-US" sz="2200" dirty="0">
              <a:solidFill>
                <a:srgbClr val="FFFFFF"/>
              </a:solidFill>
            </a:endParaRPr>
          </a:p>
        </p:txBody>
      </p:sp>
      <p:sp>
        <p:nvSpPr>
          <p:cNvPr id="12" name="Star: 7 Points 11">
            <a:extLst>
              <a:ext uri="{FF2B5EF4-FFF2-40B4-BE49-F238E27FC236}">
                <a16:creationId xmlns:a16="http://schemas.microsoft.com/office/drawing/2014/main" id="{2391F9A0-8655-4C06-98C2-E8D7BD2C89E0}"/>
              </a:ext>
            </a:extLst>
          </p:cNvPr>
          <p:cNvSpPr/>
          <p:nvPr/>
        </p:nvSpPr>
        <p:spPr>
          <a:xfrm>
            <a:off x="6400301" y="1093501"/>
            <a:ext cx="388962" cy="382138"/>
          </a:xfrm>
          <a:prstGeom prst="star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tar: 7 Points 15">
            <a:extLst>
              <a:ext uri="{FF2B5EF4-FFF2-40B4-BE49-F238E27FC236}">
                <a16:creationId xmlns:a16="http://schemas.microsoft.com/office/drawing/2014/main" id="{8257F607-8A59-4032-8AE6-AB7743B3A3CE}"/>
              </a:ext>
            </a:extLst>
          </p:cNvPr>
          <p:cNvSpPr/>
          <p:nvPr/>
        </p:nvSpPr>
        <p:spPr>
          <a:xfrm>
            <a:off x="3324811" y="2961768"/>
            <a:ext cx="388962" cy="382138"/>
          </a:xfrm>
          <a:prstGeom prst="star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tar: 7 Points 16">
            <a:extLst>
              <a:ext uri="{FF2B5EF4-FFF2-40B4-BE49-F238E27FC236}">
                <a16:creationId xmlns:a16="http://schemas.microsoft.com/office/drawing/2014/main" id="{81D0E599-F013-4C1A-9D1E-77B61666DE29}"/>
              </a:ext>
            </a:extLst>
          </p:cNvPr>
          <p:cNvSpPr/>
          <p:nvPr/>
        </p:nvSpPr>
        <p:spPr>
          <a:xfrm>
            <a:off x="2438017" y="3343906"/>
            <a:ext cx="388962" cy="382138"/>
          </a:xfrm>
          <a:prstGeom prst="star7">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C89F463D-BB32-4EFB-B137-2CF8D386556B}"/>
                  </a:ext>
                </a:extLst>
              </p14:cNvPr>
              <p14:cNvContentPartPr/>
              <p14:nvPr/>
            </p14:nvContentPartPr>
            <p14:xfrm>
              <a:off x="350040" y="3351840"/>
              <a:ext cx="792000" cy="91440"/>
            </p14:xfrm>
          </p:contentPart>
        </mc:Choice>
        <mc:Fallback xmlns="">
          <p:pic>
            <p:nvPicPr>
              <p:cNvPr id="5" name="Ink 4">
                <a:extLst>
                  <a:ext uri="{FF2B5EF4-FFF2-40B4-BE49-F238E27FC236}">
                    <a16:creationId xmlns:a16="http://schemas.microsoft.com/office/drawing/2014/main" id="{C89F463D-BB32-4EFB-B137-2CF8D386556B}"/>
                  </a:ext>
                </a:extLst>
              </p:cNvPr>
              <p:cNvPicPr/>
              <p:nvPr/>
            </p:nvPicPr>
            <p:blipFill>
              <a:blip r:embed="rId4"/>
              <a:stretch>
                <a:fillRect/>
              </a:stretch>
            </p:blipFill>
            <p:spPr>
              <a:xfrm>
                <a:off x="296400" y="3244200"/>
                <a:ext cx="8996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DD506AEF-AC49-4152-A5CE-D92C0C578054}"/>
                  </a:ext>
                </a:extLst>
              </p14:cNvPr>
              <p14:cNvContentPartPr/>
              <p14:nvPr/>
            </p14:nvContentPartPr>
            <p14:xfrm>
              <a:off x="244200" y="2954400"/>
              <a:ext cx="699480" cy="32760"/>
            </p14:xfrm>
          </p:contentPart>
        </mc:Choice>
        <mc:Fallback xmlns="">
          <p:pic>
            <p:nvPicPr>
              <p:cNvPr id="6" name="Ink 5">
                <a:extLst>
                  <a:ext uri="{FF2B5EF4-FFF2-40B4-BE49-F238E27FC236}">
                    <a16:creationId xmlns:a16="http://schemas.microsoft.com/office/drawing/2014/main" id="{DD506AEF-AC49-4152-A5CE-D92C0C578054}"/>
                  </a:ext>
                </a:extLst>
              </p:cNvPr>
              <p:cNvPicPr/>
              <p:nvPr/>
            </p:nvPicPr>
            <p:blipFill>
              <a:blip r:embed="rId6"/>
              <a:stretch>
                <a:fillRect/>
              </a:stretch>
            </p:blipFill>
            <p:spPr>
              <a:xfrm>
                <a:off x="190200" y="2846400"/>
                <a:ext cx="8071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3C0AAD84-A53C-4119-9C5A-BDA6D4F4DEF0}"/>
                  </a:ext>
                </a:extLst>
              </p14:cNvPr>
              <p14:cNvContentPartPr/>
              <p14:nvPr/>
            </p14:nvContentPartPr>
            <p14:xfrm>
              <a:off x="350040" y="1005000"/>
              <a:ext cx="1780560" cy="61920"/>
            </p14:xfrm>
          </p:contentPart>
        </mc:Choice>
        <mc:Fallback xmlns="">
          <p:pic>
            <p:nvPicPr>
              <p:cNvPr id="7" name="Ink 6">
                <a:extLst>
                  <a:ext uri="{FF2B5EF4-FFF2-40B4-BE49-F238E27FC236}">
                    <a16:creationId xmlns:a16="http://schemas.microsoft.com/office/drawing/2014/main" id="{3C0AAD84-A53C-4119-9C5A-BDA6D4F4DEF0}"/>
                  </a:ext>
                </a:extLst>
              </p:cNvPr>
              <p:cNvPicPr/>
              <p:nvPr/>
            </p:nvPicPr>
            <p:blipFill>
              <a:blip r:embed="rId8"/>
              <a:stretch>
                <a:fillRect/>
              </a:stretch>
            </p:blipFill>
            <p:spPr>
              <a:xfrm>
                <a:off x="296400" y="897000"/>
                <a:ext cx="1888200" cy="277560"/>
              </a:xfrm>
              <a:prstGeom prst="rect">
                <a:avLst/>
              </a:prstGeom>
            </p:spPr>
          </p:pic>
        </mc:Fallback>
      </mc:AlternateContent>
    </p:spTree>
    <p:extLst>
      <p:ext uri="{BB962C8B-B14F-4D97-AF65-F5344CB8AC3E}">
        <p14:creationId xmlns:p14="http://schemas.microsoft.com/office/powerpoint/2010/main" val="73568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19">
            <a:extLst>
              <a:ext uri="{FF2B5EF4-FFF2-40B4-BE49-F238E27FC236}">
                <a16:creationId xmlns:a16="http://schemas.microsoft.com/office/drawing/2014/main" id="{DEE5C6BA-FE2A-4C38-8D88-E70C06E54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08905" y="3726"/>
            <a:ext cx="648309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53E66F28-0926-4CFB-BDAB-646CAB184C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B9C4446E-55E3-4614-897D-E3CE82073BDE}"/>
              </a:ext>
            </a:extLst>
          </p:cNvPr>
          <p:cNvSpPr>
            <a:spLocks noGrp="1"/>
          </p:cNvSpPr>
          <p:nvPr>
            <p:ph type="title"/>
          </p:nvPr>
        </p:nvSpPr>
        <p:spPr>
          <a:xfrm>
            <a:off x="0" y="18517"/>
            <a:ext cx="6128391" cy="1034950"/>
          </a:xfrm>
        </p:spPr>
        <p:txBody>
          <a:bodyPr vert="horz" lIns="91440" tIns="45720" rIns="91440" bIns="45720" rtlCol="0" anchor="ctr">
            <a:normAutofit fontScale="90000"/>
          </a:bodyPr>
          <a:lstStyle/>
          <a:p>
            <a:pPr algn="ctr"/>
            <a:r>
              <a:rPr lang="en-US" sz="2800" b="1" i="1" kern="1200" dirty="0">
                <a:solidFill>
                  <a:schemeClr val="bg1">
                    <a:lumMod val="50000"/>
                  </a:schemeClr>
                </a:solidFill>
                <a:latin typeface="+mj-lt"/>
                <a:ea typeface="+mj-ea"/>
                <a:cs typeface="+mj-cs"/>
              </a:rPr>
              <a:t>Descriptive statistics </a:t>
            </a:r>
            <a:r>
              <a:rPr lang="en-US" sz="2000" i="1" kern="1200" dirty="0">
                <a:solidFill>
                  <a:schemeClr val="bg1">
                    <a:lumMod val="50000"/>
                  </a:schemeClr>
                </a:solidFill>
                <a:latin typeface="+mj-lt"/>
                <a:ea typeface="+mj-ea"/>
                <a:cs typeface="+mj-cs"/>
              </a:rPr>
              <a:t>were important in assessing “our playing field” as data leans to ‘disclosing’ MH and most respondents either ‘have or may have’ a MH condition</a:t>
            </a:r>
          </a:p>
        </p:txBody>
      </p:sp>
      <p:sp>
        <p:nvSpPr>
          <p:cNvPr id="24" name="Freeform 60">
            <a:extLst>
              <a:ext uri="{FF2B5EF4-FFF2-40B4-BE49-F238E27FC236}">
                <a16:creationId xmlns:a16="http://schemas.microsoft.com/office/drawing/2014/main" id="{DE9FA85F-F0FB-4952-A05F-04CC67B18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3099" y="1"/>
            <a:ext cx="3960192" cy="2251543"/>
          </a:xfrm>
          <a:custGeom>
            <a:avLst/>
            <a:gdLst>
              <a:gd name="connsiteX0" fmla="*/ 20753 w 3960192"/>
              <a:gd name="connsiteY0" fmla="*/ 0 h 2251543"/>
              <a:gd name="connsiteX1" fmla="*/ 3939439 w 3960192"/>
              <a:gd name="connsiteY1" fmla="*/ 0 h 2251543"/>
              <a:gd name="connsiteX2" fmla="*/ 3949969 w 3960192"/>
              <a:gd name="connsiteY2" fmla="*/ 68994 h 2251543"/>
              <a:gd name="connsiteX3" fmla="*/ 3960192 w 3960192"/>
              <a:gd name="connsiteY3" fmla="*/ 271447 h 2251543"/>
              <a:gd name="connsiteX4" fmla="*/ 1980096 w 3960192"/>
              <a:gd name="connsiteY4" fmla="*/ 2251543 h 2251543"/>
              <a:gd name="connsiteX5" fmla="*/ 0 w 3960192"/>
              <a:gd name="connsiteY5" fmla="*/ 271447 h 2251543"/>
              <a:gd name="connsiteX6" fmla="*/ 10223 w 3960192"/>
              <a:gd name="connsiteY6" fmla="*/ 68994 h 225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0192" h="2251543">
                <a:moveTo>
                  <a:pt x="20753" y="0"/>
                </a:moveTo>
                <a:lnTo>
                  <a:pt x="3939439" y="0"/>
                </a:lnTo>
                <a:lnTo>
                  <a:pt x="3949969" y="68994"/>
                </a:lnTo>
                <a:cubicBezTo>
                  <a:pt x="3956729" y="135559"/>
                  <a:pt x="3960192" y="203099"/>
                  <a:pt x="3960192" y="271447"/>
                </a:cubicBezTo>
                <a:cubicBezTo>
                  <a:pt x="3960192" y="1365024"/>
                  <a:pt x="3073673" y="2251543"/>
                  <a:pt x="1980096" y="2251543"/>
                </a:cubicBezTo>
                <a:cubicBezTo>
                  <a:pt x="886519" y="2251543"/>
                  <a:pt x="0" y="1365024"/>
                  <a:pt x="0" y="271447"/>
                </a:cubicBezTo>
                <a:cubicBezTo>
                  <a:pt x="0" y="203099"/>
                  <a:pt x="3463" y="135559"/>
                  <a:pt x="10223" y="68994"/>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 name="Picture 2">
            <a:extLst>
              <a:ext uri="{FF2B5EF4-FFF2-40B4-BE49-F238E27FC236}">
                <a16:creationId xmlns:a16="http://schemas.microsoft.com/office/drawing/2014/main" id="{9262087F-1EDF-41D5-B943-198CB3FDEB24}"/>
              </a:ext>
            </a:extLst>
          </p:cNvPr>
          <p:cNvPicPr>
            <a:picLocks noChangeAspect="1"/>
          </p:cNvPicPr>
          <p:nvPr/>
        </p:nvPicPr>
        <p:blipFill rotWithShape="1">
          <a:blip r:embed="rId3">
            <a:alphaModFix/>
          </a:blip>
          <a:srcRect l="4509" r="3" b="3"/>
          <a:stretch/>
        </p:blipFill>
        <p:spPr>
          <a:xfrm>
            <a:off x="6632714" y="1"/>
            <a:ext cx="3674754" cy="2106932"/>
          </a:xfrm>
          <a:custGeom>
            <a:avLst/>
            <a:gdLst>
              <a:gd name="connsiteX0" fmla="*/ 21954 w 3674754"/>
              <a:gd name="connsiteY0" fmla="*/ 0 h 2106932"/>
              <a:gd name="connsiteX1" fmla="*/ 3652800 w 3674754"/>
              <a:gd name="connsiteY1" fmla="*/ 0 h 2106932"/>
              <a:gd name="connsiteX2" fmla="*/ 3665268 w 3674754"/>
              <a:gd name="connsiteY2" fmla="*/ 81694 h 2106932"/>
              <a:gd name="connsiteX3" fmla="*/ 3674754 w 3674754"/>
              <a:gd name="connsiteY3" fmla="*/ 269555 h 2106932"/>
              <a:gd name="connsiteX4" fmla="*/ 1837377 w 3674754"/>
              <a:gd name="connsiteY4" fmla="*/ 2106932 h 2106932"/>
              <a:gd name="connsiteX5" fmla="*/ 0 w 3674754"/>
              <a:gd name="connsiteY5" fmla="*/ 269555 h 2106932"/>
              <a:gd name="connsiteX6" fmla="*/ 9486 w 3674754"/>
              <a:gd name="connsiteY6" fmla="*/ 81694 h 2106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74754" h="2106932">
                <a:moveTo>
                  <a:pt x="21954" y="0"/>
                </a:moveTo>
                <a:lnTo>
                  <a:pt x="3652800" y="0"/>
                </a:lnTo>
                <a:lnTo>
                  <a:pt x="3665268" y="81694"/>
                </a:lnTo>
                <a:cubicBezTo>
                  <a:pt x="3671541" y="143461"/>
                  <a:pt x="3674754" y="206133"/>
                  <a:pt x="3674754" y="269555"/>
                </a:cubicBezTo>
                <a:cubicBezTo>
                  <a:pt x="3674754" y="1284311"/>
                  <a:pt x="2852132" y="2106932"/>
                  <a:pt x="1837377" y="2106932"/>
                </a:cubicBezTo>
                <a:cubicBezTo>
                  <a:pt x="822622" y="2106932"/>
                  <a:pt x="0" y="1284311"/>
                  <a:pt x="0" y="269555"/>
                </a:cubicBezTo>
                <a:cubicBezTo>
                  <a:pt x="0" y="206133"/>
                  <a:pt x="3214" y="143461"/>
                  <a:pt x="9486" y="81694"/>
                </a:cubicBezTo>
                <a:close/>
              </a:path>
            </a:pathLst>
          </a:custGeom>
          <a:effectLst>
            <a:softEdge rad="0"/>
          </a:effectLst>
        </p:spPr>
      </p:pic>
      <p:sp>
        <p:nvSpPr>
          <p:cNvPr id="15" name="Content Placeholder 2">
            <a:extLst>
              <a:ext uri="{FF2B5EF4-FFF2-40B4-BE49-F238E27FC236}">
                <a16:creationId xmlns:a16="http://schemas.microsoft.com/office/drawing/2014/main" id="{81CDC54F-FA77-4346-B32B-AAB9D713C960}"/>
              </a:ext>
            </a:extLst>
          </p:cNvPr>
          <p:cNvSpPr txBox="1">
            <a:spLocks/>
          </p:cNvSpPr>
          <p:nvPr/>
        </p:nvSpPr>
        <p:spPr>
          <a:xfrm>
            <a:off x="175200" y="1053467"/>
            <a:ext cx="6914273" cy="55720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i="1" dirty="0"/>
              <a:t>Experiences of Negativity in Workplace…</a:t>
            </a:r>
          </a:p>
          <a:p>
            <a:pPr lvl="1"/>
            <a:r>
              <a:rPr lang="en-US" sz="2200" dirty="0"/>
              <a:t>(maybe &amp; yes= 777) &amp; (no = 567) of respondents</a:t>
            </a:r>
          </a:p>
          <a:p>
            <a:pPr lvl="1">
              <a:buFont typeface="Wingdings" panose="05000000000000000000" pitchFamily="2" charset="2"/>
              <a:buChar char="Ø"/>
            </a:pPr>
            <a:r>
              <a:rPr lang="en-US" sz="2200" dirty="0"/>
              <a:t> MH is cast in a negative light in the workplace</a:t>
            </a:r>
          </a:p>
          <a:p>
            <a:r>
              <a:rPr lang="en-US" sz="2400" i="1" dirty="0">
                <a:solidFill>
                  <a:srgbClr val="000000"/>
                </a:solidFill>
                <a:latin typeface="+mn-lt"/>
                <a:cs typeface="+mn-cs"/>
              </a:rPr>
              <a:t>Fear of Discussing Mental Health due to Negative Career Impacts…</a:t>
            </a:r>
          </a:p>
          <a:p>
            <a:pPr lvl="1">
              <a:buFont typeface="Wingdings" panose="05000000000000000000" pitchFamily="2" charset="2"/>
              <a:buChar char="Ø"/>
            </a:pPr>
            <a:r>
              <a:rPr lang="en-US" sz="1800" dirty="0">
                <a:solidFill>
                  <a:srgbClr val="000000"/>
                </a:solidFill>
                <a:latin typeface="+mn-lt"/>
                <a:cs typeface="+mn-cs"/>
              </a:rPr>
              <a:t>Displays heavy weight of </a:t>
            </a:r>
            <a:r>
              <a:rPr lang="en-US" sz="1800" i="1" dirty="0">
                <a:solidFill>
                  <a:srgbClr val="000000"/>
                </a:solidFill>
                <a:highlight>
                  <a:srgbClr val="EBEBEB"/>
                </a:highlight>
                <a:latin typeface="+mn-lt"/>
                <a:cs typeface="+mn-cs"/>
              </a:rPr>
              <a:t>mental health stigma </a:t>
            </a:r>
            <a:r>
              <a:rPr lang="en-US" sz="1800" dirty="0">
                <a:solidFill>
                  <a:srgbClr val="000000"/>
                </a:solidFill>
                <a:latin typeface="+mn-lt"/>
                <a:cs typeface="+mn-cs"/>
              </a:rPr>
              <a:t>within workplace</a:t>
            </a:r>
          </a:p>
          <a:p>
            <a:r>
              <a:rPr lang="en-US" sz="2600" i="1" dirty="0"/>
              <a:t>Perceived Amount of Time Mental Health issue effects Job Performance</a:t>
            </a:r>
            <a:r>
              <a:rPr lang="en-US" sz="2600" dirty="0"/>
              <a:t>…              </a:t>
            </a:r>
          </a:p>
          <a:p>
            <a:pPr lvl="1">
              <a:buFont typeface="Wingdings" panose="05000000000000000000" pitchFamily="2" charset="2"/>
              <a:buChar char="Ø"/>
            </a:pPr>
            <a:r>
              <a:rPr lang="en-US" sz="2200" dirty="0"/>
              <a:t> Reveals impact of MH effects on performance; stresses the need for businesses to take proactive approach towards state of employee’s mental health</a:t>
            </a:r>
          </a:p>
          <a:p>
            <a:r>
              <a:rPr lang="en-US" sz="2400" i="1" dirty="0">
                <a:solidFill>
                  <a:srgbClr val="000000"/>
                </a:solidFill>
                <a:latin typeface="+mn-lt"/>
                <a:cs typeface="+mn-cs"/>
              </a:rPr>
              <a:t>Current Mental Disorder Distribution…</a:t>
            </a:r>
          </a:p>
          <a:p>
            <a:pPr lvl="1">
              <a:buFont typeface="Wingdings" panose="05000000000000000000" pitchFamily="2" charset="2"/>
              <a:buChar char="Ø"/>
            </a:pPr>
            <a:r>
              <a:rPr lang="en-US" sz="2000" dirty="0">
                <a:solidFill>
                  <a:srgbClr val="000000"/>
                </a:solidFill>
                <a:latin typeface="+mn-lt"/>
                <a:cs typeface="+mn-cs"/>
              </a:rPr>
              <a:t> The data set has a leaning towards “</a:t>
            </a:r>
            <a:r>
              <a:rPr lang="en-US" sz="2000" i="1" dirty="0">
                <a:solidFill>
                  <a:srgbClr val="000000"/>
                </a:solidFill>
                <a:latin typeface="+mn-lt"/>
                <a:cs typeface="+mn-cs"/>
              </a:rPr>
              <a:t>not</a:t>
            </a:r>
            <a:r>
              <a:rPr lang="en-US" sz="2000" dirty="0">
                <a:solidFill>
                  <a:srgbClr val="000000"/>
                </a:solidFill>
                <a:latin typeface="+mn-lt"/>
                <a:cs typeface="+mn-cs"/>
              </a:rPr>
              <a:t>” disclosing MH however most respondents either have or may have a MH issue</a:t>
            </a:r>
          </a:p>
          <a:p>
            <a:endParaRPr lang="en-US" sz="2000" dirty="0">
              <a:solidFill>
                <a:srgbClr val="000000"/>
              </a:solidFill>
              <a:latin typeface="+mn-lt"/>
              <a:cs typeface="+mn-cs"/>
            </a:endParaRPr>
          </a:p>
          <a:p>
            <a:endParaRPr lang="en-US" sz="2000" dirty="0">
              <a:solidFill>
                <a:srgbClr val="000000"/>
              </a:solidFill>
              <a:latin typeface="+mn-lt"/>
              <a:cs typeface="+mn-cs"/>
            </a:endParaRPr>
          </a:p>
        </p:txBody>
      </p:sp>
      <p:sp>
        <p:nvSpPr>
          <p:cNvPr id="26" name="Freeform 68">
            <a:extLst>
              <a:ext uri="{FF2B5EF4-FFF2-40B4-BE49-F238E27FC236}">
                <a16:creationId xmlns:a16="http://schemas.microsoft.com/office/drawing/2014/main" id="{FEBD362A-CC27-47D9-8FC3-A5E91BA0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5296" y="2922177"/>
            <a:ext cx="4956705" cy="3945299"/>
          </a:xfrm>
          <a:custGeom>
            <a:avLst/>
            <a:gdLst>
              <a:gd name="connsiteX0" fmla="*/ 2718646 w 4956705"/>
              <a:gd name="connsiteY0" fmla="*/ 0 h 3945299"/>
              <a:gd name="connsiteX1" fmla="*/ 4816486 w 4956705"/>
              <a:gd name="connsiteY1" fmla="*/ 989335 h 3945299"/>
              <a:gd name="connsiteX2" fmla="*/ 4956705 w 4956705"/>
              <a:gd name="connsiteY2" fmla="*/ 1176848 h 3945299"/>
              <a:gd name="connsiteX3" fmla="*/ 4956705 w 4956705"/>
              <a:gd name="connsiteY3" fmla="*/ 3945299 h 3945299"/>
              <a:gd name="connsiteX4" fmla="*/ 294783 w 4956705"/>
              <a:gd name="connsiteY4" fmla="*/ 3945299 h 3945299"/>
              <a:gd name="connsiteX5" fmla="*/ 213645 w 4956705"/>
              <a:gd name="connsiteY5" fmla="*/ 3776866 h 3945299"/>
              <a:gd name="connsiteX6" fmla="*/ 0 w 4956705"/>
              <a:gd name="connsiteY6" fmla="*/ 2718646 h 3945299"/>
              <a:gd name="connsiteX7" fmla="*/ 2718646 w 4956705"/>
              <a:gd name="connsiteY7" fmla="*/ 0 h 3945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6705" h="3945299">
                <a:moveTo>
                  <a:pt x="2718646" y="0"/>
                </a:moveTo>
                <a:cubicBezTo>
                  <a:pt x="3563221" y="0"/>
                  <a:pt x="4317846" y="385123"/>
                  <a:pt x="4816486" y="989335"/>
                </a:cubicBezTo>
                <a:lnTo>
                  <a:pt x="4956705" y="1176848"/>
                </a:lnTo>
                <a:lnTo>
                  <a:pt x="4956705" y="3945299"/>
                </a:lnTo>
                <a:lnTo>
                  <a:pt x="294783" y="3945299"/>
                </a:lnTo>
                <a:lnTo>
                  <a:pt x="213645" y="3776866"/>
                </a:lnTo>
                <a:cubicBezTo>
                  <a:pt x="76074" y="3451612"/>
                  <a:pt x="0" y="3094013"/>
                  <a:pt x="0" y="2718646"/>
                </a:cubicBezTo>
                <a:cubicBezTo>
                  <a:pt x="0" y="1217179"/>
                  <a:pt x="1217179" y="0"/>
                  <a:pt x="271864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a:extLst>
              <a:ext uri="{FF2B5EF4-FFF2-40B4-BE49-F238E27FC236}">
                <a16:creationId xmlns:a16="http://schemas.microsoft.com/office/drawing/2014/main" id="{997FBE8D-31DE-49E7-850A-CB368B134D62}"/>
              </a:ext>
            </a:extLst>
          </p:cNvPr>
          <p:cNvPicPr>
            <a:picLocks noChangeAspect="1"/>
          </p:cNvPicPr>
          <p:nvPr/>
        </p:nvPicPr>
        <p:blipFill rotWithShape="1">
          <a:blip r:embed="rId4">
            <a:alphaModFix/>
          </a:blip>
          <a:srcRect r="5574" b="1"/>
          <a:stretch/>
        </p:blipFill>
        <p:spPr>
          <a:xfrm>
            <a:off x="7399326" y="3086207"/>
            <a:ext cx="4792674" cy="3781268"/>
          </a:xfrm>
          <a:custGeom>
            <a:avLst/>
            <a:gdLst>
              <a:gd name="connsiteX0" fmla="*/ 2554615 w 4792674"/>
              <a:gd name="connsiteY0" fmla="*/ 0 h 3781268"/>
              <a:gd name="connsiteX1" fmla="*/ 4672942 w 4792674"/>
              <a:gd name="connsiteY1" fmla="*/ 1126306 h 3781268"/>
              <a:gd name="connsiteX2" fmla="*/ 4792674 w 4792674"/>
              <a:gd name="connsiteY2" fmla="*/ 1323391 h 3781268"/>
              <a:gd name="connsiteX3" fmla="*/ 4792674 w 4792674"/>
              <a:gd name="connsiteY3" fmla="*/ 3781268 h 3781268"/>
              <a:gd name="connsiteX4" fmla="*/ 313779 w 4792674"/>
              <a:gd name="connsiteY4" fmla="*/ 3781268 h 3781268"/>
              <a:gd name="connsiteX5" fmla="*/ 308328 w 4792674"/>
              <a:gd name="connsiteY5" fmla="*/ 3772297 h 3781268"/>
              <a:gd name="connsiteX6" fmla="*/ 0 w 4792674"/>
              <a:gd name="connsiteY6" fmla="*/ 2554615 h 3781268"/>
              <a:gd name="connsiteX7" fmla="*/ 2554615 w 4792674"/>
              <a:gd name="connsiteY7" fmla="*/ 0 h 378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2674" h="3781268">
                <a:moveTo>
                  <a:pt x="2554615" y="0"/>
                </a:moveTo>
                <a:cubicBezTo>
                  <a:pt x="3436412" y="0"/>
                  <a:pt x="4213859" y="446774"/>
                  <a:pt x="4672942" y="1126306"/>
                </a:cubicBezTo>
                <a:lnTo>
                  <a:pt x="4792674" y="1323391"/>
                </a:lnTo>
                <a:lnTo>
                  <a:pt x="4792674" y="3781268"/>
                </a:lnTo>
                <a:lnTo>
                  <a:pt x="313779" y="3781268"/>
                </a:lnTo>
                <a:lnTo>
                  <a:pt x="308328" y="3772297"/>
                </a:lnTo>
                <a:cubicBezTo>
                  <a:pt x="111694" y="3410325"/>
                  <a:pt x="0" y="2995514"/>
                  <a:pt x="0" y="2554615"/>
                </a:cubicBezTo>
                <a:cubicBezTo>
                  <a:pt x="0" y="1143740"/>
                  <a:pt x="1143740" y="0"/>
                  <a:pt x="2554615" y="0"/>
                </a:cubicBezTo>
                <a:close/>
              </a:path>
            </a:pathLst>
          </a:custGeom>
          <a:effectLst>
            <a:softEdge rad="0"/>
          </a:effectLst>
        </p:spPr>
      </p:pic>
    </p:spTree>
    <p:extLst>
      <p:ext uri="{BB962C8B-B14F-4D97-AF65-F5344CB8AC3E}">
        <p14:creationId xmlns:p14="http://schemas.microsoft.com/office/powerpoint/2010/main" val="4063981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5">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4446E-55E3-4614-897D-E3CE82073BDE}"/>
              </a:ext>
            </a:extLst>
          </p:cNvPr>
          <p:cNvSpPr>
            <a:spLocks noGrp="1"/>
          </p:cNvSpPr>
          <p:nvPr>
            <p:ph type="title"/>
          </p:nvPr>
        </p:nvSpPr>
        <p:spPr>
          <a:xfrm>
            <a:off x="0" y="640080"/>
            <a:ext cx="4059935" cy="5613236"/>
          </a:xfrm>
          <a:prstGeom prst="ellipse">
            <a:avLst/>
          </a:prstGeom>
        </p:spPr>
        <p:txBody>
          <a:bodyPr vert="horz" lIns="91440" tIns="45720" rIns="91440" bIns="45720" rtlCol="0" anchor="ctr">
            <a:normAutofit/>
          </a:bodyPr>
          <a:lstStyle/>
          <a:p>
            <a:pPr algn="ctr"/>
            <a:r>
              <a:rPr lang="en-US" b="1" kern="1200" dirty="0">
                <a:solidFill>
                  <a:srgbClr val="FFFFFF"/>
                </a:solidFill>
                <a:latin typeface="+mj-lt"/>
                <a:ea typeface="+mj-ea"/>
                <a:cs typeface="+mj-cs"/>
              </a:rPr>
              <a:t>Association Rules Analysis</a:t>
            </a:r>
          </a:p>
        </p:txBody>
      </p:sp>
      <p:sp>
        <p:nvSpPr>
          <p:cNvPr id="15" name="Content Placeholder 2">
            <a:extLst>
              <a:ext uri="{FF2B5EF4-FFF2-40B4-BE49-F238E27FC236}">
                <a16:creationId xmlns:a16="http://schemas.microsoft.com/office/drawing/2014/main" id="{81CDC54F-FA77-4346-B32B-AAB9D713C960}"/>
              </a:ext>
            </a:extLst>
          </p:cNvPr>
          <p:cNvSpPr txBox="1">
            <a:spLocks/>
          </p:cNvSpPr>
          <p:nvPr/>
        </p:nvSpPr>
        <p:spPr>
          <a:xfrm>
            <a:off x="4302156" y="-222784"/>
            <a:ext cx="7659822" cy="389562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n-lt"/>
                <a:cs typeface="+mn-cs"/>
              </a:rPr>
              <a:t>Respondents are going to keep MH issues to themselves if they don’t believe their anonymity is protected. AR rules help indicate a business may witness a negative consequence in the workplace. </a:t>
            </a:r>
          </a:p>
          <a:p>
            <a:r>
              <a:rPr lang="en-US" sz="1800" dirty="0">
                <a:latin typeface="+mn-lt"/>
                <a:cs typeface="+mn-cs"/>
              </a:rPr>
              <a:t>AR mining indicates not having wellness programs, believing MH disclosure would hurt their career, and keeping MH disclosure from coworkers validates a lack of MH communication will be present with a direct supervisor. </a:t>
            </a:r>
          </a:p>
          <a:p>
            <a:pPr lvl="1">
              <a:buFont typeface="Wingdings" panose="05000000000000000000" pitchFamily="2" charset="2"/>
              <a:buChar char="Ø"/>
            </a:pPr>
            <a:r>
              <a:rPr lang="en-US" sz="1800" dirty="0">
                <a:latin typeface="+mn-lt"/>
                <a:cs typeface="+mn-cs"/>
              </a:rPr>
              <a:t>This data confirms the supervisor’s position and ability to both positively and negatively influence MH issues in a business environment.</a:t>
            </a:r>
          </a:p>
          <a:p>
            <a:r>
              <a:rPr lang="en-US" sz="1800" dirty="0">
                <a:latin typeface="+mn-lt"/>
                <a:cs typeface="+mn-cs"/>
              </a:rPr>
              <a:t>Respondents don’t trust MH anonymity in workplace and believe negative consequences result. The following finds negative responses towards MH leaving respondents cautious of disclosure.</a:t>
            </a:r>
          </a:p>
          <a:p>
            <a:pPr marL="0" indent="0">
              <a:buNone/>
            </a:pPr>
            <a:endParaRPr lang="en-US" sz="1800" dirty="0">
              <a:latin typeface="+mn-lt"/>
              <a:cs typeface="+mn-cs"/>
            </a:endParaRPr>
          </a:p>
        </p:txBody>
      </p:sp>
      <p:pic>
        <p:nvPicPr>
          <p:cNvPr id="4" name="Picture 3" descr="A screenshot of a cell phone&#10;&#10;Description automatically generated">
            <a:extLst>
              <a:ext uri="{FF2B5EF4-FFF2-40B4-BE49-F238E27FC236}">
                <a16:creationId xmlns:a16="http://schemas.microsoft.com/office/drawing/2014/main" id="{214590E7-DBF4-4AE9-919C-219C5DA24190}"/>
              </a:ext>
            </a:extLst>
          </p:cNvPr>
          <p:cNvPicPr/>
          <p:nvPr/>
        </p:nvPicPr>
        <p:blipFill>
          <a:blip r:embed="rId2">
            <a:extLst>
              <a:ext uri="{28A0092B-C50C-407E-A947-70E740481C1C}">
                <a14:useLocalDpi xmlns:a14="http://schemas.microsoft.com/office/drawing/2010/main" val="0"/>
              </a:ext>
            </a:extLst>
          </a:blip>
          <a:stretch>
            <a:fillRect/>
          </a:stretch>
        </p:blipFill>
        <p:spPr>
          <a:xfrm>
            <a:off x="4743671" y="3108058"/>
            <a:ext cx="6894236" cy="1258198"/>
          </a:xfrm>
          <a:prstGeom prst="rect">
            <a:avLst/>
          </a:prstGeom>
        </p:spPr>
      </p:pic>
      <p:sp>
        <p:nvSpPr>
          <p:cNvPr id="7" name="Content Placeholder 2">
            <a:extLst>
              <a:ext uri="{FF2B5EF4-FFF2-40B4-BE49-F238E27FC236}">
                <a16:creationId xmlns:a16="http://schemas.microsoft.com/office/drawing/2014/main" id="{8CFFD315-6C94-4F11-8AC5-64B78347E3D6}"/>
              </a:ext>
            </a:extLst>
          </p:cNvPr>
          <p:cNvSpPr txBox="1">
            <a:spLocks/>
          </p:cNvSpPr>
          <p:nvPr/>
        </p:nvSpPr>
        <p:spPr>
          <a:xfrm>
            <a:off x="4360878" y="4398091"/>
            <a:ext cx="7659822" cy="85553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n-lt"/>
                <a:cs typeface="+mn-cs"/>
              </a:rPr>
              <a:t>AR confirms age group “twenties” are least likely to report MH to a supervisor. This speaks to organizations mistrust which could have been learned from MH in a respondent’s family history.</a:t>
            </a:r>
          </a:p>
        </p:txBody>
      </p:sp>
      <p:pic>
        <p:nvPicPr>
          <p:cNvPr id="9" name="Picture 8">
            <a:extLst>
              <a:ext uri="{FF2B5EF4-FFF2-40B4-BE49-F238E27FC236}">
                <a16:creationId xmlns:a16="http://schemas.microsoft.com/office/drawing/2014/main" id="{D1097233-32A4-4163-B513-755353784F7C}"/>
              </a:ext>
            </a:extLst>
          </p:cNvPr>
          <p:cNvPicPr/>
          <p:nvPr/>
        </p:nvPicPr>
        <p:blipFill rotWithShape="1">
          <a:blip r:embed="rId3">
            <a:extLst>
              <a:ext uri="{28A0092B-C50C-407E-A947-70E740481C1C}">
                <a14:useLocalDpi xmlns:a14="http://schemas.microsoft.com/office/drawing/2010/main" val="0"/>
              </a:ext>
            </a:extLst>
          </a:blip>
          <a:srcRect b="27954"/>
          <a:stretch/>
        </p:blipFill>
        <p:spPr>
          <a:xfrm>
            <a:off x="4743671" y="5240233"/>
            <a:ext cx="6894236" cy="1522518"/>
          </a:xfrm>
          <a:prstGeom prst="rect">
            <a:avLst/>
          </a:prstGeom>
        </p:spPr>
      </p:pic>
    </p:spTree>
    <p:extLst>
      <p:ext uri="{BB962C8B-B14F-4D97-AF65-F5344CB8AC3E}">
        <p14:creationId xmlns:p14="http://schemas.microsoft.com/office/powerpoint/2010/main" val="3930776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BC9EFE1-D8CB-4668-9980-DB108327A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7CBAE1BD-B8E4-4029-8AA2-C77E4FED9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C4446E-55E3-4614-897D-E3CE82073BDE}"/>
              </a:ext>
            </a:extLst>
          </p:cNvPr>
          <p:cNvSpPr>
            <a:spLocks noGrp="1"/>
          </p:cNvSpPr>
          <p:nvPr>
            <p:ph type="title"/>
          </p:nvPr>
        </p:nvSpPr>
        <p:spPr>
          <a:xfrm>
            <a:off x="6517642" y="129654"/>
            <a:ext cx="5506035" cy="6591868"/>
          </a:xfrm>
        </p:spPr>
        <p:txBody>
          <a:bodyPr vert="horz" lIns="91440" tIns="45720" rIns="91440" bIns="45720" rtlCol="0" anchor="t">
            <a:noAutofit/>
          </a:bodyPr>
          <a:lstStyle/>
          <a:p>
            <a:pPr algn="ctr"/>
            <a:r>
              <a:rPr lang="en-US" sz="2800" b="1" i="1" dirty="0">
                <a:solidFill>
                  <a:schemeClr val="tx1"/>
                </a:solidFill>
              </a:rPr>
              <a:t>Decision Tree Analysis</a:t>
            </a:r>
            <a:br>
              <a:rPr lang="en-US" sz="2800" dirty="0">
                <a:solidFill>
                  <a:schemeClr val="tx1"/>
                </a:solidFill>
              </a:rPr>
            </a:br>
            <a:br>
              <a:rPr lang="en-US" sz="2800" dirty="0">
                <a:solidFill>
                  <a:schemeClr val="tx1"/>
                </a:solidFill>
              </a:rPr>
            </a:br>
            <a:r>
              <a:rPr lang="en-US" sz="2800" dirty="0">
                <a:solidFill>
                  <a:schemeClr val="tx1"/>
                </a:solidFill>
              </a:rPr>
              <a:t>MH “stigma” effect is nicely revealed as respondents feel “maybe” there would be negative consequence if disclosed. A general atmosphere created by coworkers, i.e. “</a:t>
            </a:r>
            <a:r>
              <a:rPr lang="en-US" sz="2800" i="1" dirty="0">
                <a:solidFill>
                  <a:schemeClr val="tx1"/>
                </a:solidFill>
              </a:rPr>
              <a:t>feeling comfortable discussing,”</a:t>
            </a:r>
            <a:r>
              <a:rPr lang="en-US" sz="2800" dirty="0">
                <a:solidFill>
                  <a:schemeClr val="tx1"/>
                </a:solidFill>
              </a:rPr>
              <a:t> seems to play a big decision for those not self-employed.</a:t>
            </a:r>
            <a:br>
              <a:rPr lang="en-US" sz="2800" dirty="0">
                <a:solidFill>
                  <a:schemeClr val="tx1"/>
                </a:solidFill>
              </a:rPr>
            </a:br>
            <a:br>
              <a:rPr lang="en-US" sz="2800" dirty="0">
                <a:solidFill>
                  <a:schemeClr val="tx1"/>
                </a:solidFill>
              </a:rPr>
            </a:br>
            <a:r>
              <a:rPr lang="en-US" sz="2800" dirty="0">
                <a:solidFill>
                  <a:schemeClr val="tx1"/>
                </a:solidFill>
              </a:rPr>
              <a:t>41% of respondents did not think being identified as having a MH issue had affected or would affect their career. Of these, only 15% expressed definite willingness to bring up a MH issue in an interview.</a:t>
            </a:r>
            <a:br>
              <a:rPr lang="en-US" sz="3600" dirty="0"/>
            </a:br>
            <a:endParaRPr lang="en-US" sz="2400" dirty="0"/>
          </a:p>
        </p:txBody>
      </p:sp>
      <p:sp>
        <p:nvSpPr>
          <p:cNvPr id="24" name="Freeform 49">
            <a:extLst>
              <a:ext uri="{FF2B5EF4-FFF2-40B4-BE49-F238E27FC236}">
                <a16:creationId xmlns:a16="http://schemas.microsoft.com/office/drawing/2014/main" id="{77DA6D33-2D62-458C-BF5D-DBF612FD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 name="Picture 2">
            <a:extLst>
              <a:ext uri="{FF2B5EF4-FFF2-40B4-BE49-F238E27FC236}">
                <a16:creationId xmlns:a16="http://schemas.microsoft.com/office/drawing/2014/main" id="{2B70439C-48FE-4A06-B426-F684F0C4659E}"/>
              </a:ext>
            </a:extLst>
          </p:cNvPr>
          <p:cNvPicPr>
            <a:picLocks noChangeAspect="1"/>
          </p:cNvPicPr>
          <p:nvPr/>
        </p:nvPicPr>
        <p:blipFill rotWithShape="1">
          <a:blip r:embed="rId3">
            <a:alphaModFix/>
          </a:blip>
          <a:srcRect l="20858" r="30261" b="1"/>
          <a:stretch/>
        </p:blipFill>
        <p:spPr>
          <a:xfrm>
            <a:off x="1" y="770037"/>
            <a:ext cx="5298683" cy="6097438"/>
          </a:xfrm>
          <a:custGeom>
            <a:avLst/>
            <a:gdLst>
              <a:gd name="connsiteX0" fmla="*/ 2178155 w 5298683"/>
              <a:gd name="connsiteY0" fmla="*/ 0 h 6097438"/>
              <a:gd name="connsiteX1" fmla="*/ 5298683 w 5298683"/>
              <a:gd name="connsiteY1" fmla="*/ 3120527 h 6097438"/>
              <a:gd name="connsiteX2" fmla="*/ 3392805 w 5298683"/>
              <a:gd name="connsiteY2" fmla="*/ 5995828 h 6097438"/>
              <a:gd name="connsiteX3" fmla="*/ 3115184 w 5298683"/>
              <a:gd name="connsiteY3" fmla="*/ 6097438 h 6097438"/>
              <a:gd name="connsiteX4" fmla="*/ 1241127 w 5298683"/>
              <a:gd name="connsiteY4" fmla="*/ 6097438 h 6097438"/>
              <a:gd name="connsiteX5" fmla="*/ 963506 w 5298683"/>
              <a:gd name="connsiteY5" fmla="*/ 5995828 h 6097438"/>
              <a:gd name="connsiteX6" fmla="*/ 193210 w 5298683"/>
              <a:gd name="connsiteY6" fmla="*/ 5528477 h 6097438"/>
              <a:gd name="connsiteX7" fmla="*/ 0 w 5298683"/>
              <a:gd name="connsiteY7" fmla="*/ 5352876 h 6097438"/>
              <a:gd name="connsiteX8" fmla="*/ 0 w 5298683"/>
              <a:gd name="connsiteY8" fmla="*/ 888178 h 6097438"/>
              <a:gd name="connsiteX9" fmla="*/ 193210 w 5298683"/>
              <a:gd name="connsiteY9" fmla="*/ 712577 h 6097438"/>
              <a:gd name="connsiteX10" fmla="*/ 2178155 w 5298683"/>
              <a:gd name="connsiteY10" fmla="*/ 0 h 609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Tree>
    <p:extLst>
      <p:ext uri="{BB962C8B-B14F-4D97-AF65-F5344CB8AC3E}">
        <p14:creationId xmlns:p14="http://schemas.microsoft.com/office/powerpoint/2010/main" val="2609543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4446E-55E3-4614-897D-E3CE82073BDE}"/>
              </a:ext>
            </a:extLst>
          </p:cNvPr>
          <p:cNvSpPr>
            <a:spLocks noGrp="1"/>
          </p:cNvSpPr>
          <p:nvPr>
            <p:ph type="title"/>
          </p:nvPr>
        </p:nvSpPr>
        <p:spPr>
          <a:xfrm>
            <a:off x="863029" y="1012004"/>
            <a:ext cx="3416158" cy="4795408"/>
          </a:xfrm>
        </p:spPr>
        <p:txBody>
          <a:bodyPr vert="horz" lIns="91440" tIns="45720" rIns="91440" bIns="45720" rtlCol="0" anchor="ctr">
            <a:normAutofit/>
          </a:bodyPr>
          <a:lstStyle/>
          <a:p>
            <a:r>
              <a:rPr lang="en-US" dirty="0">
                <a:solidFill>
                  <a:srgbClr val="FFFFFF"/>
                </a:solidFill>
                <a:latin typeface="+mj-lt"/>
                <a:cs typeface="+mj-cs"/>
              </a:rPr>
              <a:t>Conclusions</a:t>
            </a:r>
          </a:p>
        </p:txBody>
      </p:sp>
      <p:graphicFrame>
        <p:nvGraphicFramePr>
          <p:cNvPr id="17" name="Content Placeholder 2">
            <a:extLst>
              <a:ext uri="{FF2B5EF4-FFF2-40B4-BE49-F238E27FC236}">
                <a16:creationId xmlns:a16="http://schemas.microsoft.com/office/drawing/2014/main" id="{B999F532-FDCA-4EF8-AC44-C335B8883D43}"/>
              </a:ext>
            </a:extLst>
          </p:cNvPr>
          <p:cNvGraphicFramePr/>
          <p:nvPr>
            <p:extLst>
              <p:ext uri="{D42A27DB-BD31-4B8C-83A1-F6EECF244321}">
                <p14:modId xmlns:p14="http://schemas.microsoft.com/office/powerpoint/2010/main" val="36427617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C405A6AD-80A1-42E9-B7E0-45400B8088B1}"/>
              </a:ext>
            </a:extLst>
          </p:cNvPr>
          <p:cNvSpPr txBox="1"/>
          <p:nvPr/>
        </p:nvSpPr>
        <p:spPr>
          <a:xfrm>
            <a:off x="0" y="6348491"/>
            <a:ext cx="10848402" cy="457684"/>
          </a:xfrm>
          <a:prstGeom prst="rect">
            <a:avLst/>
          </a:prstGeom>
        </p:spPr>
        <p:txBody>
          <a:bodyPr vert="horz" lIns="91440" tIns="45720" rIns="91440" bIns="45720" rtlCol="0">
            <a:normAutofit fontScale="92500" lnSpcReduction="10000"/>
          </a:bodyPr>
          <a:lstStyle/>
          <a:p>
            <a:pPr>
              <a:lnSpc>
                <a:spcPct val="90000"/>
              </a:lnSpc>
              <a:spcAft>
                <a:spcPts val="600"/>
              </a:spcAft>
            </a:pPr>
            <a:r>
              <a:rPr lang="en-US" sz="1200" dirty="0"/>
              <a:t>References:</a:t>
            </a:r>
          </a:p>
          <a:p>
            <a:pPr>
              <a:lnSpc>
                <a:spcPct val="90000"/>
              </a:lnSpc>
              <a:spcAft>
                <a:spcPts val="600"/>
              </a:spcAft>
            </a:pPr>
            <a:r>
              <a:rPr lang="en-US" sz="1200" dirty="0"/>
              <a:t>* </a:t>
            </a:r>
            <a:r>
              <a:rPr lang="en-US" sz="1200" dirty="0" err="1"/>
              <a:t>Kirch</a:t>
            </a:r>
            <a:r>
              <a:rPr lang="en-US" sz="1200" dirty="0"/>
              <a:t>, B., Krupa, T., Luong, D. (2018). How do supervisors perceive and manage employee mental health issues in their workplaces? IOS. DOI 10.3233/WOR-182698</a:t>
            </a:r>
          </a:p>
        </p:txBody>
      </p:sp>
    </p:spTree>
    <p:extLst>
      <p:ext uri="{BB962C8B-B14F-4D97-AF65-F5344CB8AC3E}">
        <p14:creationId xmlns:p14="http://schemas.microsoft.com/office/powerpoint/2010/main" val="277233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TotalTime>
  <Words>1103</Words>
  <Application>Microsoft Office PowerPoint</Application>
  <PresentationFormat>Widescreen</PresentationFormat>
  <Paragraphs>58</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Wingdings</vt:lpstr>
      <vt:lpstr>Office Theme</vt:lpstr>
      <vt:lpstr> Using  Data Science to Understand  Mental Health  in the Workplace </vt:lpstr>
      <vt:lpstr>Situation: Disclosing Mental Health in Workplace</vt:lpstr>
      <vt:lpstr>Data &amp; Preprocessing: Open Sourcing Mental Illness</vt:lpstr>
      <vt:lpstr>Random Forest Analysis</vt:lpstr>
      <vt:lpstr>Descriptive statistics were important in assessing “our playing field” as data leans to ‘disclosing’ MH and most respondents either ‘have or may have’ a MH condition</vt:lpstr>
      <vt:lpstr>Association Rules Analysis</vt:lpstr>
      <vt:lpstr>Decision Tree Analysis  MH “stigma” effect is nicely revealed as respondents feel “maybe” there would be negative consequence if disclosed. A general atmosphere created by coworkers, i.e. “feeling comfortable discussing,” seems to play a big decision for those not self-employed.  41% of respondents did not think being identified as having a MH issue had affected or would affect their career. Of these, only 15% expressed definite willingness to bring up a MH issue in an interview. </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Using  Data Science to Understand Mental Health in Business Environments  </dc:title>
  <dc:creator>David Madsen</dc:creator>
  <cp:lastModifiedBy>Jon A Wright</cp:lastModifiedBy>
  <cp:revision>14</cp:revision>
  <cp:lastPrinted>2019-06-12T01:54:31Z</cp:lastPrinted>
  <dcterms:created xsi:type="dcterms:W3CDTF">2019-06-11T17:33:29Z</dcterms:created>
  <dcterms:modified xsi:type="dcterms:W3CDTF">2019-06-12T14:05:53Z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davmad@microsoft.com</vt:lpwstr>
  </property>
  <property fmtid="{D5CDD505-2E9C-101B-9397-08002B2CF9AE}" pid="5" name="MSIP_Label_f42aa342-8706-4288-bd11-ebb85995028c_SetDate">
    <vt:lpwstr>2019-06-11T17:35:34.8342954Z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3646beab-7dc7-46fc-ad59-4b9fb9d1b7dc</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