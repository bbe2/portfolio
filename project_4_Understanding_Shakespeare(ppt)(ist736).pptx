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tiff" ContentType="image/tif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charts/chartEx1.xml" ContentType="application/vnd.ms-office.chartex+xml"/>
  <Override PartName="/ppt/charts/style2.xml" ContentType="application/vnd.ms-office.chartstyle+xml"/>
  <Override PartName="/ppt/charts/colors2.xml" ContentType="application/vnd.ms-office.chartcolorstyle+xml"/>
  <Override PartName="/ppt/charts/chart2.xml" ContentType="application/vnd.openxmlformats-officedocument.drawingml.chart+xml"/>
  <Override PartName="/ppt/charts/style3.xml" ContentType="application/vnd.ms-office.chartstyle+xml"/>
  <Override PartName="/ppt/charts/colors3.xml" ContentType="application/vnd.ms-office.chartcolorstyle+xml"/>
  <Override PartName="/ppt/charts/chart3.xml" ContentType="application/vnd.openxmlformats-officedocument.drawingml.chart+xml"/>
  <Override PartName="/ppt/charts/style4.xml" ContentType="application/vnd.ms-office.chartstyle+xml"/>
  <Override PartName="/ppt/charts/colors4.xml" ContentType="application/vnd.ms-office.chartcolorstyle+xml"/>
  <Override PartName="/ppt/charts/chart4.xml" ContentType="application/vnd.openxmlformats-officedocument.drawingml.chart+xml"/>
  <Override PartName="/ppt/charts/style5.xml" ContentType="application/vnd.ms-office.chartstyle+xml"/>
  <Override PartName="/ppt/charts/colors5.xml" ContentType="application/vnd.ms-office.chartcolorstyle+xml"/>
  <Override PartName="/ppt/drawings/drawing1.xml" ContentType="application/vnd.openxmlformats-officedocument.drawingml.chartshapes+xml"/>
  <Override PartName="/ppt/charts/chart5.xml" ContentType="application/vnd.openxmlformats-officedocument.drawingml.chart+xml"/>
  <Override PartName="/ppt/charts/style6.xml" ContentType="application/vnd.ms-office.chartstyle+xml"/>
  <Override PartName="/ppt/charts/colors6.xml" ContentType="application/vnd.ms-office.chartcolorstyl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9"/>
  </p:notesMasterIdLst>
  <p:sldIdLst>
    <p:sldId id="256" r:id="rId2"/>
    <p:sldId id="298" r:id="rId3"/>
    <p:sldId id="258" r:id="rId4"/>
    <p:sldId id="265" r:id="rId5"/>
    <p:sldId id="295" r:id="rId6"/>
    <p:sldId id="296" r:id="rId7"/>
    <p:sldId id="299" r:id="rId8"/>
    <p:sldId id="300" r:id="rId9"/>
    <p:sldId id="261" r:id="rId10"/>
    <p:sldId id="304" r:id="rId11"/>
    <p:sldId id="307" r:id="rId12"/>
    <p:sldId id="302" r:id="rId13"/>
    <p:sldId id="301" r:id="rId14"/>
    <p:sldId id="308" r:id="rId15"/>
    <p:sldId id="294" r:id="rId16"/>
    <p:sldId id="297" r:id="rId17"/>
    <p:sldId id="303" r:id="rId18"/>
  </p:sldIdLst>
  <p:sldSz cx="12192000" cy="6858000"/>
  <p:notesSz cx="7010400" cy="9296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EB9D1"/>
    <a:srgbClr val="9591D1"/>
    <a:srgbClr val="D19AC4"/>
    <a:srgbClr val="00E5F0"/>
    <a:srgbClr val="EBEB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1567" autoAdjust="0"/>
    <p:restoredTop sz="93817" autoAdjust="0"/>
  </p:normalViewPr>
  <p:slideViewPr>
    <p:cSldViewPr snapToGrid="0">
      <p:cViewPr varScale="1">
        <p:scale>
          <a:sx n="99" d="100"/>
          <a:sy n="99" d="100"/>
        </p:scale>
        <p:origin x="57" y="81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a212718477\Box%20Sync\Personal\SU\IST-736\Project\ResultData.xlsx" TargetMode="External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_rels/chart2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a212718477\Box%20Sync\Personal\SU\IST-736\Project\ResultData.xlsx" TargetMode="External"/><Relationship Id="rId2" Type="http://schemas.microsoft.com/office/2011/relationships/chartColorStyle" Target="colors3.xml"/><Relationship Id="rId1" Type="http://schemas.microsoft.com/office/2011/relationships/chartStyle" Target="style3.xml"/></Relationships>
</file>

<file path=ppt/charts/_rels/chart3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a212718477\Box%20Sync\Personal\SU\IST-736\Project\ResultData.xlsx" TargetMode="External"/><Relationship Id="rId2" Type="http://schemas.microsoft.com/office/2011/relationships/chartColorStyle" Target="colors4.xml"/><Relationship Id="rId1" Type="http://schemas.microsoft.com/office/2011/relationships/chartStyle" Target="style4.xml"/></Relationships>
</file>

<file path=ppt/charts/_rels/chart4.xml.rels><?xml version="1.0" encoding="UTF-8" standalone="yes"?>
<Relationships xmlns="http://schemas.openxmlformats.org/package/2006/relationships"><Relationship Id="rId3" Type="http://schemas.openxmlformats.org/officeDocument/2006/relationships/oleObject" Target="https://sumailsyr-my.sharepoint.com/personal/dfu104_syr_edu/Documents/syracus/IST%20Text%20mining/HW/Final/DATA.xlsx" TargetMode="External"/><Relationship Id="rId2" Type="http://schemas.microsoft.com/office/2011/relationships/chartColorStyle" Target="colors5.xml"/><Relationship Id="rId1" Type="http://schemas.microsoft.com/office/2011/relationships/chartStyle" Target="style5.xml"/><Relationship Id="rId4" Type="http://schemas.openxmlformats.org/officeDocument/2006/relationships/chartUserShapes" Target="../drawings/drawing1.xml"/></Relationships>
</file>

<file path=ppt/charts/_rels/chart5.xml.rels><?xml version="1.0" encoding="UTF-8" standalone="yes"?>
<Relationships xmlns="http://schemas.openxmlformats.org/package/2006/relationships"><Relationship Id="rId3" Type="http://schemas.openxmlformats.org/officeDocument/2006/relationships/oleObject" Target="file:///\\Users\a212718477\Box%20Sync\Personal\SU\IST-736\Project\ResultData.xlsx" TargetMode="External"/><Relationship Id="rId2" Type="http://schemas.microsoft.com/office/2011/relationships/chartColorStyle" Target="colors6.xml"/><Relationship Id="rId1" Type="http://schemas.microsoft.com/office/2011/relationships/chartStyle" Target="style6.xml"/></Relationships>
</file>

<file path=ppt/charts/_rels/chartEx1.xml.rels><?xml version="1.0" encoding="UTF-8" standalone="yes"?>
<Relationships xmlns="http://schemas.openxmlformats.org/package/2006/relationships"><Relationship Id="rId3" Type="http://schemas.microsoft.com/office/2011/relationships/chartColorStyle" Target="colors2.xml"/><Relationship Id="rId2" Type="http://schemas.microsoft.com/office/2011/relationships/chartStyle" Target="style2.xml"/><Relationship Id="rId1" Type="http://schemas.openxmlformats.org/officeDocument/2006/relationships/oleObject" Target="file:///\\Users\a212718477\Box%20Sync\Personal\SU\IST-736\Project\ResultData.xlsx" TargetMode="Externa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/>
              <a:t>Hamlet: Words per Character</a:t>
            </a:r>
          </a:p>
          <a:p>
            <a:pPr>
              <a:defRPr/>
            </a:pPr>
            <a:r>
              <a:rPr lang="en-US" sz="1100"/>
              <a:t>(LImited to &gt;100 Words)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>
        <c:manualLayout>
          <c:layoutTarget val="inner"/>
          <c:xMode val="edge"/>
          <c:yMode val="edge"/>
          <c:x val="0.13850532654006484"/>
          <c:y val="0.12373734533183352"/>
          <c:w val="0.80302578354176313"/>
          <c:h val="0.68784006909850559"/>
        </c:manualLayout>
      </c:layout>
      <c:barChart>
        <c:barDir val="col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E871-A14C-B87E-6EA536C07976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E871-A14C-B87E-6EA536C07976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E871-A14C-B87E-6EA536C07976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E871-A14C-B87E-6EA536C07976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E871-A14C-B87E-6EA536C07976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E871-A14C-B87E-6EA536C07976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E871-A14C-B87E-6EA536C07976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E871-A14C-B87E-6EA536C07976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E871-A14C-B87E-6EA536C07976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E871-A14C-B87E-6EA536C07976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E871-A14C-B87E-6EA536C07976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E871-A14C-B87E-6EA536C07976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E871-A14C-B87E-6EA536C07976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E871-A14C-B87E-6EA536C07976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E871-A14C-B87E-6EA536C07976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E871-A14C-B87E-6EA536C07976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E871-A14C-B87E-6EA536C07976}"/>
              </c:ext>
            </c:extLst>
          </c:dPt>
          <c:dPt>
            <c:idx val="17"/>
            <c:invertIfNegative val="0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E871-A14C-B87E-6EA536C07976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E871-A14C-B87E-6EA536C07976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2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E871-A14C-B87E-6EA536C07976}"/>
              </c:ext>
            </c:extLst>
          </c:dPt>
          <c:cat>
            <c:strRef>
              <c:f>DefLinesWords!$A$2:$A$21</c:f>
              <c:strCache>
                <c:ptCount val="20"/>
                <c:pt idx="0">
                  <c:v>HAMLET</c:v>
                </c:pt>
                <c:pt idx="1">
                  <c:v>KINGCLAUDIUS</c:v>
                </c:pt>
                <c:pt idx="2">
                  <c:v>LORDPOLONIUS</c:v>
                </c:pt>
                <c:pt idx="3">
                  <c:v>HORATIO</c:v>
                </c:pt>
                <c:pt idx="4">
                  <c:v>LAERTES</c:v>
                </c:pt>
                <c:pt idx="5">
                  <c:v>OPHELIA</c:v>
                </c:pt>
                <c:pt idx="6">
                  <c:v>QUEENGERTRUDE</c:v>
                </c:pt>
                <c:pt idx="7">
                  <c:v>FirstClown</c:v>
                </c:pt>
                <c:pt idx="8">
                  <c:v>ROSENCRANTZ</c:v>
                </c:pt>
                <c:pt idx="9">
                  <c:v>Ghost</c:v>
                </c:pt>
                <c:pt idx="10">
                  <c:v>MARCELLUS</c:v>
                </c:pt>
                <c:pt idx="11">
                  <c:v>FirstPlayer</c:v>
                </c:pt>
                <c:pt idx="12">
                  <c:v>OSRIC</c:v>
                </c:pt>
                <c:pt idx="13">
                  <c:v>GUILDENSTERN</c:v>
                </c:pt>
                <c:pt idx="14">
                  <c:v>PlayerKing</c:v>
                </c:pt>
                <c:pt idx="15">
                  <c:v>PlayerQueen</c:v>
                </c:pt>
                <c:pt idx="16">
                  <c:v>BERNARDO</c:v>
                </c:pt>
                <c:pt idx="17">
                  <c:v>Gentleman</c:v>
                </c:pt>
                <c:pt idx="18">
                  <c:v>VOLTIMAND</c:v>
                </c:pt>
                <c:pt idx="19">
                  <c:v>PRINCEFORTINBRAS</c:v>
                </c:pt>
              </c:strCache>
            </c:strRef>
          </c:cat>
          <c:val>
            <c:numRef>
              <c:f>DefLinesWords!$C$2:$C$21</c:f>
              <c:numCache>
                <c:formatCode>General</c:formatCode>
                <c:ptCount val="20"/>
                <c:pt idx="0">
                  <c:v>11541</c:v>
                </c:pt>
                <c:pt idx="1">
                  <c:v>4053</c:v>
                </c:pt>
                <c:pt idx="2">
                  <c:v>2665</c:v>
                </c:pt>
                <c:pt idx="3">
                  <c:v>2038</c:v>
                </c:pt>
                <c:pt idx="4">
                  <c:v>1439</c:v>
                </c:pt>
                <c:pt idx="5">
                  <c:v>1178</c:v>
                </c:pt>
                <c:pt idx="6">
                  <c:v>1050</c:v>
                </c:pt>
                <c:pt idx="7">
                  <c:v>734</c:v>
                </c:pt>
                <c:pt idx="8">
                  <c:v>692</c:v>
                </c:pt>
                <c:pt idx="9">
                  <c:v>677</c:v>
                </c:pt>
                <c:pt idx="10">
                  <c:v>414</c:v>
                </c:pt>
                <c:pt idx="11">
                  <c:v>365</c:v>
                </c:pt>
                <c:pt idx="12">
                  <c:v>356</c:v>
                </c:pt>
                <c:pt idx="13">
                  <c:v>339</c:v>
                </c:pt>
                <c:pt idx="14">
                  <c:v>337</c:v>
                </c:pt>
                <c:pt idx="15">
                  <c:v>238</c:v>
                </c:pt>
                <c:pt idx="16" formatCode="0">
                  <c:v>220</c:v>
                </c:pt>
                <c:pt idx="17">
                  <c:v>176</c:v>
                </c:pt>
                <c:pt idx="18">
                  <c:v>159</c:v>
                </c:pt>
                <c:pt idx="19">
                  <c:v>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E871-A14C-B87E-6EA536C0797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79959856"/>
        <c:axId val="78705295"/>
      </c:barChart>
      <c:catAx>
        <c:axId val="1879959856"/>
        <c:scaling>
          <c:orientation val="maxMin"/>
        </c:scaling>
        <c:delete val="0"/>
        <c:axPos val="b"/>
        <c:numFmt formatCode="General" sourceLinked="1"/>
        <c:majorTickMark val="none"/>
        <c:minorTickMark val="none"/>
        <c:tickLblPos val="low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705295"/>
        <c:crosses val="autoZero"/>
        <c:auto val="1"/>
        <c:lblAlgn val="ctr"/>
        <c:lblOffset val="100"/>
        <c:noMultiLvlLbl val="0"/>
      </c:catAx>
      <c:valAx>
        <c:axId val="78705295"/>
        <c:scaling>
          <c:orientation val="minMax"/>
          <c:max val="12000"/>
        </c:scaling>
        <c:delete val="0"/>
        <c:axPos val="r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9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9959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Hamlet:</a:t>
            </a:r>
            <a:r>
              <a:rPr lang="en-US" sz="2800" baseline="0" dirty="0"/>
              <a:t> Character Distinction </a:t>
            </a:r>
          </a:p>
          <a:p>
            <a:pPr>
              <a:defRPr/>
            </a:pPr>
            <a:r>
              <a:rPr lang="en-US" sz="1200" dirty="0"/>
              <a:t>Average Pairwise</a:t>
            </a:r>
            <a:r>
              <a:rPr lang="en-US" sz="1200" baseline="0" dirty="0"/>
              <a:t> </a:t>
            </a:r>
            <a:r>
              <a:rPr lang="en-US" sz="1200" dirty="0"/>
              <a:t>Accuracy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lin ang="0" scaled="0"/>
            </a:gradFill>
            <a:ln>
              <a:noFill/>
            </a:ln>
            <a:effectLst/>
          </c:spPr>
          <c:invertIfNegative val="0"/>
          <c:cat>
            <c:strRef>
              <c:f>DefAccuList!$A$12:$A$18</c:f>
              <c:strCache>
                <c:ptCount val="7"/>
                <c:pt idx="0">
                  <c:v>Hamlet</c:v>
                </c:pt>
                <c:pt idx="1">
                  <c:v>King Claudius</c:v>
                </c:pt>
                <c:pt idx="2">
                  <c:v>Lord Polonius</c:v>
                </c:pt>
                <c:pt idx="3">
                  <c:v>Horatio</c:v>
                </c:pt>
                <c:pt idx="4">
                  <c:v>Laertes</c:v>
                </c:pt>
                <c:pt idx="5">
                  <c:v>Ophelia</c:v>
                </c:pt>
                <c:pt idx="6">
                  <c:v>Queen Gertrude</c:v>
                </c:pt>
              </c:strCache>
            </c:strRef>
          </c:cat>
          <c:val>
            <c:numRef>
              <c:f>DefAccuList!$J$12:$J$18</c:f>
              <c:numCache>
                <c:formatCode>0.000</c:formatCode>
                <c:ptCount val="7"/>
                <c:pt idx="0">
                  <c:v>0.76391666666666669</c:v>
                </c:pt>
                <c:pt idx="1">
                  <c:v>0.66366666666666674</c:v>
                </c:pt>
                <c:pt idx="2">
                  <c:v>0.63956666666666662</c:v>
                </c:pt>
                <c:pt idx="3">
                  <c:v>0.66283333333333327</c:v>
                </c:pt>
                <c:pt idx="4">
                  <c:v>0.65306666666666668</c:v>
                </c:pt>
                <c:pt idx="5">
                  <c:v>0.66851666666666676</c:v>
                </c:pt>
                <c:pt idx="6">
                  <c:v>0.64033333333333342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172D-6F4A-8336-1841D843B1F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219"/>
        <c:overlap val="-27"/>
        <c:axId val="1886648432"/>
        <c:axId val="1886650112"/>
      </c:barChart>
      <c:catAx>
        <c:axId val="188664843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1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650112"/>
        <c:crosses val="autoZero"/>
        <c:auto val="1"/>
        <c:lblAlgn val="ctr"/>
        <c:lblOffset val="100"/>
        <c:noMultiLvlLbl val="0"/>
      </c:catAx>
      <c:valAx>
        <c:axId val="1886650112"/>
        <c:scaling>
          <c:orientation val="minMax"/>
          <c:max val="0.8"/>
          <c:min val="0.5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6648432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1"/>
    </mc:Choice>
    <mc:Fallback>
      <c:style val="1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800" dirty="0"/>
              <a:t>Henry VIII: Gender Distinction</a:t>
            </a:r>
          </a:p>
          <a:p>
            <a:pPr>
              <a:defRPr/>
            </a:pPr>
            <a:r>
              <a:rPr lang="en-US" sz="1200" dirty="0"/>
              <a:t>Average of Pairwise</a:t>
            </a:r>
            <a:r>
              <a:rPr lang="en-US" sz="1200" baseline="0" dirty="0"/>
              <a:t> Accuracy</a:t>
            </a:r>
            <a:endParaRPr lang="en-US" sz="1200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0"/>
        <c:ser>
          <c:idx val="0"/>
          <c:order val="0"/>
          <c:spPr>
            <a:gradFill>
              <a:gsLst>
                <a:gs pos="0">
                  <a:schemeClr val="accent1">
                    <a:lumMod val="5000"/>
                    <a:lumOff val="95000"/>
                  </a:schemeClr>
                </a:gs>
                <a:gs pos="41000">
                  <a:schemeClr val="accent1">
                    <a:lumMod val="45000"/>
                    <a:lumOff val="55000"/>
                  </a:schemeClr>
                </a:gs>
                <a:gs pos="89000">
                  <a:schemeClr val="accent1">
                    <a:lumMod val="45000"/>
                    <a:lumOff val="55000"/>
                  </a:schemeClr>
                </a:gs>
                <a:gs pos="100000">
                  <a:schemeClr val="accent1"/>
                </a:gs>
              </a:gsLst>
              <a:lin ang="5400000" scaled="1"/>
            </a:gradFill>
            <a:ln>
              <a:noFill/>
            </a:ln>
            <a:effectLst/>
          </c:spPr>
          <c:invertIfNegative val="0"/>
          <c:cat>
            <c:strRef>
              <c:f>Henry8Accu!$Q$11:$Q$17</c:f>
              <c:strCache>
                <c:ptCount val="7"/>
                <c:pt idx="0">
                  <c:v>King Henry VIII</c:v>
                </c:pt>
                <c:pt idx="1">
                  <c:v>Cardinal Wolsey</c:v>
                </c:pt>
                <c:pt idx="2">
                  <c:v>Norfolk</c:v>
                </c:pt>
                <c:pt idx="3">
                  <c:v>Chamberlain</c:v>
                </c:pt>
                <c:pt idx="4">
                  <c:v>Second Gentleman</c:v>
                </c:pt>
                <c:pt idx="5">
                  <c:v>First Gentleman</c:v>
                </c:pt>
                <c:pt idx="6">
                  <c:v>Queen Katharine</c:v>
                </c:pt>
              </c:strCache>
            </c:strRef>
          </c:cat>
          <c:val>
            <c:numRef>
              <c:f>Henry8Accu!$Z$11:$Z$17</c:f>
              <c:numCache>
                <c:formatCode>0.00</c:formatCode>
                <c:ptCount val="7"/>
                <c:pt idx="0">
                  <c:v>0.65261666666666673</c:v>
                </c:pt>
                <c:pt idx="1">
                  <c:v>0.63863333333333339</c:v>
                </c:pt>
                <c:pt idx="2">
                  <c:v>0.5951333333333334</c:v>
                </c:pt>
                <c:pt idx="3">
                  <c:v>0.64516666666666678</c:v>
                </c:pt>
                <c:pt idx="4">
                  <c:v>0.60984999999999989</c:v>
                </c:pt>
                <c:pt idx="5">
                  <c:v>0.6298907407407407</c:v>
                </c:pt>
                <c:pt idx="6">
                  <c:v>0.72732407407407418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68E8-944E-A346-6D1634222C74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28"/>
        <c:axId val="1879738208"/>
        <c:axId val="1884976080"/>
      </c:barChart>
      <c:catAx>
        <c:axId val="1879738208"/>
        <c:scaling>
          <c:orientation val="minMax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8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84976080"/>
        <c:crosses val="autoZero"/>
        <c:auto val="1"/>
        <c:lblAlgn val="ctr"/>
        <c:lblOffset val="100"/>
        <c:noMultiLvlLbl val="0"/>
      </c:catAx>
      <c:valAx>
        <c:axId val="1884976080"/>
        <c:scaling>
          <c:orientation val="minMax"/>
          <c:min val="0.5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0.00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6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9738208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dirty="0"/>
              <a:t>Topic</a:t>
            </a:r>
            <a:r>
              <a:rPr lang="en-US" baseline="0" dirty="0"/>
              <a:t> modeling Accuracy</a:t>
            </a:r>
            <a:endParaRPr lang="en-US" dirty="0"/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pieChart>
        <c:varyColors val="1"/>
        <c:ser>
          <c:idx val="0"/>
          <c:order val="0"/>
          <c:dPt>
            <c:idx val="0"/>
            <c:bubble3D val="0"/>
            <c:spPr>
              <a:solidFill>
                <a:schemeClr val="accent1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1-71A7-4781-B980-3BBE6EA269D6}"/>
              </c:ext>
            </c:extLst>
          </c:dPt>
          <c:dPt>
            <c:idx val="1"/>
            <c:bubble3D val="0"/>
            <c:spPr>
              <a:solidFill>
                <a:schemeClr val="accent2"/>
              </a:solidFill>
              <a:ln w="19050">
                <a:solidFill>
                  <a:schemeClr val="lt1"/>
                </a:solidFill>
              </a:ln>
              <a:effectLst/>
            </c:spPr>
            <c:extLst>
              <c:ext xmlns:c16="http://schemas.microsoft.com/office/drawing/2014/chart" uri="{C3380CC4-5D6E-409C-BE32-E72D297353CC}">
                <c16:uniqueId val="{00000003-71A7-4781-B980-3BBE6EA269D6}"/>
              </c:ext>
            </c:extLst>
          </c:dPt>
          <c:cat>
            <c:strRef>
              <c:f>Sheet1!$C$3:$D$3</c:f>
              <c:strCache>
                <c:ptCount val="2"/>
                <c:pt idx="0">
                  <c:v>Match</c:v>
                </c:pt>
                <c:pt idx="1">
                  <c:v>Mismatch</c:v>
                </c:pt>
              </c:strCache>
            </c:strRef>
          </c:cat>
          <c:val>
            <c:numRef>
              <c:f>Sheet1!$C$4:$D$4</c:f>
              <c:numCache>
                <c:formatCode>0%</c:formatCode>
                <c:ptCount val="2"/>
                <c:pt idx="0">
                  <c:v>0.56000000000000005</c:v>
                </c:pt>
                <c:pt idx="1">
                  <c:v>0.44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4-71A7-4781-B980-3BBE6EA269D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  <c:spPr>
        <a:noFill/>
        <a:ln>
          <a:noFill/>
        </a:ln>
        <a:effectLst/>
      </c:spPr>
    </c:plotArea>
    <c:legend>
      <c:legendPos val="b"/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900" b="0" i="0" u="none" strike="noStrike" kern="120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legend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  <c:userShapes r:id="rId4"/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title>
      <c:tx>
        <c:rich>
          <a:bodyPr rot="0" spcFirstLastPara="1" vertOverflow="ellipsis" vert="horz" wrap="square" anchor="ctr" anchorCtr="1"/>
          <a:lstStyle/>
          <a:p>
            <a:pPr>
              <a:defRPr sz="1400" b="0" i="0" u="none" strike="noStrike" kern="1200" spc="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r>
              <a:rPr lang="en-US" sz="2000" dirty="0"/>
              <a:t>Hamlet: Words per Character</a:t>
            </a:r>
          </a:p>
          <a:p>
            <a:pPr>
              <a:defRPr/>
            </a:pPr>
            <a:r>
              <a:rPr lang="en-US" sz="1100" dirty="0"/>
              <a:t>(Limited to &gt;100 Words)</a:t>
            </a:r>
          </a:p>
        </c:rich>
      </c:tx>
      <c:overlay val="0"/>
      <c:spPr>
        <a:noFill/>
        <a:ln>
          <a:noFill/>
        </a:ln>
        <a:effectLst/>
      </c:spPr>
      <c:txPr>
        <a:bodyPr rot="0" spcFirstLastPara="1" vertOverflow="ellipsis" vert="horz" wrap="square" anchor="ctr" anchorCtr="1"/>
        <a:lstStyle/>
        <a:p>
          <a:pPr>
            <a:defRPr sz="1400" b="0" i="0" u="none" strike="noStrike" kern="1200" spc="0" baseline="0">
              <a:solidFill>
                <a:schemeClr val="tx1">
                  <a:lumMod val="65000"/>
                  <a:lumOff val="35000"/>
                </a:schemeClr>
              </a:solidFill>
              <a:latin typeface="+mn-lt"/>
              <a:ea typeface="+mn-ea"/>
              <a:cs typeface="+mn-cs"/>
            </a:defRPr>
          </a:pPr>
          <a:endParaRPr lang="en-US"/>
        </a:p>
      </c:txPr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invertIfNegative val="0"/>
          <c:dPt>
            <c:idx val="0"/>
            <c:invertIfNegative val="0"/>
            <c:bubble3D val="0"/>
            <c:spPr>
              <a:solidFill>
                <a:schemeClr val="accent1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1-47BE-3944-8589-AE188C265EB7}"/>
              </c:ext>
            </c:extLst>
          </c:dPt>
          <c:dPt>
            <c:idx val="1"/>
            <c:invertIfNegative val="0"/>
            <c:bubble3D val="0"/>
            <c:spPr>
              <a:solidFill>
                <a:schemeClr val="accent2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3-47BE-3944-8589-AE188C265EB7}"/>
              </c:ext>
            </c:extLst>
          </c:dPt>
          <c:dPt>
            <c:idx val="2"/>
            <c:invertIfNegative val="0"/>
            <c:bubble3D val="0"/>
            <c:spPr>
              <a:solidFill>
                <a:schemeClr val="accent3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5-47BE-3944-8589-AE188C265EB7}"/>
              </c:ext>
            </c:extLst>
          </c:dPt>
          <c:dPt>
            <c:idx val="3"/>
            <c:invertIfNegative val="0"/>
            <c:bubble3D val="0"/>
            <c:spPr>
              <a:solidFill>
                <a:schemeClr val="accent4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7-47BE-3944-8589-AE188C265EB7}"/>
              </c:ext>
            </c:extLst>
          </c:dPt>
          <c:dPt>
            <c:idx val="4"/>
            <c:invertIfNegative val="0"/>
            <c:bubble3D val="0"/>
            <c:spPr>
              <a:solidFill>
                <a:schemeClr val="accent5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9-47BE-3944-8589-AE188C265EB7}"/>
              </c:ext>
            </c:extLst>
          </c:dPt>
          <c:dPt>
            <c:idx val="5"/>
            <c:invertIfNegative val="0"/>
            <c:bubble3D val="0"/>
            <c:spPr>
              <a:solidFill>
                <a:schemeClr val="accent6"/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B-47BE-3944-8589-AE188C265EB7}"/>
              </c:ext>
            </c:extLst>
          </c:dPt>
          <c:dPt>
            <c:idx val="6"/>
            <c:invertIfNegative val="0"/>
            <c:bubble3D val="0"/>
            <c:spPr>
              <a:solidFill>
                <a:schemeClr val="accent1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D-47BE-3944-8589-AE188C265EB7}"/>
              </c:ext>
            </c:extLst>
          </c:dPt>
          <c:dPt>
            <c:idx val="7"/>
            <c:invertIfNegative val="0"/>
            <c:bubble3D val="0"/>
            <c:spPr>
              <a:solidFill>
                <a:schemeClr val="accent2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0F-47BE-3944-8589-AE188C265EB7}"/>
              </c:ext>
            </c:extLst>
          </c:dPt>
          <c:dPt>
            <c:idx val="8"/>
            <c:invertIfNegative val="0"/>
            <c:bubble3D val="0"/>
            <c:spPr>
              <a:solidFill>
                <a:schemeClr val="accent3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1-47BE-3944-8589-AE188C265EB7}"/>
              </c:ext>
            </c:extLst>
          </c:dPt>
          <c:dPt>
            <c:idx val="9"/>
            <c:invertIfNegative val="0"/>
            <c:bubble3D val="0"/>
            <c:spPr>
              <a:solidFill>
                <a:schemeClr val="accent4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3-47BE-3944-8589-AE188C265EB7}"/>
              </c:ext>
            </c:extLst>
          </c:dPt>
          <c:dPt>
            <c:idx val="10"/>
            <c:invertIfNegative val="0"/>
            <c:bubble3D val="0"/>
            <c:spPr>
              <a:solidFill>
                <a:schemeClr val="accent5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5-47BE-3944-8589-AE188C265EB7}"/>
              </c:ext>
            </c:extLst>
          </c:dPt>
          <c:dPt>
            <c:idx val="11"/>
            <c:invertIfNegative val="0"/>
            <c:bubble3D val="0"/>
            <c:spPr>
              <a:solidFill>
                <a:schemeClr val="accent6">
                  <a:lumMod val="6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7-47BE-3944-8589-AE188C265EB7}"/>
              </c:ext>
            </c:extLst>
          </c:dPt>
          <c:dPt>
            <c:idx val="12"/>
            <c:invertIfNegative val="0"/>
            <c:bubble3D val="0"/>
            <c:spPr>
              <a:solidFill>
                <a:schemeClr val="accent1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9-47BE-3944-8589-AE188C265EB7}"/>
              </c:ext>
            </c:extLst>
          </c:dPt>
          <c:dPt>
            <c:idx val="13"/>
            <c:invertIfNegative val="0"/>
            <c:bubble3D val="0"/>
            <c:spPr>
              <a:solidFill>
                <a:schemeClr val="accent2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B-47BE-3944-8589-AE188C265EB7}"/>
              </c:ext>
            </c:extLst>
          </c:dPt>
          <c:dPt>
            <c:idx val="14"/>
            <c:invertIfNegative val="0"/>
            <c:bubble3D val="0"/>
            <c:spPr>
              <a:solidFill>
                <a:schemeClr val="accent3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D-47BE-3944-8589-AE188C265EB7}"/>
              </c:ext>
            </c:extLst>
          </c:dPt>
          <c:dPt>
            <c:idx val="15"/>
            <c:invertIfNegative val="0"/>
            <c:bubble3D val="0"/>
            <c:spPr>
              <a:solidFill>
                <a:schemeClr val="accent4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1F-47BE-3944-8589-AE188C265EB7}"/>
              </c:ext>
            </c:extLst>
          </c:dPt>
          <c:dPt>
            <c:idx val="16"/>
            <c:invertIfNegative val="0"/>
            <c:bubble3D val="0"/>
            <c:spPr>
              <a:solidFill>
                <a:schemeClr val="accent5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1-47BE-3944-8589-AE188C265EB7}"/>
              </c:ext>
            </c:extLst>
          </c:dPt>
          <c:dPt>
            <c:idx val="17"/>
            <c:invertIfNegative val="0"/>
            <c:bubble3D val="0"/>
            <c:spPr>
              <a:solidFill>
                <a:schemeClr val="accent6">
                  <a:lumMod val="80000"/>
                  <a:lumOff val="2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3-47BE-3944-8589-AE188C265EB7}"/>
              </c:ext>
            </c:extLst>
          </c:dPt>
          <c:dPt>
            <c:idx val="18"/>
            <c:invertIfNegative val="0"/>
            <c:bubble3D val="0"/>
            <c:spPr>
              <a:solidFill>
                <a:schemeClr val="accent1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5-47BE-3944-8589-AE188C265EB7}"/>
              </c:ext>
            </c:extLst>
          </c:dPt>
          <c:dPt>
            <c:idx val="19"/>
            <c:invertIfNegative val="0"/>
            <c:bubble3D val="0"/>
            <c:spPr>
              <a:solidFill>
                <a:schemeClr val="accent2">
                  <a:lumMod val="80000"/>
                </a:schemeClr>
              </a:solidFill>
              <a:ln>
                <a:noFill/>
              </a:ln>
              <a:effectLst/>
            </c:spPr>
            <c:extLst>
              <c:ext xmlns:c16="http://schemas.microsoft.com/office/drawing/2014/chart" uri="{C3380CC4-5D6E-409C-BE32-E72D297353CC}">
                <c16:uniqueId val="{00000027-47BE-3944-8589-AE188C265EB7}"/>
              </c:ext>
            </c:extLst>
          </c:dPt>
          <c:cat>
            <c:strRef>
              <c:f>DefLinesWords!$A$2:$A$21</c:f>
              <c:strCache>
                <c:ptCount val="20"/>
                <c:pt idx="0">
                  <c:v>HAMLET</c:v>
                </c:pt>
                <c:pt idx="1">
                  <c:v>KINGCLAUDIUS</c:v>
                </c:pt>
                <c:pt idx="2">
                  <c:v>LORDPOLONIUS</c:v>
                </c:pt>
                <c:pt idx="3">
                  <c:v>HORATIO</c:v>
                </c:pt>
                <c:pt idx="4">
                  <c:v>LAERTES</c:v>
                </c:pt>
                <c:pt idx="5">
                  <c:v>OPHELIA</c:v>
                </c:pt>
                <c:pt idx="6">
                  <c:v>QUEENGERTRUDE</c:v>
                </c:pt>
                <c:pt idx="7">
                  <c:v>FirstClown</c:v>
                </c:pt>
                <c:pt idx="8">
                  <c:v>ROSENCRANTZ</c:v>
                </c:pt>
                <c:pt idx="9">
                  <c:v>Ghost</c:v>
                </c:pt>
                <c:pt idx="10">
                  <c:v>MARCELLUS</c:v>
                </c:pt>
                <c:pt idx="11">
                  <c:v>FirstPlayer</c:v>
                </c:pt>
                <c:pt idx="12">
                  <c:v>OSRIC</c:v>
                </c:pt>
                <c:pt idx="13">
                  <c:v>GUILDENSTERN</c:v>
                </c:pt>
                <c:pt idx="14">
                  <c:v>PlayerKing</c:v>
                </c:pt>
                <c:pt idx="15">
                  <c:v>PlayerQueen</c:v>
                </c:pt>
                <c:pt idx="16">
                  <c:v>BERNARDO</c:v>
                </c:pt>
                <c:pt idx="17">
                  <c:v>Gentleman</c:v>
                </c:pt>
                <c:pt idx="18">
                  <c:v>VOLTIMAND</c:v>
                </c:pt>
                <c:pt idx="19">
                  <c:v>PRINCEFORTINBRAS</c:v>
                </c:pt>
              </c:strCache>
            </c:strRef>
          </c:cat>
          <c:val>
            <c:numRef>
              <c:f>DefLinesWords!$C$2:$C$21</c:f>
              <c:numCache>
                <c:formatCode>General</c:formatCode>
                <c:ptCount val="20"/>
                <c:pt idx="0">
                  <c:v>11541</c:v>
                </c:pt>
                <c:pt idx="1">
                  <c:v>4053</c:v>
                </c:pt>
                <c:pt idx="2">
                  <c:v>2665</c:v>
                </c:pt>
                <c:pt idx="3">
                  <c:v>2038</c:v>
                </c:pt>
                <c:pt idx="4">
                  <c:v>1439</c:v>
                </c:pt>
                <c:pt idx="5">
                  <c:v>1178</c:v>
                </c:pt>
                <c:pt idx="6">
                  <c:v>1050</c:v>
                </c:pt>
                <c:pt idx="7">
                  <c:v>734</c:v>
                </c:pt>
                <c:pt idx="8">
                  <c:v>692</c:v>
                </c:pt>
                <c:pt idx="9">
                  <c:v>677</c:v>
                </c:pt>
                <c:pt idx="10">
                  <c:v>414</c:v>
                </c:pt>
                <c:pt idx="11">
                  <c:v>365</c:v>
                </c:pt>
                <c:pt idx="12">
                  <c:v>356</c:v>
                </c:pt>
                <c:pt idx="13">
                  <c:v>339</c:v>
                </c:pt>
                <c:pt idx="14">
                  <c:v>337</c:v>
                </c:pt>
                <c:pt idx="15">
                  <c:v>238</c:v>
                </c:pt>
                <c:pt idx="16" formatCode="0">
                  <c:v>220</c:v>
                </c:pt>
                <c:pt idx="17">
                  <c:v>176</c:v>
                </c:pt>
                <c:pt idx="18">
                  <c:v>159</c:v>
                </c:pt>
                <c:pt idx="19">
                  <c:v>124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28-47BE-3944-8589-AE188C265EB7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80"/>
        <c:axId val="1879959856"/>
        <c:axId val="78705295"/>
      </c:barChart>
      <c:catAx>
        <c:axId val="1879959856"/>
        <c:scaling>
          <c:orientation val="maxMin"/>
        </c:scaling>
        <c:delete val="0"/>
        <c:axPos val="l"/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15000"/>
                <a:lumOff val="85000"/>
              </a:schemeClr>
            </a:solidFill>
            <a:round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4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78705295"/>
        <c:crosses val="autoZero"/>
        <c:auto val="1"/>
        <c:lblAlgn val="ctr"/>
        <c:lblOffset val="100"/>
        <c:noMultiLvlLbl val="0"/>
      </c:catAx>
      <c:valAx>
        <c:axId val="78705295"/>
        <c:scaling>
          <c:orientation val="minMax"/>
          <c:max val="12000"/>
        </c:scaling>
        <c:delete val="0"/>
        <c:axPos val="t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numFmt formatCode="General" sourceLinked="1"/>
        <c:majorTickMark val="none"/>
        <c:minorTickMark val="none"/>
        <c:tickLblPos val="nextTo"/>
        <c:spPr>
          <a:noFill/>
          <a:ln>
            <a:noFill/>
          </a:ln>
          <a:effectLst/>
        </c:spPr>
        <c:txPr>
          <a:bodyPr rot="-60000000" spcFirstLastPara="1" vertOverflow="ellipsis" vert="horz" wrap="square" anchor="ctr" anchorCtr="1"/>
          <a:lstStyle/>
          <a:p>
            <a:pPr>
              <a:defRPr sz="12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1879959856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gap"/>
    <c:extLst>
      <c:ext xmlns:c16r3="http://schemas.microsoft.com/office/drawing/2017/03/chart" uri="{56B9EC1D-385E-4148-901F-78D8002777C0}">
        <c16r3:dataDisplayOptions16>
          <c16r3:dispNaAsBlank val="1"/>
        </c16r3:dataDisplayOptions16>
      </c:ext>
    </c:extLst>
    <c:showDLblsOverMax val="0"/>
  </c:chart>
  <c:spPr>
    <a:noFill/>
    <a:ln>
      <a:noFill/>
    </a:ln>
    <a:effectLst/>
  </c:spPr>
  <c:txPr>
    <a:bodyPr/>
    <a:lstStyle/>
    <a:p>
      <a:pPr>
        <a:defRPr/>
      </a:pPr>
      <a:endParaRPr lang="en-US"/>
    </a:p>
  </c:txPr>
  <c:externalData r:id="rId3">
    <c:autoUpdate val="0"/>
  </c:externalData>
</c:chartSpace>
</file>

<file path=ppt/charts/chartEx1.xml><?xml version="1.0" encoding="utf-8"?>
<cx:chartSpace xmlns:a="http://schemas.openxmlformats.org/drawingml/2006/main" xmlns:r="http://schemas.openxmlformats.org/officeDocument/2006/relationships" xmlns:cx="http://schemas.microsoft.com/office/drawing/2014/chartex">
  <cx:chartData>
    <cx:externalData r:id="rId1" cx:autoUpdate="0"/>
    <cx:data id="0">
      <cx:numDim type="val">
        <cx:f>DefaultBoxW!$A$3:$A$12</cx:f>
        <cx:lvl ptCount="10" formatCode="General">
          <cx:pt idx="0">0.64600000000000002</cx:pt>
          <cx:pt idx="1">0.61699999999999999</cx:pt>
          <cx:pt idx="2">0.66700000000000004</cx:pt>
          <cx:pt idx="3">0.66100000000000003</cx:pt>
          <cx:pt idx="4">0.61799999999999999</cx:pt>
          <cx:pt idx="5">0.65700000000000003</cx:pt>
          <cx:pt idx="6">0.64100000000000001</cx:pt>
          <cx:pt idx="7">0.64700000000000002</cx:pt>
          <cx:pt idx="8">0.63600000000000001</cx:pt>
          <cx:pt idx="9">0.64200000000000002</cx:pt>
        </cx:lvl>
      </cx:numDim>
    </cx:data>
    <cx:data id="1">
      <cx:numDim type="val">
        <cx:f>DefaultBoxW!$B$3:$B$12</cx:f>
        <cx:lvl ptCount="10" formatCode="General">
          <cx:pt idx="0">0.753</cx:pt>
          <cx:pt idx="1">0.753</cx:pt>
          <cx:pt idx="2">0.755</cx:pt>
          <cx:pt idx="3">0.753</cx:pt>
          <cx:pt idx="4">0.751</cx:pt>
          <cx:pt idx="5">0.755</cx:pt>
          <cx:pt idx="6">0.751</cx:pt>
          <cx:pt idx="7">0.753</cx:pt>
          <cx:pt idx="8">0.753</cx:pt>
          <cx:pt idx="9">0.753</cx:pt>
        </cx:lvl>
      </cx:numDim>
    </cx:data>
    <cx:data id="2">
      <cx:numDim type="val">
        <cx:f>DefaultBoxW!$C$3:$C$12</cx:f>
        <cx:lvl ptCount="10" formatCode="General">
          <cx:pt idx="0">0.622</cx:pt>
          <cx:pt idx="1">0.64500000000000002</cx:pt>
          <cx:pt idx="2">0.68100000000000005</cx:pt>
          <cx:pt idx="3">0.63600000000000001</cx:pt>
          <cx:pt idx="4">0.622</cx:pt>
          <cx:pt idx="5">0.622</cx:pt>
          <cx:pt idx="6">0.63400000000000001</cx:pt>
          <cx:pt idx="7">0.64900000000000002</cx:pt>
          <cx:pt idx="8">0.65400000000000003</cx:pt>
          <cx:pt idx="9">0.64900000000000002</cx:pt>
        </cx:lvl>
      </cx:numDim>
    </cx:data>
    <cx:data id="3">
      <cx:numDim type="val">
        <cx:f>DefaultBoxW!$D$3:$D$12</cx:f>
        <cx:lvl ptCount="10" formatCode="General">
          <cx:pt idx="0">0.76000000000000001</cx:pt>
          <cx:pt idx="1">0.76000000000000001</cx:pt>
          <cx:pt idx="2">0.753</cx:pt>
          <cx:pt idx="3">0.754</cx:pt>
          <cx:pt idx="4">0.76000000000000001</cx:pt>
          <cx:pt idx="5">0.755</cx:pt>
          <cx:pt idx="6">0.75800000000000001</cx:pt>
          <cx:pt idx="7">0.755</cx:pt>
          <cx:pt idx="8">0.75900000000000001</cx:pt>
          <cx:pt idx="9">0.75700000000000001</cx:pt>
        </cx:lvl>
      </cx:numDim>
    </cx:data>
    <cx:data id="4">
      <cx:numDim type="val">
        <cx:f>DefaultBoxW!$E$3:$E$12</cx:f>
        <cx:lvl ptCount="10" formatCode="General">
          <cx:pt idx="0">0.61199999999999999</cx:pt>
          <cx:pt idx="1">0.59999999999999998</cx:pt>
          <cx:pt idx="2">0.60699999999999998</cx:pt>
          <cx:pt idx="3">0.59699999999999998</cx:pt>
          <cx:pt idx="4">0.61199999999999999</cx:pt>
          <cx:pt idx="5">0.59599999999999997</cx:pt>
          <cx:pt idx="6">0.63600000000000001</cx:pt>
          <cx:pt idx="7">0.58099999999999996</cx:pt>
          <cx:pt idx="8">0.56100000000000005</cx:pt>
          <cx:pt idx="9">0.61499999999999999</cx:pt>
        </cx:lvl>
      </cx:numDim>
    </cx:data>
    <cx:data id="5">
      <cx:numDim type="val">
        <cx:f>DefaultBoxW!$F$3:$F$12</cx:f>
        <cx:lvl ptCount="10" formatCode="General">
          <cx:pt idx="0">0.71199999999999997</cx:pt>
          <cx:pt idx="1">0.71399999999999997</cx:pt>
          <cx:pt idx="2">0.70999999999999996</cx:pt>
          <cx:pt idx="3">0.71899999999999997</cx:pt>
          <cx:pt idx="4">0.71699999999999997</cx:pt>
          <cx:pt idx="5">0.71399999999999997</cx:pt>
          <cx:pt idx="6">0.71399999999999997</cx:pt>
          <cx:pt idx="7">0.71199999999999997</cx:pt>
          <cx:pt idx="8">0.72099999999999997</cx:pt>
          <cx:pt idx="9">0.71399999999999997</cx:pt>
        </cx:lvl>
      </cx:numDim>
    </cx:data>
    <cx:data id="6">
      <cx:numDim type="val">
        <cx:f>DefaultBoxW!$G$3:$G$12</cx:f>
        <cx:lvl ptCount="10" formatCode="General">
          <cx:pt idx="0">0.60299999999999998</cx:pt>
          <cx:pt idx="1">0.60099999999999998</cx:pt>
          <cx:pt idx="2">0.61499999999999999</cx:pt>
          <cx:pt idx="3">0.628</cx:pt>
          <cx:pt idx="4">0.627</cx:pt>
          <cx:pt idx="5">0.62</cx:pt>
          <cx:pt idx="6">0.60899999999999999</cx:pt>
          <cx:pt idx="7">0.58999999999999997</cx:pt>
          <cx:pt idx="8">0.61399999999999999</cx:pt>
          <cx:pt idx="9">0.61499999999999999</cx:pt>
        </cx:lvl>
      </cx:numDim>
    </cx:data>
    <cx:data id="7">
      <cx:numDim type="val">
        <cx:f>DefaultBoxW!$H$3:$H$12</cx:f>
        <cx:lvl ptCount="10" formatCode="General">
          <cx:pt idx="0">0.78600000000000003</cx:pt>
          <cx:pt idx="1">0.78600000000000003</cx:pt>
          <cx:pt idx="2">0.78600000000000003</cx:pt>
          <cx:pt idx="3">0.78900000000000003</cx:pt>
          <cx:pt idx="4">0.78400000000000003</cx:pt>
          <cx:pt idx="5">0.78600000000000003</cx:pt>
          <cx:pt idx="6">0.78600000000000003</cx:pt>
          <cx:pt idx="7">0.79100000000000004</cx:pt>
          <cx:pt idx="8">0.78400000000000003</cx:pt>
          <cx:pt idx="9">0.78800000000000003</cx:pt>
        </cx:lvl>
      </cx:numDim>
    </cx:data>
    <cx:data id="8">
      <cx:numDim type="val">
        <cx:f>DefaultBoxW!$I$3:$I$12</cx:f>
        <cx:lvl ptCount="10" formatCode="General">
          <cx:pt idx="0">0.69399999999999995</cx:pt>
          <cx:pt idx="1">0.69699999999999995</cx:pt>
          <cx:pt idx="2">0.68999999999999995</cx:pt>
          <cx:pt idx="3">0.69899999999999995</cx:pt>
          <cx:pt idx="4">0.72099999999999997</cx:pt>
          <cx:pt idx="5">0.68700000000000006</cx:pt>
          <cx:pt idx="6">0.70899999999999996</cx:pt>
          <cx:pt idx="7">0.70699999999999996</cx:pt>
          <cx:pt idx="8">0.70799999999999996</cx:pt>
          <cx:pt idx="9">0.69299999999999995</cx:pt>
        </cx:lvl>
      </cx:numDim>
    </cx:data>
    <cx:data id="9">
      <cx:numDim type="val">
        <cx:f>DefaultBoxW!$J$3:$J$12</cx:f>
        <cx:lvl ptCount="10" formatCode="General">
          <cx:pt idx="0">0.79700000000000004</cx:pt>
          <cx:pt idx="1">0.79600000000000004</cx:pt>
          <cx:pt idx="2">0.79400000000000004</cx:pt>
          <cx:pt idx="3">0.79600000000000004</cx:pt>
          <cx:pt idx="4">0.79600000000000004</cx:pt>
          <cx:pt idx="5">0.79600000000000004</cx:pt>
          <cx:pt idx="6">0.79600000000000004</cx:pt>
          <cx:pt idx="7">0.79600000000000004</cx:pt>
          <cx:pt idx="8">0.79400000000000004</cx:pt>
          <cx:pt idx="9">0.79700000000000004</cx:pt>
        </cx:lvl>
      </cx:numDim>
    </cx:data>
    <cx:data id="10">
      <cx:numDim type="val">
        <cx:f>DefaultBoxW!$K$3:$K$12</cx:f>
        <cx:lvl ptCount="10" formatCode="General">
          <cx:pt idx="0">0.59499999999999997</cx:pt>
          <cx:pt idx="1">0.60099999999999998</cx:pt>
          <cx:pt idx="2">0.58899999999999997</cx:pt>
          <cx:pt idx="3">0.59499999999999997</cx:pt>
          <cx:pt idx="4">0.58899999999999997</cx:pt>
          <cx:pt idx="5">0.58999999999999997</cx:pt>
          <cx:pt idx="6">0.59399999999999997</cx:pt>
          <cx:pt idx="7">0.59499999999999997</cx:pt>
          <cx:pt idx="8">0.60699999999999998</cx:pt>
          <cx:pt idx="9">0.61899999999999999</cx:pt>
        </cx:lvl>
      </cx:numDim>
    </cx:data>
    <cx:data id="11">
      <cx:numDim type="val">
        <cx:f>DefaultBoxW!$L$3:$L$12</cx:f>
        <cx:lvl ptCount="10" formatCode="General">
          <cx:pt idx="0">0.77300000000000002</cx:pt>
          <cx:pt idx="1">0.77800000000000002</cx:pt>
          <cx:pt idx="2">0.77800000000000002</cx:pt>
          <cx:pt idx="3">0.77300000000000002</cx:pt>
          <cx:pt idx="4">0.77800000000000002</cx:pt>
          <cx:pt idx="5">0.77600000000000002</cx:pt>
          <cx:pt idx="6">0.77800000000000002</cx:pt>
          <cx:pt idx="7">0.77800000000000002</cx:pt>
          <cx:pt idx="8">0.77600000000000002</cx:pt>
          <cx:pt idx="9">0.77500000000000002</cx:pt>
        </cx:lvl>
      </cx:numDim>
    </cx:data>
  </cx:chartData>
  <cx:chart>
    <cx:title pos="t" align="ctr" overlay="0">
      <cx:tx>
        <cx:txData>
          <cx:v>Pair-wise Hamlet</cx:v>
        </cx:txData>
      </cx:tx>
      <cx:txPr>
        <a:bodyPr spcFirstLastPara="1" vertOverflow="ellipsis" horzOverflow="overflow" wrap="square" lIns="0" tIns="0" rIns="0" bIns="0" anchor="ctr" anchorCtr="1"/>
        <a:lstStyle/>
        <a:p>
          <a:pPr algn="ctr" rtl="0">
            <a:defRPr/>
          </a:pPr>
          <a:r>
            <a:rPr lang="en-US" sz="1400" b="0" i="0" u="none" strike="noStrike" baseline="0">
              <a:solidFill>
                <a:sysClr val="windowText" lastClr="000000">
                  <a:lumMod val="65000"/>
                  <a:lumOff val="35000"/>
                </a:sysClr>
              </a:solidFill>
              <a:latin typeface="Calibri" panose="020F0502020204030204"/>
            </a:rPr>
            <a:t>Pair-wise Hamlet</a:t>
          </a:r>
        </a:p>
      </cx:txPr>
    </cx:title>
    <cx:plotArea>
      <cx:plotAreaRegion>
        <cx:plotSurface>
          <cx:spPr>
            <a:ln w="12700">
              <a:solidFill>
                <a:schemeClr val="bg2">
                  <a:lumMod val="75000"/>
                </a:schemeClr>
              </a:solidFill>
            </a:ln>
          </cx:spPr>
        </cx:plotSurface>
        <cx:series layoutId="boxWhisker" uniqueId="{3BC0C591-C13C-D04A-B74B-2C288DD6488A}">
          <cx:spPr>
            <a:solidFill>
              <a:schemeClr val="tx1">
                <a:lumMod val="65000"/>
                <a:lumOff val="35000"/>
              </a:schemeClr>
            </a:solidFill>
          </cx:spPr>
          <cx:dataId val="0"/>
          <cx:layoutPr>
            <cx:visibility meanLine="0" meanMarker="1" nonoutliers="0" outliers="1"/>
            <cx:statistics quartileMethod="exclusive"/>
          </cx:layoutPr>
        </cx:series>
        <cx:series layoutId="boxWhisker" uniqueId="{F9C410D6-19A9-F041-BA9F-8149FA765751}">
          <cx:dataId val="1"/>
          <cx:layoutPr>
            <cx:visibility meanLine="0" meanMarker="1" nonoutliers="0" outliers="1"/>
            <cx:statistics quartileMethod="exclusive"/>
          </cx:layoutPr>
        </cx:series>
        <cx:series layoutId="boxWhisker" uniqueId="{F8487DCF-93DD-0043-BDC3-BE5C60DE7441}">
          <cx:dataId val="2"/>
          <cx:layoutPr>
            <cx:visibility meanLine="0" meanMarker="1" nonoutliers="0" outliers="1"/>
            <cx:statistics quartileMethod="exclusive"/>
          </cx:layoutPr>
        </cx:series>
        <cx:series layoutId="boxWhisker" uniqueId="{D531F100-47E3-EB40-B150-2AE0DAEBAC5F}">
          <cx:dataId val="3"/>
          <cx:layoutPr>
            <cx:visibility meanLine="0" meanMarker="1" nonoutliers="0" outliers="1"/>
            <cx:statistics quartileMethod="exclusive"/>
          </cx:layoutPr>
        </cx:series>
        <cx:series layoutId="boxWhisker" uniqueId="{9AD53F4E-2A3B-F944-A056-FC2D4DB7F6D1}">
          <cx:dataId val="4"/>
          <cx:layoutPr>
            <cx:visibility meanLine="0" meanMarker="1" nonoutliers="0" outliers="1"/>
            <cx:statistics quartileMethod="exclusive"/>
          </cx:layoutPr>
        </cx:series>
        <cx:series layoutId="boxWhisker" uniqueId="{F6708347-FFF1-C04C-B0A7-C59A125B1608}">
          <cx:dataId val="5"/>
          <cx:layoutPr>
            <cx:visibility meanLine="0" meanMarker="1" nonoutliers="0" outliers="1"/>
            <cx:statistics quartileMethod="exclusive"/>
          </cx:layoutPr>
        </cx:series>
        <cx:series layoutId="boxWhisker" uniqueId="{E4E65471-8865-0945-943F-1494AD0E2B95}">
          <cx:dataId val="6"/>
          <cx:layoutPr>
            <cx:visibility meanLine="0" meanMarker="1" nonoutliers="0" outliers="1"/>
            <cx:statistics quartileMethod="exclusive"/>
          </cx:layoutPr>
        </cx:series>
        <cx:series layoutId="boxWhisker" uniqueId="{D34CB524-8B5A-2643-BE71-C1FE8EFBAA8E}">
          <cx:spPr>
            <a:solidFill>
              <a:schemeClr val="tx1">
                <a:lumMod val="65000"/>
                <a:lumOff val="35000"/>
              </a:schemeClr>
            </a:solidFill>
          </cx:spPr>
          <cx:dataId val="7"/>
          <cx:layoutPr>
            <cx:visibility meanLine="0" meanMarker="1" nonoutliers="0" outliers="1"/>
            <cx:statistics quartileMethod="exclusive"/>
          </cx:layoutPr>
        </cx:series>
        <cx:series layoutId="boxWhisker" uniqueId="{6BFDE4DB-0201-C748-94A2-681068875C40}">
          <cx:dataId val="8"/>
          <cx:layoutPr>
            <cx:visibility meanLine="0" meanMarker="1" nonoutliers="0" outliers="1"/>
            <cx:statistics quartileMethod="exclusive"/>
          </cx:layoutPr>
        </cx:series>
        <cx:series layoutId="boxWhisker" uniqueId="{DA400589-5589-F24E-AE5C-5FD1B4FA5F76}">
          <cx:dataId val="9"/>
          <cx:layoutPr>
            <cx:visibility meanLine="0" meanMarker="1" nonoutliers="0" outliers="1"/>
            <cx:statistics quartileMethod="exclusive"/>
          </cx:layoutPr>
        </cx:series>
        <cx:series layoutId="boxWhisker" uniqueId="{1C2A591F-A1BC-7D42-BD5E-BCBDC510C4F5}">
          <cx:dataId val="10"/>
          <cx:layoutPr>
            <cx:visibility meanLine="0" meanMarker="1" nonoutliers="0" outliers="1"/>
            <cx:statistics quartileMethod="exclusive"/>
          </cx:layoutPr>
        </cx:series>
        <cx:series layoutId="boxWhisker" uniqueId="{FEA051FE-5CFC-9E4D-92A9-3EBCC951E97E}">
          <cx:dataId val="11"/>
          <cx:layoutPr>
            <cx:visibility meanLine="0" meanMarker="1" nonoutliers="0" outliers="1"/>
            <cx:statistics quartileMethod="exclusive"/>
          </cx:layoutPr>
        </cx:series>
      </cx:plotAreaRegion>
      <cx:axis id="0" hidden="1">
        <cx:catScaling gapWidth="1"/>
        <cx:tickLabels/>
      </cx:axis>
      <cx:axis id="1">
        <cx:valScaling min="0.5"/>
        <cx:majorGridlines/>
        <cx:tickLabels/>
      </cx:axis>
    </cx:plotArea>
  </cx:chart>
</cx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2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3.xml><?xml version="1.0" encoding="utf-8"?>
<cs:colorStyle xmlns:cs="http://schemas.microsoft.com/office/drawing/2012/chartStyle" xmlns:a="http://schemas.openxmlformats.org/drawingml/2006/main" meth="acrossLinear" id="1">
  <a:schemeClr val="dk1">
    <a:tint val="88000"/>
  </a:schemeClr>
  <a:schemeClr val="dk1">
    <a:tint val="55000"/>
  </a:schemeClr>
  <a:schemeClr val="dk1">
    <a:tint val="78000"/>
  </a:schemeClr>
  <a:schemeClr val="dk1">
    <a:tint val="92000"/>
  </a:schemeClr>
  <a:schemeClr val="dk1">
    <a:tint val="70000"/>
  </a:schemeClr>
  <a:schemeClr val="dk1">
    <a:tint val="30000"/>
  </a:schemeClr>
</cs:colorStyle>
</file>

<file path=ppt/charts/colors4.xml><?xml version="1.0" encoding="utf-8"?>
<cs:colorStyle xmlns:cs="http://schemas.microsoft.com/office/drawing/2012/chartStyle" xmlns:a="http://schemas.openxmlformats.org/drawingml/2006/main" meth="acrossLinear" id="1">
  <a:schemeClr val="dk1">
    <a:tint val="88000"/>
  </a:schemeClr>
  <a:schemeClr val="dk1">
    <a:tint val="55000"/>
  </a:schemeClr>
  <a:schemeClr val="dk1">
    <a:tint val="78000"/>
  </a:schemeClr>
  <a:schemeClr val="dk1">
    <a:tint val="92000"/>
  </a:schemeClr>
  <a:schemeClr val="dk1">
    <a:tint val="70000"/>
  </a:schemeClr>
  <a:schemeClr val="dk1">
    <a:tint val="30000"/>
  </a:schemeClr>
</cs:colorStyle>
</file>

<file path=ppt/charts/colors5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colors6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2.xml><?xml version="1.0" encoding="utf-8"?>
<cs:chartStyle xmlns:cs="http://schemas.microsoft.com/office/drawing/2012/chartStyle" xmlns:a="http://schemas.openxmlformats.org/drawingml/2006/main" id="40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9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/>
  </cs:chartArea>
  <cs:data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>
      <cs:styleClr val="auto"/>
    </cs:lnRef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>
        <a:solidFill>
          <a:schemeClr val="phClr"/>
        </a:solidFill>
      </a:ln>
    </cs:spPr>
  </cs:dataPoint>
  <cs:dataPoint3D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/>
    <cs:fillRef idx="0">
      <cs:styleClr val="auto"/>
    </cs:fillRef>
    <cs:effectRef idx="0"/>
    <cs:fontRef idx="minor">
      <a:schemeClr val="tx1"/>
    </cs:fontRef>
    <cs:spPr>
      <a:solidFill>
        <a:schemeClr val="phClr"/>
      </a:solidFill>
      <a:ln w="9525">
        <a:solidFill>
          <a:schemeClr val="lt1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ln w="9525">
        <a:solidFill>
          <a:schemeClr val="tx1">
            <a:lumMod val="15000"/>
            <a:lumOff val="85000"/>
          </a:schemeClr>
        </a:solidFill>
      </a:ln>
    </cs:spPr>
    <cs:defRPr sz="9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/>
  </cs:seriesAxis>
  <cs:seriesLine>
    <cs:lnRef idx="0"/>
    <cs:fillRef idx="0"/>
    <cs:effectRef idx="0"/>
    <cs:fontRef idx="minor">
      <a:schemeClr val="tx1"/>
    </cs:fontRef>
    <cs:spPr>
      <a:ln w="9525" cap="flat">
        <a:solidFill>
          <a:srgbClr val="D9D9D9"/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ash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/>
  </cs:valueAxis>
  <cs:wall>
    <cs:lnRef idx="0"/>
    <cs:fillRef idx="0"/>
    <cs:effectRef idx="0"/>
    <cs:fontRef idx="minor">
      <a:schemeClr val="tx1"/>
    </cs:fontRef>
  </cs:wall>
</cs:chartStyle>
</file>

<file path=ppt/charts/style3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4.xml><?xml version="1.0" encoding="utf-8"?>
<cs:chartStyle xmlns:cs="http://schemas.microsoft.com/office/drawing/2012/chartStyle" xmlns:a="http://schemas.openxmlformats.org/drawingml/2006/main" id="20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dk1"/>
    </cs:fontRef>
    <cs:spPr>
      <a:solidFill>
        <a:schemeClr val="dk1">
          <a:lumMod val="65000"/>
          <a:lumOff val="35000"/>
        </a:schemeClr>
      </a:solidFill>
      <a:ln w="9525">
        <a:solidFill>
          <a:schemeClr val="tx1">
            <a:lumMod val="65000"/>
            <a:lumOff val="35000"/>
          </a:schemeClr>
        </a:solidFill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75000"/>
            <a:lumOff val="25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dk1"/>
    </cs:fontRef>
    <cs:spPr>
      <a:solidFill>
        <a:schemeClr val="lt1"/>
      </a:solidFill>
      <a:ln w="9525">
        <a:solidFill>
          <a:schemeClr val="tx1">
            <a:lumMod val="15000"/>
            <a:lumOff val="85000"/>
          </a:schemeClr>
        </a:solidFill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5.xml><?xml version="1.0" encoding="utf-8"?>
<cs:chartStyle xmlns:cs="http://schemas.microsoft.com/office/drawing/2012/chartStyle" xmlns:a="http://schemas.openxmlformats.org/drawingml/2006/main" id="251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  <cs:spPr>
      <a:ln w="19050">
        <a:solidFill>
          <a:schemeClr val="lt1"/>
        </a:solidFill>
      </a:ln>
    </cs:spPr>
  </cs:dataPoint>
  <cs:dataPoint3D>
    <cs:lnRef idx="0"/>
    <cs:fillRef idx="1">
      <cs:styleClr val="auto"/>
    </cs:fillRef>
    <cs:effectRef idx="0"/>
    <cs:fontRef idx="minor">
      <a:schemeClr val="tx1"/>
    </cs:fontRef>
    <cs:spPr>
      <a:ln w="25400">
        <a:solidFill>
          <a:schemeClr val="lt1"/>
        </a:solidFill>
      </a:ln>
    </cs:spPr>
  </cs:dataPoint3D>
  <cs:dataPointLine>
    <cs:lnRef idx="0">
      <cs:styleClr val="auto"/>
    </cs:lnRef>
    <cs:fillRef idx="0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charts/style6.xml><?xml version="1.0" encoding="utf-8"?>
<cs:chartStyle xmlns:cs="http://schemas.microsoft.com/office/drawing/2012/chartStyle" xmlns:a="http://schemas.openxmlformats.org/drawingml/2006/main" id="216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28575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1"/>
    <cs:effectRef idx="0"/>
    <cs:fontRef idx="minor">
      <a:schemeClr val="tx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29106A9-65D0-4DDB-B4D9-3ABB722420F3}" type="doc">
      <dgm:prSet loTypeId="urn:microsoft.com/office/officeart/2005/8/layout/pyramid3" loCatId="pyramid" qsTypeId="urn:microsoft.com/office/officeart/2005/8/quickstyle/simple1" qsCatId="simple" csTypeId="urn:microsoft.com/office/officeart/2005/8/colors/accent1_2" csCatId="accent1" phldr="1"/>
      <dgm:spPr/>
    </dgm:pt>
    <dgm:pt modelId="{B4ED7B69-2BA1-4DC8-A4F6-131413BE39E1}">
      <dgm:prSet phldrT="[Text]" custT="1"/>
      <dgm:spPr>
        <a:solidFill>
          <a:schemeClr val="accent4">
            <a:lumMod val="20000"/>
            <a:lumOff val="80000"/>
          </a:schemeClr>
        </a:solidFill>
      </dgm:spPr>
      <dgm:t>
        <a:bodyPr/>
        <a:lstStyle/>
        <a:p>
          <a:r>
            <a:rPr lang="en-US" sz="3600" dirty="0"/>
            <a:t>Import</a:t>
          </a:r>
          <a:endParaRPr lang="en-US" sz="2400" dirty="0"/>
        </a:p>
      </dgm:t>
    </dgm:pt>
    <dgm:pt modelId="{D9984AD3-53E6-4CB4-BADC-735A23087767}" type="parTrans" cxnId="{DE490E23-68D1-4CF4-8FFA-DFC34A8BB744}">
      <dgm:prSet/>
      <dgm:spPr/>
      <dgm:t>
        <a:bodyPr/>
        <a:lstStyle/>
        <a:p>
          <a:endParaRPr lang="en-US" sz="2400"/>
        </a:p>
      </dgm:t>
    </dgm:pt>
    <dgm:pt modelId="{3CA0B1F0-F1F4-4A74-B1A5-252886726A47}" type="sibTrans" cxnId="{DE490E23-68D1-4CF4-8FFA-DFC34A8BB744}">
      <dgm:prSet/>
      <dgm:spPr/>
      <dgm:t>
        <a:bodyPr/>
        <a:lstStyle/>
        <a:p>
          <a:endParaRPr lang="en-US" sz="2400"/>
        </a:p>
      </dgm:t>
    </dgm:pt>
    <dgm:pt modelId="{394AD92B-8D02-40BA-9375-B9D0C935C6A0}">
      <dgm:prSet phldrT="[Text]" custT="1"/>
      <dgm:spPr>
        <a:solidFill>
          <a:schemeClr val="accent4">
            <a:lumMod val="60000"/>
            <a:lumOff val="40000"/>
          </a:schemeClr>
        </a:solidFill>
      </dgm:spPr>
      <dgm:t>
        <a:bodyPr/>
        <a:lstStyle/>
        <a:p>
          <a:r>
            <a:rPr lang="en-US" sz="3600" dirty="0"/>
            <a:t>Clean</a:t>
          </a:r>
          <a:endParaRPr lang="en-US" sz="2800" dirty="0"/>
        </a:p>
      </dgm:t>
    </dgm:pt>
    <dgm:pt modelId="{092442E8-E0C7-4588-8E83-712E0DCE1EEA}" type="parTrans" cxnId="{5F525CFB-9EDD-4648-B6C4-9952A4F12946}">
      <dgm:prSet/>
      <dgm:spPr/>
      <dgm:t>
        <a:bodyPr/>
        <a:lstStyle/>
        <a:p>
          <a:endParaRPr lang="en-US" sz="2400"/>
        </a:p>
      </dgm:t>
    </dgm:pt>
    <dgm:pt modelId="{C1EDC5C9-107E-4525-9035-F1BAF808F563}" type="sibTrans" cxnId="{5F525CFB-9EDD-4648-B6C4-9952A4F12946}">
      <dgm:prSet/>
      <dgm:spPr/>
      <dgm:t>
        <a:bodyPr/>
        <a:lstStyle/>
        <a:p>
          <a:endParaRPr lang="en-US" sz="2400"/>
        </a:p>
      </dgm:t>
    </dgm:pt>
    <dgm:pt modelId="{23C665DA-E74D-4D1A-9BD5-B7D1B22E6BF5}">
      <dgm:prSet phldrT="[Text]" custT="1"/>
      <dgm:spPr>
        <a:solidFill>
          <a:schemeClr val="accent2"/>
        </a:solidFill>
      </dgm:spPr>
      <dgm:t>
        <a:bodyPr/>
        <a:lstStyle/>
        <a:p>
          <a:r>
            <a:rPr lang="en-US" sz="3200" dirty="0"/>
            <a:t>Analyze</a:t>
          </a:r>
        </a:p>
        <a:p>
          <a:endParaRPr lang="en-US" sz="3200" dirty="0"/>
        </a:p>
      </dgm:t>
    </dgm:pt>
    <dgm:pt modelId="{63B1F526-8443-4F3A-8443-60EEB78B5990}" type="parTrans" cxnId="{80BA34F3-6951-4132-B60B-C78071A1B867}">
      <dgm:prSet/>
      <dgm:spPr/>
      <dgm:t>
        <a:bodyPr/>
        <a:lstStyle/>
        <a:p>
          <a:endParaRPr lang="en-US" sz="2400"/>
        </a:p>
      </dgm:t>
    </dgm:pt>
    <dgm:pt modelId="{8B79650E-31D8-4331-9F6B-75F440C58F92}" type="sibTrans" cxnId="{80BA34F3-6951-4132-B60B-C78071A1B867}">
      <dgm:prSet/>
      <dgm:spPr/>
      <dgm:t>
        <a:bodyPr/>
        <a:lstStyle/>
        <a:p>
          <a:endParaRPr lang="en-US" sz="2400"/>
        </a:p>
      </dgm:t>
    </dgm:pt>
    <dgm:pt modelId="{0EF2023F-CAAF-41A9-90CC-6CFA45818866}" type="pres">
      <dgm:prSet presAssocID="{829106A9-65D0-4DDB-B4D9-3ABB722420F3}" presName="Name0" presStyleCnt="0">
        <dgm:presLayoutVars>
          <dgm:dir/>
          <dgm:animLvl val="lvl"/>
          <dgm:resizeHandles val="exact"/>
        </dgm:presLayoutVars>
      </dgm:prSet>
      <dgm:spPr/>
    </dgm:pt>
    <dgm:pt modelId="{5EB366CD-ADBE-4F50-96F8-8CCEC7312FF1}" type="pres">
      <dgm:prSet presAssocID="{B4ED7B69-2BA1-4DC8-A4F6-131413BE39E1}" presName="Name8" presStyleCnt="0"/>
      <dgm:spPr/>
    </dgm:pt>
    <dgm:pt modelId="{7F8F42DE-91A9-4804-9DCE-FA8BF745DF8B}" type="pres">
      <dgm:prSet presAssocID="{B4ED7B69-2BA1-4DC8-A4F6-131413BE39E1}" presName="level" presStyleLbl="node1" presStyleIdx="0" presStyleCnt="3" custScaleX="100000" custScaleY="29854" custLinFactNeighborX="-1" custLinFactNeighborY="3480">
        <dgm:presLayoutVars>
          <dgm:chMax val="1"/>
          <dgm:bulletEnabled val="1"/>
        </dgm:presLayoutVars>
      </dgm:prSet>
      <dgm:spPr/>
    </dgm:pt>
    <dgm:pt modelId="{71328F0E-CCFF-4086-93A9-348DBD9399E2}" type="pres">
      <dgm:prSet presAssocID="{B4ED7B69-2BA1-4DC8-A4F6-131413BE39E1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6B3734E7-3B12-45CC-8800-B16B9DE9BC72}" type="pres">
      <dgm:prSet presAssocID="{394AD92B-8D02-40BA-9375-B9D0C935C6A0}" presName="Name8" presStyleCnt="0"/>
      <dgm:spPr/>
    </dgm:pt>
    <dgm:pt modelId="{1E45F9DD-8E5A-4238-8960-2E478337C6E6}" type="pres">
      <dgm:prSet presAssocID="{394AD92B-8D02-40BA-9375-B9D0C935C6A0}" presName="level" presStyleLbl="node1" presStyleIdx="1" presStyleCnt="3" custScaleX="103750" custScaleY="68500" custLinFactNeighborY="3462">
        <dgm:presLayoutVars>
          <dgm:chMax val="1"/>
          <dgm:bulletEnabled val="1"/>
        </dgm:presLayoutVars>
      </dgm:prSet>
      <dgm:spPr/>
    </dgm:pt>
    <dgm:pt modelId="{205F2E7A-CCBE-48BE-8CD7-EF12DDFB4750}" type="pres">
      <dgm:prSet presAssocID="{394AD92B-8D02-40BA-9375-B9D0C935C6A0}" presName="levelTx" presStyleLbl="revTx" presStyleIdx="0" presStyleCnt="0">
        <dgm:presLayoutVars>
          <dgm:chMax val="1"/>
          <dgm:bulletEnabled val="1"/>
        </dgm:presLayoutVars>
      </dgm:prSet>
      <dgm:spPr/>
    </dgm:pt>
    <dgm:pt modelId="{1C468544-1A2D-449C-95FF-A359F7C2D617}" type="pres">
      <dgm:prSet presAssocID="{23C665DA-E74D-4D1A-9BD5-B7D1B22E6BF5}" presName="Name8" presStyleCnt="0"/>
      <dgm:spPr/>
    </dgm:pt>
    <dgm:pt modelId="{AE8673BE-7D53-40C9-AC4A-11AC0124361A}" type="pres">
      <dgm:prSet presAssocID="{23C665DA-E74D-4D1A-9BD5-B7D1B22E6BF5}" presName="level" presStyleLbl="node1" presStyleIdx="2" presStyleCnt="3" custScaleX="114295" custScaleY="58622" custLinFactNeighborX="724" custLinFactNeighborY="-463">
        <dgm:presLayoutVars>
          <dgm:chMax val="1"/>
          <dgm:bulletEnabled val="1"/>
        </dgm:presLayoutVars>
      </dgm:prSet>
      <dgm:spPr/>
    </dgm:pt>
    <dgm:pt modelId="{D2595F8B-5E9F-4C1D-BB00-C89C7AD01386}" type="pres">
      <dgm:prSet presAssocID="{23C665DA-E74D-4D1A-9BD5-B7D1B22E6BF5}" presName="levelTx" presStyleLbl="revTx" presStyleIdx="0" presStyleCnt="0">
        <dgm:presLayoutVars>
          <dgm:chMax val="1"/>
          <dgm:bulletEnabled val="1"/>
        </dgm:presLayoutVars>
      </dgm:prSet>
      <dgm:spPr/>
    </dgm:pt>
  </dgm:ptLst>
  <dgm:cxnLst>
    <dgm:cxn modelId="{3EC9C81F-67CF-4A1F-9AF6-C419B3A5D9E5}" type="presOf" srcId="{23C665DA-E74D-4D1A-9BD5-B7D1B22E6BF5}" destId="{D2595F8B-5E9F-4C1D-BB00-C89C7AD01386}" srcOrd="1" destOrd="0" presId="urn:microsoft.com/office/officeart/2005/8/layout/pyramid3"/>
    <dgm:cxn modelId="{DE490E23-68D1-4CF4-8FFA-DFC34A8BB744}" srcId="{829106A9-65D0-4DDB-B4D9-3ABB722420F3}" destId="{B4ED7B69-2BA1-4DC8-A4F6-131413BE39E1}" srcOrd="0" destOrd="0" parTransId="{D9984AD3-53E6-4CB4-BADC-735A23087767}" sibTransId="{3CA0B1F0-F1F4-4A74-B1A5-252886726A47}"/>
    <dgm:cxn modelId="{E851412B-9D47-4708-B670-7F2C9DA3786C}" type="presOf" srcId="{394AD92B-8D02-40BA-9375-B9D0C935C6A0}" destId="{1E45F9DD-8E5A-4238-8960-2E478337C6E6}" srcOrd="0" destOrd="0" presId="urn:microsoft.com/office/officeart/2005/8/layout/pyramid3"/>
    <dgm:cxn modelId="{0761A97D-9303-4A5B-8B2D-D93E3159A411}" type="presOf" srcId="{394AD92B-8D02-40BA-9375-B9D0C935C6A0}" destId="{205F2E7A-CCBE-48BE-8CD7-EF12DDFB4750}" srcOrd="1" destOrd="0" presId="urn:microsoft.com/office/officeart/2005/8/layout/pyramid3"/>
    <dgm:cxn modelId="{B505AAB3-4A34-406B-8023-972167A8CE6D}" type="presOf" srcId="{B4ED7B69-2BA1-4DC8-A4F6-131413BE39E1}" destId="{71328F0E-CCFF-4086-93A9-348DBD9399E2}" srcOrd="1" destOrd="0" presId="urn:microsoft.com/office/officeart/2005/8/layout/pyramid3"/>
    <dgm:cxn modelId="{14133EC4-E300-489F-858C-AE8B58536133}" type="presOf" srcId="{B4ED7B69-2BA1-4DC8-A4F6-131413BE39E1}" destId="{7F8F42DE-91A9-4804-9DCE-FA8BF745DF8B}" srcOrd="0" destOrd="0" presId="urn:microsoft.com/office/officeart/2005/8/layout/pyramid3"/>
    <dgm:cxn modelId="{490F9BC6-CA5B-44DE-B72D-EBD95A96AD6F}" type="presOf" srcId="{829106A9-65D0-4DDB-B4D9-3ABB722420F3}" destId="{0EF2023F-CAAF-41A9-90CC-6CFA45818866}" srcOrd="0" destOrd="0" presId="urn:microsoft.com/office/officeart/2005/8/layout/pyramid3"/>
    <dgm:cxn modelId="{380803D4-8C2C-450C-9111-7F71273C3453}" type="presOf" srcId="{23C665DA-E74D-4D1A-9BD5-B7D1B22E6BF5}" destId="{AE8673BE-7D53-40C9-AC4A-11AC0124361A}" srcOrd="0" destOrd="0" presId="urn:microsoft.com/office/officeart/2005/8/layout/pyramid3"/>
    <dgm:cxn modelId="{80BA34F3-6951-4132-B60B-C78071A1B867}" srcId="{829106A9-65D0-4DDB-B4D9-3ABB722420F3}" destId="{23C665DA-E74D-4D1A-9BD5-B7D1B22E6BF5}" srcOrd="2" destOrd="0" parTransId="{63B1F526-8443-4F3A-8443-60EEB78B5990}" sibTransId="{8B79650E-31D8-4331-9F6B-75F440C58F92}"/>
    <dgm:cxn modelId="{5F525CFB-9EDD-4648-B6C4-9952A4F12946}" srcId="{829106A9-65D0-4DDB-B4D9-3ABB722420F3}" destId="{394AD92B-8D02-40BA-9375-B9D0C935C6A0}" srcOrd="1" destOrd="0" parTransId="{092442E8-E0C7-4588-8E83-712E0DCE1EEA}" sibTransId="{C1EDC5C9-107E-4525-9035-F1BAF808F563}"/>
    <dgm:cxn modelId="{DEE3A276-0A4D-4D69-B54B-B96771EE52A2}" type="presParOf" srcId="{0EF2023F-CAAF-41A9-90CC-6CFA45818866}" destId="{5EB366CD-ADBE-4F50-96F8-8CCEC7312FF1}" srcOrd="0" destOrd="0" presId="urn:microsoft.com/office/officeart/2005/8/layout/pyramid3"/>
    <dgm:cxn modelId="{E282704D-315F-4C0D-9969-BCE016879E09}" type="presParOf" srcId="{5EB366CD-ADBE-4F50-96F8-8CCEC7312FF1}" destId="{7F8F42DE-91A9-4804-9DCE-FA8BF745DF8B}" srcOrd="0" destOrd="0" presId="urn:microsoft.com/office/officeart/2005/8/layout/pyramid3"/>
    <dgm:cxn modelId="{63C7A84C-2A2C-4AC4-8A61-CB72C3898B73}" type="presParOf" srcId="{5EB366CD-ADBE-4F50-96F8-8CCEC7312FF1}" destId="{71328F0E-CCFF-4086-93A9-348DBD9399E2}" srcOrd="1" destOrd="0" presId="urn:microsoft.com/office/officeart/2005/8/layout/pyramid3"/>
    <dgm:cxn modelId="{353CC597-AB5B-4D5D-9D1A-F12EC66D257E}" type="presParOf" srcId="{0EF2023F-CAAF-41A9-90CC-6CFA45818866}" destId="{6B3734E7-3B12-45CC-8800-B16B9DE9BC72}" srcOrd="1" destOrd="0" presId="urn:microsoft.com/office/officeart/2005/8/layout/pyramid3"/>
    <dgm:cxn modelId="{CB6D52AA-A537-41A6-9729-4C98F87482F7}" type="presParOf" srcId="{6B3734E7-3B12-45CC-8800-B16B9DE9BC72}" destId="{1E45F9DD-8E5A-4238-8960-2E478337C6E6}" srcOrd="0" destOrd="0" presId="urn:microsoft.com/office/officeart/2005/8/layout/pyramid3"/>
    <dgm:cxn modelId="{579A2B8C-8A57-48FD-AE0F-93A60C2AADC6}" type="presParOf" srcId="{6B3734E7-3B12-45CC-8800-B16B9DE9BC72}" destId="{205F2E7A-CCBE-48BE-8CD7-EF12DDFB4750}" srcOrd="1" destOrd="0" presId="urn:microsoft.com/office/officeart/2005/8/layout/pyramid3"/>
    <dgm:cxn modelId="{A67052B5-1C33-45A8-91E2-BB9B9C153281}" type="presParOf" srcId="{0EF2023F-CAAF-41A9-90CC-6CFA45818866}" destId="{1C468544-1A2D-449C-95FF-A359F7C2D617}" srcOrd="2" destOrd="0" presId="urn:microsoft.com/office/officeart/2005/8/layout/pyramid3"/>
    <dgm:cxn modelId="{8B01988E-FB4E-4B8F-85E4-6C0155357236}" type="presParOf" srcId="{1C468544-1A2D-449C-95FF-A359F7C2D617}" destId="{AE8673BE-7D53-40C9-AC4A-11AC0124361A}" srcOrd="0" destOrd="0" presId="urn:microsoft.com/office/officeart/2005/8/layout/pyramid3"/>
    <dgm:cxn modelId="{D6420294-AE42-4007-A683-A5FA16256C43}" type="presParOf" srcId="{1C468544-1A2D-449C-95FF-A359F7C2D617}" destId="{D2595F8B-5E9F-4C1D-BB00-C89C7AD01386}" srcOrd="1" destOrd="0" presId="urn:microsoft.com/office/officeart/2005/8/layout/pyramid3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F8F42DE-91A9-4804-9DCE-FA8BF745DF8B}">
      <dsp:nvSpPr>
        <dsp:cNvPr id="0" name=""/>
        <dsp:cNvSpPr/>
      </dsp:nvSpPr>
      <dsp:spPr>
        <a:xfrm rot="10800000">
          <a:off x="0" y="71846"/>
          <a:ext cx="4389563" cy="616348"/>
        </a:xfrm>
        <a:prstGeom prst="trapezoid">
          <a:avLst>
            <a:gd name="adj" fmla="val 67723"/>
          </a:avLst>
        </a:prstGeom>
        <a:solidFill>
          <a:schemeClr val="accent4">
            <a:lumMod val="20000"/>
            <a:lumOff val="8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Import</a:t>
          </a:r>
          <a:endParaRPr lang="en-US" sz="2400" kern="1200" dirty="0"/>
        </a:p>
      </dsp:txBody>
      <dsp:txXfrm rot="-10800000">
        <a:off x="768173" y="71846"/>
        <a:ext cx="2853215" cy="616348"/>
      </dsp:txXfrm>
    </dsp:sp>
    <dsp:sp modelId="{1E45F9DD-8E5A-4238-8960-2E478337C6E6}">
      <dsp:nvSpPr>
        <dsp:cNvPr id="0" name=""/>
        <dsp:cNvSpPr/>
      </dsp:nvSpPr>
      <dsp:spPr>
        <a:xfrm rot="10800000">
          <a:off x="350756" y="687822"/>
          <a:ext cx="3688050" cy="1414210"/>
        </a:xfrm>
        <a:prstGeom prst="trapezoid">
          <a:avLst>
            <a:gd name="adj" fmla="val 67723"/>
          </a:avLst>
        </a:prstGeom>
        <a:solidFill>
          <a:schemeClr val="accent4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5720" tIns="45720" rIns="45720" bIns="45720" numCol="1" spcCol="1270" anchor="ctr" anchorCtr="0">
          <a:noAutofit/>
        </a:bodyPr>
        <a:lstStyle/>
        <a:p>
          <a:pPr marL="0" lvl="0" indent="0" algn="ctr" defTabSz="1600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600" kern="1200" dirty="0"/>
            <a:t>Clean</a:t>
          </a:r>
          <a:endParaRPr lang="en-US" sz="2800" kern="1200" dirty="0"/>
        </a:p>
      </dsp:txBody>
      <dsp:txXfrm rot="-10800000">
        <a:off x="996165" y="687822"/>
        <a:ext cx="2397232" cy="1414210"/>
      </dsp:txXfrm>
    </dsp:sp>
    <dsp:sp modelId="{AE8673BE-7D53-40C9-AC4A-11AC0124361A}">
      <dsp:nvSpPr>
        <dsp:cNvPr id="0" name=""/>
        <dsp:cNvSpPr/>
      </dsp:nvSpPr>
      <dsp:spPr>
        <a:xfrm rot="10800000">
          <a:off x="1269851" y="2020999"/>
          <a:ext cx="1873595" cy="1210275"/>
        </a:xfrm>
        <a:prstGeom prst="trapezoid">
          <a:avLst>
            <a:gd name="adj" fmla="val 67723"/>
          </a:avLst>
        </a:prstGeom>
        <a:solidFill>
          <a:schemeClr val="accent2"/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40640" tIns="40640" rIns="40640" bIns="40640" numCol="1" spcCol="1270" anchor="ctr" anchorCtr="0">
          <a:noAutofit/>
        </a:bodyPr>
        <a:lstStyle/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3200" kern="1200" dirty="0"/>
            <a:t>Analyze</a:t>
          </a:r>
        </a:p>
        <a:p>
          <a:pPr marL="0" lvl="0" indent="0" algn="ctr" defTabSz="1422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3200" kern="1200" dirty="0"/>
        </a:p>
      </dsp:txBody>
      <dsp:txXfrm rot="-10800000">
        <a:off x="1269851" y="2020999"/>
        <a:ext cx="1873595" cy="1210275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yramid3">
  <dgm:title val=""/>
  <dgm:desc val=""/>
  <dgm:catLst>
    <dgm:cat type="pyramid" pri="2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animLvl val="lvl"/>
      <dgm:resizeHandles val="exact"/>
    </dgm:varLst>
    <dgm:choose name="Name1">
      <dgm:if name="Name2" func="var" arg="dir" op="equ" val="norm">
        <dgm:alg type="pyra">
          <dgm:param type="linDir" val="fromT"/>
          <dgm:param type="txDir" val="fromT"/>
          <dgm:param type="pyraAcctPos" val="aft"/>
          <dgm:param type="pyraAcctTxMar" val="step"/>
          <dgm:param type="pyraAcctBkgdNode" val="acctBkgd"/>
          <dgm:param type="pyraAcctTxNode" val="acctTx"/>
          <dgm:param type="pyraLvlNode" val="level"/>
        </dgm:alg>
      </dgm:if>
      <dgm:else name="Name3">
        <dgm:alg type="pyra">
          <dgm:param type="linDir" val="fromT"/>
          <dgm:param type="txDir" val="fromT"/>
          <dgm:param type="pyraAcctPos" val="bef"/>
          <dgm:param type="pyraAcctTxMar" val="step"/>
          <dgm:param type="pyraAcctBkgdNode" val="acctBkgd"/>
          <dgm:param type="pyraAcctTxNode" val="acctTx"/>
          <dgm:param type="pyraLvlNode" val="level"/>
        </dgm:alg>
      </dgm:else>
    </dgm:choose>
    <dgm:shape xmlns:r="http://schemas.openxmlformats.org/officeDocument/2006/relationships" r:blip="">
      <dgm:adjLst/>
    </dgm:shape>
    <dgm:presOf/>
    <dgm:choose name="Name4">
      <dgm:if name="Name5" axis="root des" ptType="all node" func="maxDepth" op="gte" val="2">
        <dgm:constrLst>
          <dgm:constr type="primFontSz" for="des" forName="levelTx" op="equ"/>
          <dgm:constr type="secFontSz" for="des" forName="acctTx" op="equ"/>
          <dgm:constr type="pyraAcctRatio" val="0.32"/>
        </dgm:constrLst>
      </dgm:if>
      <dgm:else name="Name6">
        <dgm:constrLst>
          <dgm:constr type="primFontSz" for="des" forName="levelTx" op="equ"/>
          <dgm:constr type="secFontSz" for="des" forName="acctTx" op="equ"/>
          <dgm:constr type="pyraAcctRatio"/>
        </dgm:constrLst>
      </dgm:else>
    </dgm:choose>
    <dgm:ruleLst/>
    <dgm:forEach name="Name7" axis="ch" ptType="node">
      <dgm:layoutNode name="Name8">
        <dgm:alg type="composite">
          <dgm:param type="horzAlign" val="none"/>
        </dgm:alg>
        <dgm:shape xmlns:r="http://schemas.openxmlformats.org/officeDocument/2006/relationships" r:blip="">
          <dgm:adjLst/>
        </dgm:shape>
        <dgm:presOf/>
        <dgm:choose name="Name9">
          <dgm:if name="Name10" axis="self" ptType="node" func="revPos" op="equ" val="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/>
              <dgm:constr type="h" for="ch" forName="levelTx" refType="h" refFor="ch" refForName="level"/>
            </dgm:constrLst>
          </dgm:if>
          <dgm:else name="Name11">
            <dgm:constrLst>
              <dgm:constr type="ctrX" for="ch" forName="acctBkgd" val="1"/>
              <dgm:constr type="ctrY" for="ch" forName="acctBkgd" val="1"/>
              <dgm:constr type="w" for="ch" forName="acctBkgd" val="1"/>
              <dgm:constr type="h" for="ch" forName="acctBkgd" val="1"/>
              <dgm:constr type="ctrX" for="ch" forName="acctTx" val="1"/>
              <dgm:constr type="ctrY" for="ch" forName="acctTx" val="1"/>
              <dgm:constr type="w" for="ch" forName="acctTx" val="1"/>
              <dgm:constr type="h" for="ch" forName="acctTx" val="1"/>
              <dgm:constr type="ctrX" for="ch" forName="level" val="1"/>
              <dgm:constr type="ctrY" for="ch" forName="level" val="1"/>
              <dgm:constr type="w" for="ch" forName="level" val="1"/>
              <dgm:constr type="h" for="ch" forName="level" val="1"/>
              <dgm:constr type="ctrX" for="ch" forName="levelTx" refType="ctrX" refFor="ch" refForName="level"/>
              <dgm:constr type="ctrY" for="ch" forName="levelTx" refType="ctrY" refFor="ch" refForName="level"/>
              <dgm:constr type="w" for="ch" forName="levelTx" refType="w" refFor="ch" refForName="level" fact="0.65"/>
              <dgm:constr type="h" for="ch" forName="levelTx" refType="h" refFor="ch" refForName="level"/>
            </dgm:constrLst>
          </dgm:else>
        </dgm:choose>
        <dgm:ruleLst/>
        <dgm:choose name="Name12">
          <dgm:if name="Name13" axis="ch" ptType="node" func="cnt" op="gte" val="1">
            <dgm:layoutNode name="acctBkgd" styleLbl="alignAcc1">
              <dgm:alg type="sp"/>
              <dgm:shape xmlns:r="http://schemas.openxmlformats.org/officeDocument/2006/relationships" type="nonIsoscelesTrapezoid" r:blip="">
                <dgm:adjLst/>
              </dgm:shape>
              <dgm:presOf axis="des" ptType="node"/>
              <dgm:constrLst/>
              <dgm:ruleLst/>
            </dgm:layoutNode>
            <dgm:layoutNode name="acctTx" styleLbl="alignAcc1">
              <dgm:varLst>
                <dgm:bulletEnabled val="1"/>
              </dgm:varLst>
              <dgm:alg type="tx">
                <dgm:param type="stBulletLvl" val="1"/>
                <dgm:param type="txAnchorVertCh" val="t"/>
              </dgm:alg>
              <dgm:shape xmlns:r="http://schemas.openxmlformats.org/officeDocument/2006/relationships" type="nonIsoscelesTrapezoid" r:blip="" hideGeom="1">
                <dgm:adjLst/>
              </dgm:shape>
              <dgm:presOf axis="des" ptType="node"/>
              <dgm:constrLst>
                <dgm:constr type="secFontSz" val="65"/>
                <dgm:constr type="primFontSz" refType="secFontSz"/>
                <dgm:constr type="tMarg" refType="secFontSz" fact="0.3"/>
                <dgm:constr type="bMarg" refType="secFontSz" fact="0.3"/>
                <dgm:constr type="lMarg" refType="secFontSz" fact="0.3"/>
                <dgm:constr type="rMarg" refType="secFontSz" fact="0.3"/>
              </dgm:constrLst>
              <dgm:ruleLst>
                <dgm:rule type="secFontSz" val="5" fact="NaN" max="NaN"/>
              </dgm:ruleLst>
            </dgm:layoutNode>
          </dgm:if>
          <dgm:else name="Name14"/>
        </dgm:choose>
        <dgm:layoutNode name="level">
          <dgm:varLst>
            <dgm:chMax val="1"/>
            <dgm:bulletEnabled val="1"/>
          </dgm:varLst>
          <dgm:alg type="sp"/>
          <dgm:shape xmlns:r="http://schemas.openxmlformats.org/officeDocument/2006/relationships" type="trapezoid" r:blip="">
            <dgm:adjLst/>
          </dgm:shape>
          <dgm:presOf axis="self"/>
          <dgm:constrLst>
            <dgm:constr type="h" val="500"/>
            <dgm:constr type="w" val="1"/>
          </dgm:constrLst>
          <dgm:ruleLst/>
        </dgm:layoutNode>
        <dgm:layoutNode name="levelTx" styleLbl="revTx">
          <dgm:varLst>
            <dgm:chMax val="1"/>
            <dgm:bulletEnabled val="1"/>
          </dgm:varLst>
          <dgm:alg type="tx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tMarg" refType="primFontSz" fact="0.1"/>
            <dgm:constr type="bMarg" refType="primFontSz" fact="0.1"/>
            <dgm:constr type="lMarg" refType="primFontSz" fact="0.1"/>
            <dgm:constr type="rMarg" refType="primFontSz" fact="0.1"/>
            <dgm:constr type="primFontSz" val="65"/>
          </dgm:constrLst>
          <dgm:ruleLst>
            <dgm:rule type="primFontSz" val="5" fact="NaN" max="NaN"/>
          </dgm:ruleLst>
        </dgm:layoutNode>
      </dgm:layoutNode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drawing1.xml><?xml version="1.0" encoding="utf-8"?>
<c:userShapes xmlns:c="http://schemas.openxmlformats.org/drawingml/2006/chart">
  <cdr:relSizeAnchor xmlns:cdr="http://schemas.openxmlformats.org/drawingml/2006/chartDrawing">
    <cdr:from>
      <cdr:x>0.5</cdr:x>
      <cdr:y>0.4375</cdr:y>
    </cdr:from>
    <cdr:to>
      <cdr:x>0.7</cdr:x>
      <cdr:y>0.77083</cdr:y>
    </cdr:to>
    <cdr:sp macro="" textlink="">
      <cdr:nvSpPr>
        <cdr:cNvPr id="2" name="TextBox 1">
          <a:extLst xmlns:a="http://schemas.openxmlformats.org/drawingml/2006/main">
            <a:ext uri="{FF2B5EF4-FFF2-40B4-BE49-F238E27FC236}">
              <a16:creationId xmlns:a16="http://schemas.microsoft.com/office/drawing/2014/main" id="{0EFBF45F-DE29-4FCB-9A64-A10723EC3DAA}"/>
            </a:ext>
          </a:extLst>
        </cdr:cNvPr>
        <cdr:cNvSpPr txBox="1"/>
      </cdr:nvSpPr>
      <cdr:spPr>
        <a:xfrm xmlns:a="http://schemas.openxmlformats.org/drawingml/2006/main">
          <a:off x="2286000" y="1200150"/>
          <a:ext cx="914400" cy="914400"/>
        </a:xfrm>
        <a:prstGeom xmlns:a="http://schemas.openxmlformats.org/drawingml/2006/main" prst="rect">
          <a:avLst/>
        </a:prstGeom>
      </cdr:spPr>
      <cdr:txBody>
        <a:bodyPr xmlns:a="http://schemas.openxmlformats.org/drawingml/2006/main" vertOverflow="clip" wrap="none" rtlCol="0"/>
        <a:lstStyle xmlns:a="http://schemas.openxmlformats.org/drawingml/2006/main"/>
        <a:p xmlns:a="http://schemas.openxmlformats.org/drawingml/2006/main">
          <a:r>
            <a:rPr lang="en-US" sz="2000" dirty="0"/>
            <a:t>57.7%</a:t>
          </a:r>
        </a:p>
      </cdr:txBody>
    </cdr:sp>
  </cdr:relSizeAnchor>
</c:userShape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970338" y="0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953D8CE-89AB-4B31-B64D-F8B00203A2AE}" type="datetimeFigureOut">
              <a:rPr lang="en-US" smtClean="0"/>
              <a:t>9/4/2019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717550" y="1162050"/>
            <a:ext cx="5575300" cy="31369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01675" y="4473575"/>
            <a:ext cx="5607050" cy="3660775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970338" y="8829675"/>
            <a:ext cx="3038475" cy="466725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D34C1011-3EAA-4C0E-9FA3-2BCB9C18823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9692442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73D3A68-B226-409D-B4F0-34882F9E5A97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353053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D984EC2-5CA7-4285-9D7A-656F924A3A7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F7BF228-B264-4F72-9A2D-61A0F9DC510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D007E14-B390-4219-A59F-D3A036C841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59B0272-E55A-4DC1-A14B-57686F62E6BD}" type="datetimeFigureOut">
              <a:rPr lang="en-US" smtClean="0"/>
              <a:t>9/4/2019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ACC06D-E943-4AC1-8124-C82B5F8BAF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0DF341D-7234-44BE-9323-9F33EB6359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08CD9DD-6E24-4BC9-AFE9-2EAD8EF814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825816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0BDBFB6-8166-4F52-A44A-964DB527160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200" y="73363"/>
            <a:ext cx="10896600" cy="668625"/>
          </a:xfrm>
        </p:spPr>
        <p:txBody>
          <a:bodyPr/>
          <a:lstStyle>
            <a:lvl1pPr>
              <a:defRPr>
                <a:solidFill>
                  <a:schemeClr val="bg1">
                    <a:lumMod val="6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9872892-115A-425C-9B67-F7DFADD2DF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20367"/>
            <a:ext cx="10896600" cy="5601564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 dirty="0"/>
              <a:t>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75E20772-8E92-4BC6-B6A2-B1F1603B46D2}"/>
              </a:ext>
            </a:extLst>
          </p:cNvPr>
          <p:cNvCxnSpPr/>
          <p:nvPr userDrawn="1"/>
        </p:nvCxnSpPr>
        <p:spPr>
          <a:xfrm>
            <a:off x="457200" y="763009"/>
            <a:ext cx="1121179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469165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D2C81A6-A5E3-43BA-B080-269D62C3B7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E6E3701-2414-4C8E-B710-A5956858738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AF64B60-33C6-4191-9521-77B94B5B918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59B0272-E55A-4DC1-A14B-57686F62E6BD}" type="datetimeFigureOut">
              <a:rPr lang="en-US" smtClean="0"/>
              <a:pPr/>
              <a:t>9/4/2019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90F2903-D41C-4322-8FC5-D7F4AD67D2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EAC0365-388A-4CE5-ABCB-F530EC1F8F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08CD9DD-6E24-4BC9-AFE9-2EAD8EF814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965127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5A88A24-E618-4EC9-8F41-993F11765A7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FC758B9-A640-451A-94A3-6A0301413B37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7E129F2-0FE3-407E-A981-6F62603CB8D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03125C-0F95-4F4B-9756-76EDC575BC9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59B0272-E55A-4DC1-A14B-57686F62E6BD}" type="datetimeFigureOut">
              <a:rPr lang="en-US" smtClean="0"/>
              <a:pPr/>
              <a:t>9/4/2019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BFD324B-3696-4CEB-BFD3-BFD45FD841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AE9B040-0795-43BF-99E4-BD9B12760A7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08CD9DD-6E24-4BC9-AFE9-2EAD8EF814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783160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E544B2-C218-431F-A5F6-1706383B8A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CB06206-2BE7-4BC0-8775-34FB54C3AA0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79CCB55-28F6-46EF-B8C4-9D65FA6072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9996C90-EE37-4C0A-BBB2-20237657BE2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BB1379B-5394-4350-82FA-44C88989164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8B5A873-419A-413F-A182-D2F71F4FE1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59B0272-E55A-4DC1-A14B-57686F62E6BD}" type="datetimeFigureOut">
              <a:rPr lang="en-US" smtClean="0"/>
              <a:pPr/>
              <a:t>9/4/2019</a:t>
            </a:fld>
            <a:endParaRPr lang="en-US" dirty="0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1E1A484-1DAE-4CDA-91B2-86B7995D50D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00AE610-A71E-4416-B9FE-DBBFB2BA89D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08CD9DD-6E24-4BC9-AFE9-2EAD8EF814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5340266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E01713A-BF9A-4CE7-A0DC-6607F715E7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71047F5-DA48-4F6E-98AF-F11E845287D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59B0272-E55A-4DC1-A14B-57686F62E6BD}" type="datetimeFigureOut">
              <a:rPr lang="en-US" smtClean="0"/>
              <a:pPr/>
              <a:t>9/4/2019</a:t>
            </a:fld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389DE1F-CD8D-49BA-BF65-009EF507A0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C4B73E84-8CFB-4ADF-AA22-22FDBE62A6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08CD9DD-6E24-4BC9-AFE9-2EAD8EF814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3702828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E4BBEE0-6A57-4D59-ADC5-F7EC23E8C71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59B0272-E55A-4DC1-A14B-57686F62E6BD}" type="datetimeFigureOut">
              <a:rPr lang="en-US" smtClean="0"/>
              <a:pPr/>
              <a:t>9/4/2019</a:t>
            </a:fld>
            <a:endParaRPr lang="en-US" dirty="0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FA91C269-9206-417D-89C2-276FFC31868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E999EE-8294-4140-A9AD-8A5EFCC5119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08CD9DD-6E24-4BC9-AFE9-2EAD8EF814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14797526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1BD8AD-68A5-4A86-BEB0-AB3FCE1526B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29031BE-93C0-429E-B29F-8C50900213F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 sz="2800"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 sz="2400"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 sz="2000"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5ED4C71-0FCC-4E89-AB95-41F4013071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27B41B-1694-4DF2-AEF6-2F31996CA79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59B0272-E55A-4DC1-A14B-57686F62E6BD}" type="datetimeFigureOut">
              <a:rPr lang="en-US" smtClean="0"/>
              <a:pPr/>
              <a:t>9/4/2019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8696A1A-42EF-472C-A7F8-6C9E4C2A03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666782F-9514-4F84-A9F1-D276870895B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08CD9DD-6E24-4BC9-AFE9-2EAD8EF814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4272711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AE4069A-DAB5-4310-AF02-B8382506BFE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6273945-B275-44F2-94C2-82883DD1690E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F55B59B-EF91-4ACC-BFD6-EACF4B5EF48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6BFA464-AEBE-43CA-855E-4E30DAAA35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59B0272-E55A-4DC1-A14B-57686F62E6BD}" type="datetimeFigureOut">
              <a:rPr lang="en-US" smtClean="0"/>
              <a:pPr/>
              <a:t>9/4/2019</a:t>
            </a:fld>
            <a:endParaRPr lang="en-US" dirty="0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752FED8-36DF-4C31-BB33-83CF1B7DED1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F81149B-F339-4CAF-8F80-FD7DA48D41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08CD9DD-6E24-4BC9-AFE9-2EAD8EF814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08469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75986A-12AB-4EA3-ADC8-8F53826E2C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7472BC2F-0D37-4B48-A232-F222FD9DD0A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020D126-475F-47FB-BA48-34DB2E8B0B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59B0272-E55A-4DC1-A14B-57686F62E6BD}" type="datetimeFigureOut">
              <a:rPr lang="en-US" smtClean="0"/>
              <a:pPr/>
              <a:t>9/4/2019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F21173E-3ECD-4A34-958F-B6CA7257F5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0149A38-F11D-403D-9192-CF9DC42DCF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08CD9DD-6E24-4BC9-AFE9-2EAD8EF814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221111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439DE6D2-5865-440A-A54E-B8B2A954BA09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8BC9EB99-2F9D-4FE9-BE3A-2594199BE25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  <a:lvl2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2pPr>
            <a:lvl3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3pPr>
            <a:lvl4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4pPr>
            <a:lvl5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5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9B97DD1-0D91-4AD9-B0A1-DBAE0792FE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C59B0272-E55A-4DC1-A14B-57686F62E6BD}" type="datetimeFigureOut">
              <a:rPr lang="en-US" smtClean="0"/>
              <a:pPr/>
              <a:t>9/4/2019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82BFF8F-726C-479C-AB05-F4F34AD166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1532301-0B01-4502-A257-B5E0DF02A2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Times New Roman" panose="02020603050405020304" pitchFamily="18" charset="0"/>
                <a:cs typeface="Times New Roman" panose="02020603050405020304" pitchFamily="18" charset="0"/>
              </a:defRPr>
            </a:lvl1pPr>
          </a:lstStyle>
          <a:p>
            <a:fld id="{808CD9DD-6E24-4BC9-AFE9-2EAD8EF8146E}" type="slidenum">
              <a:rPr lang="en-US" smtClean="0"/>
              <a:pPr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6120953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FABD98E9-9088-44F2-9D28-CD3AD9AF9C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33CEFC5-6EEA-46B1-A651-EBC60261559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C64073A-6E18-46B7-8952-106A0F573BBE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9B0272-E55A-4DC1-A14B-57686F62E6BD}" type="datetimeFigureOut">
              <a:rPr lang="en-US" smtClean="0"/>
              <a:t>9/4/2019</a:t>
            </a:fld>
            <a:endParaRPr lang="en-US" dirty="0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EE84328-0ABA-43C9-9928-2393AF588FB9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92D3BA5-920C-4478-A40D-7A3F10D8B7C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08CD9DD-6E24-4BC9-AFE9-2EAD8EF8146E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893644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tiff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tiff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hyperlink" Target="http://www.opensourceshakespeare.org/views/plays/playmenu.php?WorkID=measure" TargetMode="External"/><Relationship Id="rId13" Type="http://schemas.openxmlformats.org/officeDocument/2006/relationships/hyperlink" Target="http://www.opensourceshakespeare.org/views/plays/playmenu.php?WorkID=tamingshrew" TargetMode="External"/><Relationship Id="rId18" Type="http://schemas.openxmlformats.org/officeDocument/2006/relationships/hyperlink" Target="http://www.opensourceshakespeare.org/views/plays/playmenu.php?WorkID=henry4p1" TargetMode="External"/><Relationship Id="rId26" Type="http://schemas.openxmlformats.org/officeDocument/2006/relationships/hyperlink" Target="http://www.opensourceshakespeare.org/views/plays/playmenu.php?WorkID=pericles" TargetMode="External"/><Relationship Id="rId39" Type="http://schemas.openxmlformats.org/officeDocument/2006/relationships/hyperlink" Target="http://www.opensourceshakespeare.org/views/plays/playmenu.php?WorkID=titus" TargetMode="External"/><Relationship Id="rId3" Type="http://schemas.openxmlformats.org/officeDocument/2006/relationships/image" Target="../media/image3.png"/><Relationship Id="rId21" Type="http://schemas.openxmlformats.org/officeDocument/2006/relationships/hyperlink" Target="http://www.opensourceshakespeare.org/views/plays/playmenu.php?WorkID=henry6p1" TargetMode="External"/><Relationship Id="rId34" Type="http://schemas.openxmlformats.org/officeDocument/2006/relationships/hyperlink" Target="http://www.opensourceshakespeare.org/views/plays/playmenu.php?WorkID=kinglear" TargetMode="External"/><Relationship Id="rId7" Type="http://schemas.openxmlformats.org/officeDocument/2006/relationships/hyperlink" Target="http://www.opensourceshakespeare.org/views/plays/playmenu.php?WorkID=loveslabours" TargetMode="External"/><Relationship Id="rId12" Type="http://schemas.openxmlformats.org/officeDocument/2006/relationships/hyperlink" Target="http://www.opensourceshakespeare.org/views/plays/playmenu.php?WorkID=muchado" TargetMode="External"/><Relationship Id="rId17" Type="http://schemas.openxmlformats.org/officeDocument/2006/relationships/hyperlink" Target="http://www.opensourceshakespeare.org/views/plays/playmenu.php?WorkID=winterstale" TargetMode="External"/><Relationship Id="rId25" Type="http://schemas.openxmlformats.org/officeDocument/2006/relationships/hyperlink" Target="http://www.opensourceshakespeare.org/views/plays/playmenu.php?WorkID=kingjohn" TargetMode="External"/><Relationship Id="rId33" Type="http://schemas.openxmlformats.org/officeDocument/2006/relationships/hyperlink" Target="http://www.opensourceshakespeare.org/views/plays/playmenu.php?WorkID=juliuscaesar" TargetMode="External"/><Relationship Id="rId38" Type="http://schemas.openxmlformats.org/officeDocument/2006/relationships/hyperlink" Target="http://www.opensourceshakespeare.org/views/plays/playmenu.php?WorkID=timonathens" TargetMode="External"/><Relationship Id="rId2" Type="http://schemas.openxmlformats.org/officeDocument/2006/relationships/notesSlide" Target="../notesSlides/notesSlide1.xml"/><Relationship Id="rId16" Type="http://schemas.openxmlformats.org/officeDocument/2006/relationships/hyperlink" Target="http://www.opensourceshakespeare.org/views/plays/playmenu.php?WorkID=twogents" TargetMode="External"/><Relationship Id="rId20" Type="http://schemas.openxmlformats.org/officeDocument/2006/relationships/hyperlink" Target="http://www.opensourceshakespeare.org/views/plays/playmenu.php?WorkID=henry5" TargetMode="External"/><Relationship Id="rId29" Type="http://schemas.openxmlformats.org/officeDocument/2006/relationships/hyperlink" Target="http://www.opensourceshakespeare.org/views/plays/playmenu.php?WorkID=antonycleo" TargetMode="External"/><Relationship Id="rId41" Type="http://schemas.openxmlformats.org/officeDocument/2006/relationships/image" Target="../media/image1.tiff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opensourceshakespeare.org/views/plays/playmenu.php?WorkID=comedyerrors" TargetMode="External"/><Relationship Id="rId11" Type="http://schemas.openxmlformats.org/officeDocument/2006/relationships/hyperlink" Target="http://www.opensourceshakespeare.org/views/plays/playmenu.php?WorkID=midsummer" TargetMode="External"/><Relationship Id="rId24" Type="http://schemas.openxmlformats.org/officeDocument/2006/relationships/hyperlink" Target="http://www.opensourceshakespeare.org/views/plays/playmenu.php?WorkID=henry8" TargetMode="External"/><Relationship Id="rId32" Type="http://schemas.openxmlformats.org/officeDocument/2006/relationships/hyperlink" Target="http://www.opensourceshakespeare.org/views/plays/playmenu.php?WorkID=hamlet" TargetMode="External"/><Relationship Id="rId37" Type="http://schemas.openxmlformats.org/officeDocument/2006/relationships/hyperlink" Target="http://www.opensourceshakespeare.org/views/plays/playmenu.php?WorkID=romeojuliet" TargetMode="External"/><Relationship Id="rId40" Type="http://schemas.openxmlformats.org/officeDocument/2006/relationships/hyperlink" Target="http://www.opensourceshakespeare.org/views/plays/playmenu.php?WorkID=troilus" TargetMode="External"/><Relationship Id="rId5" Type="http://schemas.openxmlformats.org/officeDocument/2006/relationships/hyperlink" Target="http://www.opensourceshakespeare.org/views/plays/playmenu.php?WorkID=asyoulikeit" TargetMode="External"/><Relationship Id="rId15" Type="http://schemas.openxmlformats.org/officeDocument/2006/relationships/hyperlink" Target="http://www.opensourceshakespeare.org/views/plays/playmenu.php?WorkID=12night" TargetMode="External"/><Relationship Id="rId23" Type="http://schemas.openxmlformats.org/officeDocument/2006/relationships/hyperlink" Target="http://www.opensourceshakespeare.org/views/plays/playmenu.php?WorkID=henry6p3" TargetMode="External"/><Relationship Id="rId28" Type="http://schemas.openxmlformats.org/officeDocument/2006/relationships/hyperlink" Target="http://www.opensourceshakespeare.org/views/plays/playmenu.php?WorkID=richard3" TargetMode="External"/><Relationship Id="rId36" Type="http://schemas.openxmlformats.org/officeDocument/2006/relationships/hyperlink" Target="http://www.opensourceshakespeare.org/views/plays/playmenu.php?WorkID=othello" TargetMode="External"/><Relationship Id="rId10" Type="http://schemas.openxmlformats.org/officeDocument/2006/relationships/hyperlink" Target="http://www.opensourceshakespeare.org/views/plays/playmenu.php?WorkID=merrywives" TargetMode="External"/><Relationship Id="rId19" Type="http://schemas.openxmlformats.org/officeDocument/2006/relationships/hyperlink" Target="http://www.opensourceshakespeare.org/views/plays/playmenu.php?WorkID=henry4p2" TargetMode="External"/><Relationship Id="rId31" Type="http://schemas.openxmlformats.org/officeDocument/2006/relationships/hyperlink" Target="http://www.opensourceshakespeare.org/views/plays/playmenu.php?WorkID=cymbeline" TargetMode="External"/><Relationship Id="rId4" Type="http://schemas.openxmlformats.org/officeDocument/2006/relationships/hyperlink" Target="http://www.opensourceshakespeare.org/views/plays/playmenu.php?WorkID=allswell" TargetMode="External"/><Relationship Id="rId9" Type="http://schemas.openxmlformats.org/officeDocument/2006/relationships/hyperlink" Target="http://www.opensourceshakespeare.org/views/plays/playmenu.php?WorkID=merchantvenice" TargetMode="External"/><Relationship Id="rId14" Type="http://schemas.openxmlformats.org/officeDocument/2006/relationships/hyperlink" Target="http://www.opensourceshakespeare.org/views/plays/playmenu.php?WorkID=tempest" TargetMode="External"/><Relationship Id="rId22" Type="http://schemas.openxmlformats.org/officeDocument/2006/relationships/hyperlink" Target="http://www.opensourceshakespeare.org/views/plays/playmenu.php?WorkID=henry6p2" TargetMode="External"/><Relationship Id="rId27" Type="http://schemas.openxmlformats.org/officeDocument/2006/relationships/hyperlink" Target="http://www.opensourceshakespeare.org/views/plays/playmenu.php?WorkID=richard2" TargetMode="External"/><Relationship Id="rId30" Type="http://schemas.openxmlformats.org/officeDocument/2006/relationships/hyperlink" Target="http://www.opensourceshakespeare.org/views/plays/playmenu.php?WorkID=coriolanus" TargetMode="External"/><Relationship Id="rId35" Type="http://schemas.openxmlformats.org/officeDocument/2006/relationships/hyperlink" Target="http://www.opensourceshakespeare.org/views/plays/playmenu.php?WorkID=macbeth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microsoft.com/office/2014/relationships/chartEx" Target="../charts/chartEx1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chart" Target="../charts/chart3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hyperlink" Target="http://www.opensourceshakespeare.org/views/plays/playmenu.php?WorkID=measure" TargetMode="External"/><Relationship Id="rId13" Type="http://schemas.openxmlformats.org/officeDocument/2006/relationships/hyperlink" Target="http://www.opensourceshakespeare.org/views/plays/playmenu.php?WorkID=tamingshrew" TargetMode="External"/><Relationship Id="rId18" Type="http://schemas.openxmlformats.org/officeDocument/2006/relationships/hyperlink" Target="http://www.opensourceshakespeare.org/views/plays/playmenu.php?WorkID=antonycleo" TargetMode="External"/><Relationship Id="rId26" Type="http://schemas.openxmlformats.org/officeDocument/2006/relationships/hyperlink" Target="http://www.opensourceshakespeare.org/views/plays/playmenu.php?WorkID=romeojuliet" TargetMode="External"/><Relationship Id="rId3" Type="http://schemas.openxmlformats.org/officeDocument/2006/relationships/image" Target="../media/image7.png"/><Relationship Id="rId21" Type="http://schemas.openxmlformats.org/officeDocument/2006/relationships/hyperlink" Target="http://www.opensourceshakespeare.org/views/plays/playmenu.php?WorkID=hamlet" TargetMode="External"/><Relationship Id="rId7" Type="http://schemas.openxmlformats.org/officeDocument/2006/relationships/hyperlink" Target="http://www.opensourceshakespeare.org/views/plays/playmenu.php?WorkID=loveslabours" TargetMode="External"/><Relationship Id="rId12" Type="http://schemas.openxmlformats.org/officeDocument/2006/relationships/hyperlink" Target="http://www.opensourceshakespeare.org/views/plays/playmenu.php?WorkID=muchado" TargetMode="External"/><Relationship Id="rId17" Type="http://schemas.openxmlformats.org/officeDocument/2006/relationships/hyperlink" Target="http://www.opensourceshakespeare.org/views/plays/playmenu.php?WorkID=winterstale" TargetMode="External"/><Relationship Id="rId25" Type="http://schemas.openxmlformats.org/officeDocument/2006/relationships/hyperlink" Target="http://www.opensourceshakespeare.org/views/plays/playmenu.php?WorkID=othello" TargetMode="External"/><Relationship Id="rId2" Type="http://schemas.openxmlformats.org/officeDocument/2006/relationships/image" Target="../media/image6.png"/><Relationship Id="rId16" Type="http://schemas.openxmlformats.org/officeDocument/2006/relationships/hyperlink" Target="http://www.opensourceshakespeare.org/views/plays/playmenu.php?WorkID=twogents" TargetMode="External"/><Relationship Id="rId20" Type="http://schemas.openxmlformats.org/officeDocument/2006/relationships/hyperlink" Target="http://www.opensourceshakespeare.org/views/plays/playmenu.php?WorkID=cymbeline" TargetMode="External"/><Relationship Id="rId29" Type="http://schemas.openxmlformats.org/officeDocument/2006/relationships/hyperlink" Target="http://www.opensourceshakespeare.org/views/plays/playmenu.php?WorkID=troilus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://www.opensourceshakespeare.org/views/plays/playmenu.php?WorkID=comedyerrors" TargetMode="External"/><Relationship Id="rId11" Type="http://schemas.openxmlformats.org/officeDocument/2006/relationships/hyperlink" Target="http://www.opensourceshakespeare.org/views/plays/playmenu.php?WorkID=midsummer" TargetMode="External"/><Relationship Id="rId24" Type="http://schemas.openxmlformats.org/officeDocument/2006/relationships/hyperlink" Target="http://www.opensourceshakespeare.org/views/plays/playmenu.php?WorkID=macbeth" TargetMode="External"/><Relationship Id="rId5" Type="http://schemas.openxmlformats.org/officeDocument/2006/relationships/hyperlink" Target="http://www.opensourceshakespeare.org/views/plays/playmenu.php?WorkID=asyoulikeit" TargetMode="External"/><Relationship Id="rId15" Type="http://schemas.openxmlformats.org/officeDocument/2006/relationships/hyperlink" Target="http://www.opensourceshakespeare.org/views/plays/playmenu.php?WorkID=12night" TargetMode="External"/><Relationship Id="rId23" Type="http://schemas.openxmlformats.org/officeDocument/2006/relationships/hyperlink" Target="http://www.opensourceshakespeare.org/views/plays/playmenu.php?WorkID=kinglear" TargetMode="External"/><Relationship Id="rId28" Type="http://schemas.openxmlformats.org/officeDocument/2006/relationships/hyperlink" Target="http://www.opensourceshakespeare.org/views/plays/playmenu.php?WorkID=titus" TargetMode="External"/><Relationship Id="rId10" Type="http://schemas.openxmlformats.org/officeDocument/2006/relationships/hyperlink" Target="http://www.opensourceshakespeare.org/views/plays/playmenu.php?WorkID=merrywives" TargetMode="External"/><Relationship Id="rId19" Type="http://schemas.openxmlformats.org/officeDocument/2006/relationships/hyperlink" Target="http://www.opensourceshakespeare.org/views/plays/playmenu.php?WorkID=coriolanus" TargetMode="External"/><Relationship Id="rId4" Type="http://schemas.openxmlformats.org/officeDocument/2006/relationships/hyperlink" Target="http://www.opensourceshakespeare.org/views/plays/playmenu.php?WorkID=allswell" TargetMode="External"/><Relationship Id="rId9" Type="http://schemas.openxmlformats.org/officeDocument/2006/relationships/hyperlink" Target="http://www.opensourceshakespeare.org/views/plays/playmenu.php?WorkID=merchantvenice" TargetMode="External"/><Relationship Id="rId14" Type="http://schemas.openxmlformats.org/officeDocument/2006/relationships/hyperlink" Target="http://www.opensourceshakespeare.org/views/plays/playmenu.php?WorkID=tempest" TargetMode="External"/><Relationship Id="rId22" Type="http://schemas.openxmlformats.org/officeDocument/2006/relationships/hyperlink" Target="http://www.opensourceshakespeare.org/views/plays/playmenu.php?WorkID=juliuscaesar" TargetMode="External"/><Relationship Id="rId27" Type="http://schemas.openxmlformats.org/officeDocument/2006/relationships/hyperlink" Target="http://www.opensourceshakespeare.org/views/plays/playmenu.php?WorkID=timonathens" TargetMode="Externa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B8C0D62-4E05-3446-9E13-3684CD7015B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364224" y="787661"/>
            <a:ext cx="5027654" cy="2889114"/>
          </a:xfrm>
        </p:spPr>
        <p:txBody>
          <a:bodyPr anchor="b">
            <a:normAutofit/>
          </a:bodyPr>
          <a:lstStyle/>
          <a:p>
            <a:pPr algn="l"/>
            <a:r>
              <a:rPr lang="en-US" b="1" dirty="0">
                <a:solidFill>
                  <a:srgbClr val="C00000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  <a:t>To Mine, or </a:t>
            </a:r>
            <a:br>
              <a:rPr lang="en-US" b="1" dirty="0">
                <a:solidFill>
                  <a:srgbClr val="C00000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</a:br>
            <a:r>
              <a:rPr lang="en-US" b="1" dirty="0">
                <a:solidFill>
                  <a:srgbClr val="C00000"/>
                </a:solidFill>
                <a:latin typeface="Apple Chancery" panose="03020702040506060504" pitchFamily="66" charset="-79"/>
                <a:cs typeface="Apple Chancery" panose="03020702040506060504" pitchFamily="66" charset="-79"/>
              </a:rPr>
              <a:t>Not to Mine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EC4A55C-292C-5C49-BB20-B2DFB05FD59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364224" y="3795235"/>
            <a:ext cx="5027654" cy="2458245"/>
          </a:xfrm>
        </p:spPr>
        <p:txBody>
          <a:bodyPr anchor="t">
            <a:normAutofit lnSpcReduction="10000"/>
          </a:bodyPr>
          <a:lstStyle/>
          <a:p>
            <a:pPr algn="l"/>
            <a:r>
              <a:rPr lang="en-US" sz="2800" dirty="0"/>
              <a:t>Data Analysis of the Works of William Shakespeare</a:t>
            </a:r>
          </a:p>
          <a:p>
            <a:pPr algn="l"/>
            <a:r>
              <a:rPr lang="en-US" sz="2000" dirty="0"/>
              <a:t>IST-736 Text Mining</a:t>
            </a:r>
          </a:p>
          <a:p>
            <a:pPr algn="l"/>
            <a:r>
              <a:rPr lang="en-US" sz="2000" dirty="0"/>
              <a:t>Summer 2019</a:t>
            </a:r>
          </a:p>
          <a:p>
            <a:pPr algn="l"/>
            <a:r>
              <a:rPr lang="en-US" sz="2000" dirty="0"/>
              <a:t>Dr. Gates</a:t>
            </a:r>
          </a:p>
          <a:p>
            <a:pPr algn="l"/>
            <a:r>
              <a:rPr lang="en-US" sz="2000" dirty="0"/>
              <a:t>Jeff Victor, Arthur Fu, Olga </a:t>
            </a:r>
            <a:r>
              <a:rPr lang="en-US" sz="2000" dirty="0" err="1"/>
              <a:t>Perera</a:t>
            </a:r>
            <a:r>
              <a:rPr lang="en-US" sz="2000" dirty="0"/>
              <a:t>, Brian Hogan 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060418C2-74BE-2A4F-8A71-3A0334D0AC5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10381"/>
          <a:stretch/>
        </p:blipFill>
        <p:spPr>
          <a:xfrm>
            <a:off x="20" y="0"/>
            <a:ext cx="6024134" cy="6857990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59801755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>
            <a:tint val="95000"/>
            <a:satMod val="170000"/>
          </a:schemeClr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18F6CE-70CC-3944-9E8C-6C692CC12E8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62001" y="803325"/>
            <a:ext cx="5314536" cy="1325563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</a:rPr>
              <a:t>William Shakespeare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EDFB3B-0451-774A-B051-B3B7675D2A3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62000" y="2279018"/>
            <a:ext cx="5708248" cy="3375920"/>
          </a:xfrm>
        </p:spPr>
        <p:txBody>
          <a:bodyPr anchor="t">
            <a:normAutofit/>
          </a:bodyPr>
          <a:lstStyle/>
          <a:p>
            <a:r>
              <a:rPr lang="en-US" sz="2400" dirty="0"/>
              <a:t>Lived 1564 – 1616, England</a:t>
            </a:r>
          </a:p>
          <a:p>
            <a:r>
              <a:rPr lang="en-US" sz="2400" dirty="0"/>
              <a:t>Wrote or co-wrote 39 plays, 154 sonnets</a:t>
            </a:r>
          </a:p>
          <a:p>
            <a:r>
              <a:rPr lang="en-US" sz="2400" dirty="0"/>
              <a:t>“Widely regarded as the greatest writer in the English language and the world's greatest dramatist” – </a:t>
            </a:r>
            <a:r>
              <a:rPr lang="en-US" sz="1600" dirty="0"/>
              <a:t>encyclopedia entry</a:t>
            </a:r>
          </a:p>
          <a:p>
            <a:endParaRPr lang="en-US" sz="1800" dirty="0"/>
          </a:p>
        </p:txBody>
      </p:sp>
      <p:sp>
        <p:nvSpPr>
          <p:cNvPr id="9" name="Freeform: Shape 8">
            <a:extLst>
              <a:ext uri="{FF2B5EF4-FFF2-40B4-BE49-F238E27FC236}">
                <a16:creationId xmlns:a16="http://schemas.microsoft.com/office/drawing/2014/main" id="{CF62D2A7-8207-488C-9F46-316BA81A16C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582780" y="-2008"/>
            <a:ext cx="5609220" cy="5840278"/>
          </a:xfrm>
          <a:custGeom>
            <a:avLst/>
            <a:gdLst>
              <a:gd name="connsiteX0" fmla="*/ 0 w 5609220"/>
              <a:gd name="connsiteY0" fmla="*/ 0 h 5840278"/>
              <a:gd name="connsiteX1" fmla="*/ 4637091 w 5609220"/>
              <a:gd name="connsiteY1" fmla="*/ 0 h 5840278"/>
              <a:gd name="connsiteX2" fmla="*/ 4822569 w 5609220"/>
              <a:gd name="connsiteY2" fmla="*/ 204077 h 5840278"/>
              <a:gd name="connsiteX3" fmla="*/ 5609220 w 5609220"/>
              <a:gd name="connsiteY3" fmla="*/ 2395363 h 5840278"/>
              <a:gd name="connsiteX4" fmla="*/ 2164305 w 5609220"/>
              <a:gd name="connsiteY4" fmla="*/ 5840278 h 5840278"/>
              <a:gd name="connsiteX5" fmla="*/ 238220 w 5609220"/>
              <a:gd name="connsiteY5" fmla="*/ 5251941 h 5840278"/>
              <a:gd name="connsiteX6" fmla="*/ 0 w 5609220"/>
              <a:gd name="connsiteY6" fmla="*/ 5073803 h 584027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609220" h="5840278">
                <a:moveTo>
                  <a:pt x="0" y="0"/>
                </a:moveTo>
                <a:lnTo>
                  <a:pt x="4637091" y="0"/>
                </a:lnTo>
                <a:lnTo>
                  <a:pt x="4822569" y="204077"/>
                </a:lnTo>
                <a:cubicBezTo>
                  <a:pt x="5314007" y="799562"/>
                  <a:pt x="5609220" y="1562987"/>
                  <a:pt x="5609220" y="2395363"/>
                </a:cubicBezTo>
                <a:cubicBezTo>
                  <a:pt x="5609220" y="4297937"/>
                  <a:pt x="4066879" y="5840278"/>
                  <a:pt x="2164305" y="5840278"/>
                </a:cubicBezTo>
                <a:cubicBezTo>
                  <a:pt x="1450840" y="5840278"/>
                  <a:pt x="788032" y="5623387"/>
                  <a:pt x="238220" y="5251941"/>
                </a:cubicBezTo>
                <a:lnTo>
                  <a:pt x="0" y="5073803"/>
                </a:lnTo>
                <a:close/>
              </a:path>
            </a:pathLst>
          </a:custGeom>
          <a:solidFill>
            <a:srgbClr val="FFFFFF">
              <a:alpha val="80000"/>
            </a:srgb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8C99843A-CB33-874E-8C2D-DE089F409345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1" b="18932"/>
          <a:stretch/>
        </p:blipFill>
        <p:spPr>
          <a:xfrm>
            <a:off x="6750141" y="-2"/>
            <a:ext cx="5441859" cy="5654940"/>
          </a:xfrm>
          <a:custGeom>
            <a:avLst/>
            <a:gdLst>
              <a:gd name="connsiteX0" fmla="*/ 1041368 w 5441859"/>
              <a:gd name="connsiteY0" fmla="*/ 0 h 5654940"/>
              <a:gd name="connsiteX1" fmla="*/ 5441859 w 5441859"/>
              <a:gd name="connsiteY1" fmla="*/ 0 h 5654940"/>
              <a:gd name="connsiteX2" fmla="*/ 5441859 w 5441859"/>
              <a:gd name="connsiteY2" fmla="*/ 4820612 h 5654940"/>
              <a:gd name="connsiteX3" fmla="*/ 5285166 w 5441859"/>
              <a:gd name="connsiteY3" fmla="*/ 4957981 h 5654940"/>
              <a:gd name="connsiteX4" fmla="*/ 3267719 w 5441859"/>
              <a:gd name="connsiteY4" fmla="*/ 5654940 h 5654940"/>
              <a:gd name="connsiteX5" fmla="*/ 0 w 5441859"/>
              <a:gd name="connsiteY5" fmla="*/ 2387221 h 5654940"/>
              <a:gd name="connsiteX6" fmla="*/ 957093 w 5441859"/>
              <a:gd name="connsiteY6" fmla="*/ 76595 h 565494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441859" h="5654940">
                <a:moveTo>
                  <a:pt x="1041368" y="0"/>
                </a:moveTo>
                <a:lnTo>
                  <a:pt x="5441859" y="0"/>
                </a:lnTo>
                <a:lnTo>
                  <a:pt x="5441859" y="4820612"/>
                </a:lnTo>
                <a:lnTo>
                  <a:pt x="5285166" y="4957981"/>
                </a:lnTo>
                <a:cubicBezTo>
                  <a:pt x="4729628" y="5394557"/>
                  <a:pt x="4029081" y="5654940"/>
                  <a:pt x="3267719" y="5654940"/>
                </a:cubicBezTo>
                <a:cubicBezTo>
                  <a:pt x="1463008" y="5654940"/>
                  <a:pt x="0" y="4191932"/>
                  <a:pt x="0" y="2387221"/>
                </a:cubicBezTo>
                <a:cubicBezTo>
                  <a:pt x="0" y="1484866"/>
                  <a:pt x="365752" y="667936"/>
                  <a:pt x="957093" y="76595"/>
                </a:cubicBezTo>
                <a:close/>
              </a:path>
            </a:pathLst>
          </a:custGeom>
        </p:spPr>
      </p:pic>
    </p:spTree>
    <p:extLst>
      <p:ext uri="{BB962C8B-B14F-4D97-AF65-F5344CB8AC3E}">
        <p14:creationId xmlns:p14="http://schemas.microsoft.com/office/powerpoint/2010/main" val="2468775901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>
            <a:extLst>
              <a:ext uri="{FF2B5EF4-FFF2-40B4-BE49-F238E27FC236}">
                <a16:creationId xmlns:a16="http://schemas.microsoft.com/office/drawing/2014/main" id="{592B0425-2562-3445-A592-CCC171270CFE}"/>
              </a:ext>
            </a:extLst>
          </p:cNvPr>
          <p:cNvPicPr/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6895" t="6913" r="11208" b="14895"/>
          <a:stretch/>
        </p:blipFill>
        <p:spPr>
          <a:xfrm>
            <a:off x="6037670" y="3020755"/>
            <a:ext cx="5806467" cy="3745064"/>
          </a:xfrm>
          <a:prstGeom prst="rect">
            <a:avLst/>
          </a:prstGeom>
          <a:ln>
            <a:solidFill>
              <a:schemeClr val="bg1"/>
            </a:solidFill>
          </a:ln>
        </p:spPr>
      </p:pic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2450180-3DAF-204F-ADCF-52E31F3ABA1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75323" y="889123"/>
            <a:ext cx="10137519" cy="2619839"/>
          </a:xfrm>
        </p:spPr>
        <p:txBody>
          <a:bodyPr anchor="ctr">
            <a:normAutofit fontScale="92500"/>
          </a:bodyPr>
          <a:lstStyle/>
          <a:p>
            <a:r>
              <a:rPr lang="en-US" dirty="0"/>
              <a:t>Text Mining Pursuits:</a:t>
            </a:r>
          </a:p>
          <a:p>
            <a:pPr lvl="1"/>
            <a:r>
              <a:rPr lang="en-US" sz="2800" dirty="0"/>
              <a:t>How does vocabulary of comedies differ from tragedies?</a:t>
            </a:r>
          </a:p>
          <a:p>
            <a:pPr lvl="1"/>
            <a:r>
              <a:rPr lang="en-US" sz="2800" dirty="0"/>
              <a:t>How does vocabulary differ by character? Hero, heroine, villain…</a:t>
            </a:r>
          </a:p>
          <a:p>
            <a:pPr lvl="1"/>
            <a:r>
              <a:rPr lang="en-US" sz="2800" dirty="0"/>
              <a:t>What characters are similar or different?</a:t>
            </a:r>
          </a:p>
          <a:p>
            <a:pPr lvl="1"/>
            <a:r>
              <a:rPr lang="en-US" sz="2800" dirty="0"/>
              <a:t>Can algorithms predict if a sentence belongs to a comedy or tragedy?</a:t>
            </a:r>
          </a:p>
          <a:p>
            <a:endParaRPr lang="en-US" dirty="0"/>
          </a:p>
        </p:txBody>
      </p:sp>
      <p:sp>
        <p:nvSpPr>
          <p:cNvPr id="12" name="Title 1">
            <a:extLst>
              <a:ext uri="{FF2B5EF4-FFF2-40B4-BE49-F238E27FC236}">
                <a16:creationId xmlns:a16="http://schemas.microsoft.com/office/drawing/2014/main" id="{2690DF39-912D-4A11-B91F-B9C5DD0D5900}"/>
              </a:ext>
            </a:extLst>
          </p:cNvPr>
          <p:cNvSpPr txBox="1">
            <a:spLocks/>
          </p:cNvSpPr>
          <p:nvPr/>
        </p:nvSpPr>
        <p:spPr>
          <a:xfrm>
            <a:off x="2606481" y="5928256"/>
            <a:ext cx="2093135" cy="448690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 fontScale="70000" lnSpcReduction="200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2600" dirty="0">
                <a:solidFill>
                  <a:srgbClr val="FFFFFF"/>
                </a:solidFill>
              </a:rPr>
              <a:t>Corpus</a:t>
            </a:r>
          </a:p>
        </p:txBody>
      </p:sp>
      <p:graphicFrame>
        <p:nvGraphicFramePr>
          <p:cNvPr id="10" name="Table 9">
            <a:extLst>
              <a:ext uri="{FF2B5EF4-FFF2-40B4-BE49-F238E27FC236}">
                <a16:creationId xmlns:a16="http://schemas.microsoft.com/office/drawing/2014/main" id="{C55829AC-2E55-4A5E-8DF9-A12388684F01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903846548"/>
              </p:ext>
            </p:extLst>
          </p:nvPr>
        </p:nvGraphicFramePr>
        <p:xfrm>
          <a:off x="34327" y="3321023"/>
          <a:ext cx="6003342" cy="3520861"/>
        </p:xfrm>
        <a:graphic>
          <a:graphicData uri="http://schemas.openxmlformats.org/drawingml/2006/table">
            <a:tbl>
              <a:tblPr/>
              <a:tblGrid>
                <a:gridCol w="2257460">
                  <a:extLst>
                    <a:ext uri="{9D8B030D-6E8A-4147-A177-3AD203B41FA5}">
                      <a16:colId xmlns:a16="http://schemas.microsoft.com/office/drawing/2014/main" val="3024509832"/>
                    </a:ext>
                  </a:extLst>
                </a:gridCol>
                <a:gridCol w="1661426">
                  <a:extLst>
                    <a:ext uri="{9D8B030D-6E8A-4147-A177-3AD203B41FA5}">
                      <a16:colId xmlns:a16="http://schemas.microsoft.com/office/drawing/2014/main" val="1787495441"/>
                    </a:ext>
                  </a:extLst>
                </a:gridCol>
                <a:gridCol w="2084456">
                  <a:extLst>
                    <a:ext uri="{9D8B030D-6E8A-4147-A177-3AD203B41FA5}">
                      <a16:colId xmlns:a16="http://schemas.microsoft.com/office/drawing/2014/main" val="452718741"/>
                    </a:ext>
                  </a:extLst>
                </a:gridCol>
              </a:tblGrid>
              <a:tr h="3520861">
                <a:tc>
                  <a:txBody>
                    <a:bodyPr/>
                    <a:lstStyle/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effectLst/>
                          <a:latin typeface="Courier New" panose="02070309020205020404" pitchFamily="49" charset="0"/>
                        </a:rPr>
                        <a:t>COMEDIES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4"/>
                        </a:rPr>
                        <a:t>All's Well That Ends Well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4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5"/>
                        </a:rPr>
                        <a:t>As You Like It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5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6"/>
                        </a:rPr>
                        <a:t>Comedy of Errors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6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7"/>
                        </a:rPr>
                        <a:t>Love's Labour's Lost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7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8"/>
                        </a:rPr>
                        <a:t>Measure for Measure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8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9"/>
                        </a:rPr>
                        <a:t>Merchant of Venice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9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0"/>
                        </a:rPr>
                        <a:t>Merry Wives of Windsor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1"/>
                        </a:rPr>
                        <a:t>Midsummer Night's Dream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1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2"/>
                        </a:rPr>
                        <a:t>Much Ado about Nothing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2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3"/>
                        </a:rPr>
                        <a:t>Taming of the Shrew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3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4"/>
                        </a:rPr>
                        <a:t>Tempest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4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5"/>
                        </a:rPr>
                        <a:t>Twelfth Night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5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6"/>
                        </a:rPr>
                        <a:t>Two Gentlemen of Verona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6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7"/>
                        </a:rPr>
                        <a:t>Winter's Tale</a:t>
                      </a:r>
                      <a:b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7"/>
                        </a:rPr>
                      </a:b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007" marR="57007" marT="57007" marB="570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effectLst/>
                          <a:latin typeface="Courier New" panose="02070309020205020404" pitchFamily="49" charset="0"/>
                        </a:rPr>
                        <a:t>HISTORIES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8"/>
                        </a:rPr>
                        <a:t>Henry IV, Part I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8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9"/>
                        </a:rPr>
                        <a:t>Henry IV, Part II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19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0"/>
                        </a:rPr>
                        <a:t>Henry V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1"/>
                        </a:rPr>
                        <a:t>Henry VI, Part I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1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2"/>
                        </a:rPr>
                        <a:t>Henry VI, Part II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2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3"/>
                        </a:rPr>
                        <a:t>Henry VI, Part III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3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4"/>
                        </a:rPr>
                        <a:t>Henry VIII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4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5"/>
                        </a:rPr>
                        <a:t>King John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5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6"/>
                        </a:rPr>
                        <a:t>Pericles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6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7"/>
                        </a:rPr>
                        <a:t>Richard II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7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8"/>
                        </a:rPr>
                        <a:t>Richard III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8"/>
                        </a:rPr>
                      </a:b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007" marR="57007" marT="57007" marB="570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effectLst/>
                          <a:latin typeface="Courier New" panose="02070309020205020404" pitchFamily="49" charset="0"/>
                        </a:rPr>
                        <a:t>TRAGEDIES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9"/>
                        </a:rPr>
                        <a:t>Antony and Cleopatra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29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0"/>
                        </a:rPr>
                        <a:t>Coriolanus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0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1"/>
                        </a:rPr>
                        <a:t>Cymbeline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1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2"/>
                        </a:rPr>
                        <a:t>Hamlet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2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3"/>
                        </a:rPr>
                        <a:t>Julius Caesar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3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4"/>
                        </a:rPr>
                        <a:t>King Lear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4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5"/>
                        </a:rPr>
                        <a:t>Macbeth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5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6"/>
                        </a:rPr>
                        <a:t>Othello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6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7"/>
                        </a:rPr>
                        <a:t>Romeo and Juliet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7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8"/>
                        </a:rPr>
                        <a:t>Timon of Athens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8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9"/>
                        </a:rPr>
                        <a:t>Titus Andronicus</a:t>
                      </a:r>
                      <a:br>
                        <a:rPr lang="en-US" sz="1100" b="0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39"/>
                        </a:rPr>
                      </a:br>
                      <a:r>
                        <a:rPr lang="en-US" sz="1100" b="1" i="0" u="none" strike="noStrike" dirty="0">
                          <a:solidFill>
                            <a:srgbClr val="000099"/>
                          </a:solidFill>
                          <a:effectLst/>
                          <a:latin typeface="Verdana" panose="020B0604030504040204" pitchFamily="34" charset="0"/>
                          <a:hlinkClick r:id="rId40"/>
                        </a:rPr>
                        <a:t>Troilus and Cressida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007" marR="57007" marT="57007" marB="57007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06271989"/>
                  </a:ext>
                </a:extLst>
              </a:tr>
            </a:tbl>
          </a:graphicData>
        </a:graphic>
      </p:graphicFrame>
      <p:pic>
        <p:nvPicPr>
          <p:cNvPr id="16" name="Picture 15">
            <a:extLst>
              <a:ext uri="{FF2B5EF4-FFF2-40B4-BE49-F238E27FC236}">
                <a16:creationId xmlns:a16="http://schemas.microsoft.com/office/drawing/2014/main" id="{706E8ED0-9206-4E37-920A-7F426E35EEF3}"/>
              </a:ext>
            </a:extLst>
          </p:cNvPr>
          <p:cNvPicPr>
            <a:picLocks noChangeAspect="1"/>
          </p:cNvPicPr>
          <p:nvPr/>
        </p:nvPicPr>
        <p:blipFill rotWithShape="1">
          <a:blip r:embed="rId41"/>
          <a:srcRect r="1" b="10381"/>
          <a:stretch/>
        </p:blipFill>
        <p:spPr>
          <a:xfrm>
            <a:off x="11160760" y="-16440"/>
            <a:ext cx="1031240" cy="1173983"/>
          </a:xfrm>
          <a:custGeom>
            <a:avLst/>
            <a:gdLst>
              <a:gd name="connsiteX0" fmla="*/ 0 w 6024154"/>
              <a:gd name="connsiteY0" fmla="*/ 0 h 6858000"/>
              <a:gd name="connsiteX1" fmla="*/ 5953780 w 6024154"/>
              <a:gd name="connsiteY1" fmla="*/ 0 h 6858000"/>
              <a:gd name="connsiteX2" fmla="*/ 5989880 w 6024154"/>
              <a:gd name="connsiteY2" fmla="*/ 284091 h 6858000"/>
              <a:gd name="connsiteX3" fmla="*/ 6024154 w 6024154"/>
              <a:gd name="connsiteY3" fmla="*/ 962844 h 6858000"/>
              <a:gd name="connsiteX4" fmla="*/ 2549934 w 6024154"/>
              <a:gd name="connsiteY4" fmla="*/ 6800152 h 6858000"/>
              <a:gd name="connsiteX5" fmla="*/ 2436987 w 6024154"/>
              <a:gd name="connsiteY5" fmla="*/ 6858000 h 6858000"/>
              <a:gd name="connsiteX6" fmla="*/ 0 w 6024154"/>
              <a:gd name="connsiteY6" fmla="*/ 6858000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024154" h="6858000">
                <a:moveTo>
                  <a:pt x="0" y="0"/>
                </a:moveTo>
                <a:lnTo>
                  <a:pt x="5953780" y="0"/>
                </a:lnTo>
                <a:lnTo>
                  <a:pt x="5989880" y="284091"/>
                </a:lnTo>
                <a:cubicBezTo>
                  <a:pt x="6012544" y="507260"/>
                  <a:pt x="6024154" y="733696"/>
                  <a:pt x="6024154" y="962844"/>
                </a:cubicBezTo>
                <a:cubicBezTo>
                  <a:pt x="6024154" y="3483472"/>
                  <a:pt x="4619336" y="5675986"/>
                  <a:pt x="2549934" y="6800152"/>
                </a:cubicBezTo>
                <a:lnTo>
                  <a:pt x="2436987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19" name="Title 1">
            <a:extLst>
              <a:ext uri="{FF2B5EF4-FFF2-40B4-BE49-F238E27FC236}">
                <a16:creationId xmlns:a16="http://schemas.microsoft.com/office/drawing/2014/main" id="{3057D0FD-0701-4089-BC08-266ACF2154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26338" y="92181"/>
            <a:ext cx="10515600" cy="661600"/>
          </a:xfrm>
        </p:spPr>
        <p:txBody>
          <a:bodyPr>
            <a:normAutofit fontScale="90000"/>
          </a:bodyPr>
          <a:lstStyle/>
          <a:p>
            <a:r>
              <a:rPr lang="en-US" dirty="0"/>
              <a:t>Shakespearean Musings…</a:t>
            </a:r>
          </a:p>
        </p:txBody>
      </p:sp>
    </p:spTree>
    <p:extLst>
      <p:ext uri="{BB962C8B-B14F-4D97-AF65-F5344CB8AC3E}">
        <p14:creationId xmlns:p14="http://schemas.microsoft.com/office/powerpoint/2010/main" val="400416653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446E-55E3-4614-897D-E3CE82073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Data Preparation &amp; Distributed Team Tasks</a:t>
            </a:r>
          </a:p>
        </p:txBody>
      </p:sp>
      <p:sp>
        <p:nvSpPr>
          <p:cNvPr id="15" name="Content Placeholder 2">
            <a:extLst>
              <a:ext uri="{FF2B5EF4-FFF2-40B4-BE49-F238E27FC236}">
                <a16:creationId xmlns:a16="http://schemas.microsoft.com/office/drawing/2014/main" id="{81CDC54F-FA77-4346-B32B-AAB9D713C960}"/>
              </a:ext>
            </a:extLst>
          </p:cNvPr>
          <p:cNvSpPr txBox="1">
            <a:spLocks/>
          </p:cNvSpPr>
          <p:nvPr/>
        </p:nvSpPr>
        <p:spPr>
          <a:xfrm>
            <a:off x="547053" y="886985"/>
            <a:ext cx="7989271" cy="4868922"/>
          </a:xfrm>
          <a:prstGeom prst="rect">
            <a:avLst/>
          </a:prstGeom>
          <a:ln>
            <a:noFill/>
            <a:prstDash val="lgDashDotDot"/>
          </a:ln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dirty="0"/>
              <a:t>Scripts (“data”) available from MIT*</a:t>
            </a:r>
          </a:p>
          <a:p>
            <a:endParaRPr lang="en-US" dirty="0"/>
          </a:p>
          <a:p>
            <a:r>
              <a:rPr lang="en-US" dirty="0"/>
              <a:t>Wrote a custom HTML parser which labeled each line of dialogue</a:t>
            </a:r>
          </a:p>
          <a:p>
            <a:endParaRPr lang="en-US" dirty="0"/>
          </a:p>
          <a:p>
            <a:r>
              <a:rPr lang="en-US" dirty="0"/>
              <a:t>Team members independently answered their question, shared experience &amp; findings</a:t>
            </a:r>
          </a:p>
          <a:p>
            <a:endParaRPr lang="en-US" dirty="0"/>
          </a:p>
          <a:p>
            <a:r>
              <a:rPr lang="en-US" dirty="0"/>
              <a:t>Each team-member directed and performed </a:t>
            </a:r>
            <a:br>
              <a:rPr lang="en-US" dirty="0"/>
            </a:br>
            <a:r>
              <a:rPr lang="en-US" dirty="0"/>
              <a:t>analysis by algorithm assignment and interest</a:t>
            </a:r>
          </a:p>
          <a:p>
            <a:pPr marL="0" indent="0">
              <a:buNone/>
            </a:pPr>
            <a:endParaRPr lang="en-US" dirty="0"/>
          </a:p>
          <a:p>
            <a:endParaRPr lang="en-US" dirty="0"/>
          </a:p>
          <a:p>
            <a:pPr marL="0" indent="0" algn="ctr">
              <a:buNone/>
            </a:pPr>
            <a:endParaRPr lang="en-US" dirty="0"/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45459DFE-E82B-4773-8A0F-3B2CFBBD446A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681759113"/>
              </p:ext>
            </p:extLst>
          </p:nvPr>
        </p:nvGraphicFramePr>
        <p:xfrm>
          <a:off x="7716265" y="2512007"/>
          <a:ext cx="4389563" cy="324083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FAC0883F-EE88-4058-ACBA-1DE6525990BD}"/>
              </a:ext>
            </a:extLst>
          </p:cNvPr>
          <p:cNvSpPr/>
          <p:nvPr/>
        </p:nvSpPr>
        <p:spPr>
          <a:xfrm>
            <a:off x="134112" y="6324374"/>
            <a:ext cx="3058623" cy="33855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600" dirty="0">
                <a:solidFill>
                  <a:schemeClr val="accent1"/>
                </a:solidFill>
              </a:rPr>
              <a:t>* http://mit.shakespeare.edu</a:t>
            </a:r>
            <a:endParaRPr lang="en-US" sz="1200" dirty="0">
              <a:solidFill>
                <a:schemeClr val="accent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8923759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446E-55E3-4614-897D-E3CE82073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Player and Dialogue Visualizations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3961A-D3E2-44AB-962D-9ED2FB1B2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681" y="1957522"/>
            <a:ext cx="8786191" cy="4900478"/>
          </a:xfrm>
          <a:ln>
            <a:noFill/>
            <a:prstDash val="lgDashDotDot"/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10" name="Picture 9" descr="A picture containing screenshot&#10;&#10;Description automatically generated">
            <a:extLst>
              <a:ext uri="{FF2B5EF4-FFF2-40B4-BE49-F238E27FC236}">
                <a16:creationId xmlns:a16="http://schemas.microsoft.com/office/drawing/2014/main" id="{B8A1FEF4-9192-4CAF-8FB6-4EE1819580B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3350" y="793407"/>
            <a:ext cx="8388984" cy="6064591"/>
          </a:xfrm>
          <a:prstGeom prst="rect">
            <a:avLst/>
          </a:prstGeom>
        </p:spPr>
      </p:pic>
      <p:sp>
        <p:nvSpPr>
          <p:cNvPr id="4" name="Rectangle 3">
            <a:extLst>
              <a:ext uri="{FF2B5EF4-FFF2-40B4-BE49-F238E27FC236}">
                <a16:creationId xmlns:a16="http://schemas.microsoft.com/office/drawing/2014/main" id="{E1C145B6-5C0A-6A4A-9C79-ACD0D82B2321}"/>
              </a:ext>
            </a:extLst>
          </p:cNvPr>
          <p:cNvSpPr/>
          <p:nvPr/>
        </p:nvSpPr>
        <p:spPr>
          <a:xfrm>
            <a:off x="6096000" y="1957521"/>
            <a:ext cx="1816608" cy="490047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44B0F2C-76FC-C141-9EE0-2B9E60B14A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2951602754"/>
              </p:ext>
            </p:extLst>
          </p:nvPr>
        </p:nvGraphicFramePr>
        <p:xfrm>
          <a:off x="5808375" y="1933493"/>
          <a:ext cx="6150547" cy="49784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803D849D-44D5-9B4F-A21A-892A0E23D96A}"/>
              </a:ext>
            </a:extLst>
          </p:cNvPr>
          <p:cNvSpPr/>
          <p:nvPr/>
        </p:nvSpPr>
        <p:spPr>
          <a:xfrm>
            <a:off x="7423656" y="793405"/>
            <a:ext cx="2919984" cy="1140086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</a:rPr>
              <a:t>Frequency Distribution:</a:t>
            </a:r>
          </a:p>
          <a:p>
            <a:pPr lvl="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b="1" dirty="0">
                <a:solidFill>
                  <a:schemeClr val="tx1"/>
                </a:solidFill>
              </a:rPr>
              <a:t> Number of Players by Play</a:t>
            </a:r>
          </a:p>
        </p:txBody>
      </p:sp>
    </p:spTree>
    <p:extLst>
      <p:ext uri="{BB962C8B-B14F-4D97-AF65-F5344CB8AC3E}">
        <p14:creationId xmlns:p14="http://schemas.microsoft.com/office/powerpoint/2010/main" val="59787997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18BA69-8E72-2B4E-AD3C-933047B552C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Character Distinction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561616E-7378-A046-9996-8930D73004E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820367"/>
            <a:ext cx="7089494" cy="4666033"/>
          </a:xfrm>
        </p:spPr>
        <p:txBody>
          <a:bodyPr>
            <a:normAutofit lnSpcReduction="10000"/>
          </a:bodyPr>
          <a:lstStyle/>
          <a:p>
            <a:r>
              <a:rPr lang="en-US" dirty="0"/>
              <a:t>The amount that the vocabulary of a play’s character differs from that of other characters</a:t>
            </a:r>
          </a:p>
          <a:p>
            <a:r>
              <a:rPr lang="en-US" dirty="0"/>
              <a:t>Determined with TFIDF vectorization and Naïve Bayes modeling in</a:t>
            </a:r>
            <a:br>
              <a:rPr lang="en-US" dirty="0"/>
            </a:br>
            <a:r>
              <a:rPr lang="en-US" dirty="0"/>
              <a:t>pairwise comparisons</a:t>
            </a:r>
          </a:p>
          <a:p>
            <a:endParaRPr lang="en-US" dirty="0"/>
          </a:p>
          <a:p>
            <a:r>
              <a:rPr lang="en-US" dirty="0"/>
              <a:t>Multinomial vs Bernoulli NB</a:t>
            </a:r>
          </a:p>
          <a:p>
            <a:endParaRPr lang="en-US" dirty="0"/>
          </a:p>
          <a:p>
            <a:r>
              <a:rPr lang="en-US" dirty="0"/>
              <a:t>Tested removal of English and</a:t>
            </a:r>
            <a:br>
              <a:rPr lang="en-US" dirty="0"/>
            </a:br>
            <a:r>
              <a:rPr lang="en-US" dirty="0"/>
              <a:t>“Shakespearean English”</a:t>
            </a:r>
            <a:br>
              <a:rPr lang="en-US" dirty="0"/>
            </a:br>
            <a:r>
              <a:rPr lang="en-US" dirty="0"/>
              <a:t>stopwords: no benefit for BNB</a:t>
            </a:r>
          </a:p>
        </p:txBody>
      </p:sp>
      <mc:AlternateContent xmlns:mc="http://schemas.openxmlformats.org/markup-compatibility/2006" xmlns:cx1="http://schemas.microsoft.com/office/drawing/2015/9/8/chartex">
        <mc:Choice Requires="cx1">
          <p:graphicFrame>
            <p:nvGraphicFramePr>
              <p:cNvPr id="4" name="Chart 3">
                <a:extLst>
                  <a:ext uri="{FF2B5EF4-FFF2-40B4-BE49-F238E27FC236}">
                    <a16:creationId xmlns:a16="http://schemas.microsoft.com/office/drawing/2014/main" id="{A413B06D-800E-584A-A8AF-9431A6C6EDA1}"/>
                  </a:ext>
                </a:extLst>
              </p:cNvPr>
              <p:cNvGraphicFramePr/>
              <p:nvPr>
                <p:extLst>
                  <p:ext uri="{D42A27DB-BD31-4B8C-83A1-F6EECF244321}">
                    <p14:modId xmlns:p14="http://schemas.microsoft.com/office/powerpoint/2010/main" val="3024358636"/>
                  </p:ext>
                </p:extLst>
              </p:nvPr>
            </p:nvGraphicFramePr>
            <p:xfrm>
              <a:off x="5500546" y="1986014"/>
              <a:ext cx="6350000" cy="4435917"/>
            </p:xfrm>
            <a:graphic>
              <a:graphicData uri="http://schemas.microsoft.com/office/drawing/2014/chartex">
                <cx:chart xmlns:cx="http://schemas.microsoft.com/office/drawing/2014/chartex" xmlns:r="http://schemas.openxmlformats.org/officeDocument/2006/relationships" r:id="rId2"/>
              </a:graphicData>
            </a:graphic>
          </p:graphicFrame>
        </mc:Choice>
        <mc:Fallback xmlns="">
          <p:pic>
            <p:nvPicPr>
              <p:cNvPr id="4" name="Chart 3">
                <a:extLst>
                  <a:ext uri="{FF2B5EF4-FFF2-40B4-BE49-F238E27FC236}">
                    <a16:creationId xmlns:a16="http://schemas.microsoft.com/office/drawing/2014/main" id="{A413B06D-800E-584A-A8AF-9431A6C6EDA1}"/>
                  </a:ext>
                </a:extLst>
              </p:cNvPr>
              <p:cNvPicPr>
                <a:picLocks noGrp="1" noRot="1" noChangeAspect="1" noMove="1" noResize="1" noEditPoints="1" noAdjustHandles="1" noChangeArrowheads="1" noChangeShapeType="1"/>
              </p:cNvPicPr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500546" y="1986014"/>
                <a:ext cx="6350000" cy="4435917"/>
              </a:xfrm>
              <a:prstGeom prst="rect">
                <a:avLst/>
              </a:prstGeom>
            </p:spPr>
          </p:pic>
        </mc:Fallback>
      </mc:AlternateContent>
      <p:sp>
        <p:nvSpPr>
          <p:cNvPr id="5" name="Oval 4">
            <a:extLst>
              <a:ext uri="{FF2B5EF4-FFF2-40B4-BE49-F238E27FC236}">
                <a16:creationId xmlns:a16="http://schemas.microsoft.com/office/drawing/2014/main" id="{FFD5CF39-B1BE-FB4C-A2A7-CFF882B7EF64}"/>
              </a:ext>
            </a:extLst>
          </p:cNvPr>
          <p:cNvSpPr/>
          <p:nvPr/>
        </p:nvSpPr>
        <p:spPr>
          <a:xfrm rot="21018488">
            <a:off x="6750296" y="4279201"/>
            <a:ext cx="4080291" cy="1578449"/>
          </a:xfrm>
          <a:prstGeom prst="ellipse">
            <a:avLst/>
          </a:prstGeom>
          <a:noFill/>
          <a:ln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2A34DC65-9F8C-A843-A49D-1A77F6888EF4}"/>
              </a:ext>
            </a:extLst>
          </p:cNvPr>
          <p:cNvSpPr/>
          <p:nvPr/>
        </p:nvSpPr>
        <p:spPr>
          <a:xfrm rot="21018488">
            <a:off x="6809165" y="3207366"/>
            <a:ext cx="4080291" cy="1046667"/>
          </a:xfrm>
          <a:prstGeom prst="ellipse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ounded Rectangular Callout 6">
            <a:extLst>
              <a:ext uri="{FF2B5EF4-FFF2-40B4-BE49-F238E27FC236}">
                <a16:creationId xmlns:a16="http://schemas.microsoft.com/office/drawing/2014/main" id="{DF30F7C7-D4EC-AF43-B75F-E69D47F46A63}"/>
              </a:ext>
            </a:extLst>
          </p:cNvPr>
          <p:cNvSpPr/>
          <p:nvPr/>
        </p:nvSpPr>
        <p:spPr>
          <a:xfrm>
            <a:off x="3950208" y="5620512"/>
            <a:ext cx="1011936" cy="569332"/>
          </a:xfrm>
          <a:prstGeom prst="wedgeRoundRectCallout">
            <a:avLst>
              <a:gd name="adj1" fmla="val 217721"/>
              <a:gd name="adj2" fmla="val -76695"/>
              <a:gd name="adj3" fmla="val 16667"/>
            </a:avLst>
          </a:prstGeom>
          <a:solidFill>
            <a:schemeClr val="accent2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MNB</a:t>
            </a:r>
          </a:p>
        </p:txBody>
      </p:sp>
      <p:sp>
        <p:nvSpPr>
          <p:cNvPr id="8" name="Rounded Rectangular Callout 7">
            <a:extLst>
              <a:ext uri="{FF2B5EF4-FFF2-40B4-BE49-F238E27FC236}">
                <a16:creationId xmlns:a16="http://schemas.microsoft.com/office/drawing/2014/main" id="{0589F521-5086-1F4C-B874-AA557A81C95A}"/>
              </a:ext>
            </a:extLst>
          </p:cNvPr>
          <p:cNvSpPr/>
          <p:nvPr/>
        </p:nvSpPr>
        <p:spPr>
          <a:xfrm>
            <a:off x="9936505" y="1163533"/>
            <a:ext cx="1011936" cy="569332"/>
          </a:xfrm>
          <a:prstGeom prst="wedgeRoundRectCallout">
            <a:avLst>
              <a:gd name="adj1" fmla="val -35291"/>
              <a:gd name="adj2" fmla="val 276645"/>
              <a:gd name="adj3" fmla="val 16667"/>
            </a:avLst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2800" dirty="0"/>
              <a:t>BNB</a:t>
            </a:r>
          </a:p>
        </p:txBody>
      </p:sp>
    </p:spTree>
    <p:extLst>
      <p:ext uri="{BB962C8B-B14F-4D97-AF65-F5344CB8AC3E}">
        <p14:creationId xmlns:p14="http://schemas.microsoft.com/office/powerpoint/2010/main" val="289906570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CFE7157-9F5D-8A45-BD1F-B0D30B71C68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FFFF"/>
                </a:solidFill>
              </a:rPr>
              <a:t>Only Hamlet’s word choices are distinctive</a:t>
            </a:r>
          </a:p>
        </p:txBody>
      </p:sp>
      <p:graphicFrame>
        <p:nvGraphicFramePr>
          <p:cNvPr id="12" name="Content Placeholder 6">
            <a:extLst>
              <a:ext uri="{FF2B5EF4-FFF2-40B4-BE49-F238E27FC236}">
                <a16:creationId xmlns:a16="http://schemas.microsoft.com/office/drawing/2014/main" id="{0AE6A4F0-5508-004C-9350-57091D110B27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660053701"/>
              </p:ext>
            </p:extLst>
          </p:nvPr>
        </p:nvGraphicFramePr>
        <p:xfrm>
          <a:off x="4865105" y="786062"/>
          <a:ext cx="6842799" cy="557028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411456036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46C2E80F-49A6-4372-B103-219D417A5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4096" y="470925"/>
            <a:ext cx="4381009" cy="5892104"/>
          </a:xfrm>
          <a:custGeom>
            <a:avLst/>
            <a:gdLst>
              <a:gd name="connsiteX0" fmla="*/ 0 w 4381009"/>
              <a:gd name="connsiteY0" fmla="*/ 0 h 5892104"/>
              <a:gd name="connsiteX1" fmla="*/ 4157628 w 4381009"/>
              <a:gd name="connsiteY1" fmla="*/ 0 h 5892104"/>
              <a:gd name="connsiteX2" fmla="*/ 4169302 w 4381009"/>
              <a:gd name="connsiteY2" fmla="*/ 68659 h 5892104"/>
              <a:gd name="connsiteX3" fmla="*/ 4191571 w 4381009"/>
              <a:gd name="connsiteY3" fmla="*/ 205472 h 5892104"/>
              <a:gd name="connsiteX4" fmla="*/ 4213368 w 4381009"/>
              <a:gd name="connsiteY4" fmla="*/ 342890 h 5892104"/>
              <a:gd name="connsiteX5" fmla="*/ 4232030 w 4381009"/>
              <a:gd name="connsiteY5" fmla="*/ 480913 h 5892104"/>
              <a:gd name="connsiteX6" fmla="*/ 4250848 w 4381009"/>
              <a:gd name="connsiteY6" fmla="*/ 618332 h 5892104"/>
              <a:gd name="connsiteX7" fmla="*/ 4268412 w 4381009"/>
              <a:gd name="connsiteY7" fmla="*/ 756355 h 5892104"/>
              <a:gd name="connsiteX8" fmla="*/ 4283467 w 4381009"/>
              <a:gd name="connsiteY8" fmla="*/ 892563 h 5892104"/>
              <a:gd name="connsiteX9" fmla="*/ 4297737 w 4381009"/>
              <a:gd name="connsiteY9" fmla="*/ 1030587 h 5892104"/>
              <a:gd name="connsiteX10" fmla="*/ 4310754 w 4381009"/>
              <a:gd name="connsiteY10" fmla="*/ 1168005 h 5892104"/>
              <a:gd name="connsiteX11" fmla="*/ 4322045 w 4381009"/>
              <a:gd name="connsiteY11" fmla="*/ 1303002 h 5892104"/>
              <a:gd name="connsiteX12" fmla="*/ 4333336 w 4381009"/>
              <a:gd name="connsiteY12" fmla="*/ 1439815 h 5892104"/>
              <a:gd name="connsiteX13" fmla="*/ 4342745 w 4381009"/>
              <a:gd name="connsiteY13" fmla="*/ 1574812 h 5892104"/>
              <a:gd name="connsiteX14" fmla="*/ 4350115 w 4381009"/>
              <a:gd name="connsiteY14" fmla="*/ 1709808 h 5892104"/>
              <a:gd name="connsiteX15" fmla="*/ 4357799 w 4381009"/>
              <a:gd name="connsiteY15" fmla="*/ 1844200 h 5892104"/>
              <a:gd name="connsiteX16" fmla="*/ 4364229 w 4381009"/>
              <a:gd name="connsiteY16" fmla="*/ 1977381 h 5892104"/>
              <a:gd name="connsiteX17" fmla="*/ 4368777 w 4381009"/>
              <a:gd name="connsiteY17" fmla="*/ 2109351 h 5892104"/>
              <a:gd name="connsiteX18" fmla="*/ 4372697 w 4381009"/>
              <a:gd name="connsiteY18" fmla="*/ 2241321 h 5892104"/>
              <a:gd name="connsiteX19" fmla="*/ 4376461 w 4381009"/>
              <a:gd name="connsiteY19" fmla="*/ 2372080 h 5892104"/>
              <a:gd name="connsiteX20" fmla="*/ 4378186 w 4381009"/>
              <a:gd name="connsiteY20" fmla="*/ 2501023 h 5892104"/>
              <a:gd name="connsiteX21" fmla="*/ 4380068 w 4381009"/>
              <a:gd name="connsiteY21" fmla="*/ 2629966 h 5892104"/>
              <a:gd name="connsiteX22" fmla="*/ 4381009 w 4381009"/>
              <a:gd name="connsiteY22" fmla="*/ 2757093 h 5892104"/>
              <a:gd name="connsiteX23" fmla="*/ 4380068 w 4381009"/>
              <a:gd name="connsiteY23" fmla="*/ 2883010 h 5892104"/>
              <a:gd name="connsiteX24" fmla="*/ 4380068 w 4381009"/>
              <a:gd name="connsiteY24" fmla="*/ 3007715 h 5892104"/>
              <a:gd name="connsiteX25" fmla="*/ 4378186 w 4381009"/>
              <a:gd name="connsiteY25" fmla="*/ 3131210 h 5892104"/>
              <a:gd name="connsiteX26" fmla="*/ 4375363 w 4381009"/>
              <a:gd name="connsiteY26" fmla="*/ 3252283 h 5892104"/>
              <a:gd name="connsiteX27" fmla="*/ 4372697 w 4381009"/>
              <a:gd name="connsiteY27" fmla="*/ 3372146 h 5892104"/>
              <a:gd name="connsiteX28" fmla="*/ 4369718 w 4381009"/>
              <a:gd name="connsiteY28" fmla="*/ 3489587 h 5892104"/>
              <a:gd name="connsiteX29" fmla="*/ 4365170 w 4381009"/>
              <a:gd name="connsiteY29" fmla="*/ 3606423 h 5892104"/>
              <a:gd name="connsiteX30" fmla="*/ 4360309 w 4381009"/>
              <a:gd name="connsiteY30" fmla="*/ 3721443 h 5892104"/>
              <a:gd name="connsiteX31" fmla="*/ 4355918 w 4381009"/>
              <a:gd name="connsiteY31" fmla="*/ 3834041 h 5892104"/>
              <a:gd name="connsiteX32" fmla="*/ 4343529 w 4381009"/>
              <a:gd name="connsiteY32" fmla="*/ 4053789 h 5892104"/>
              <a:gd name="connsiteX33" fmla="*/ 4330356 w 4381009"/>
              <a:gd name="connsiteY33" fmla="*/ 4264457 h 5892104"/>
              <a:gd name="connsiteX34" fmla="*/ 4316556 w 4381009"/>
              <a:gd name="connsiteY34" fmla="*/ 4466650 h 5892104"/>
              <a:gd name="connsiteX35" fmla="*/ 4301344 w 4381009"/>
              <a:gd name="connsiteY35" fmla="*/ 4657946 h 5892104"/>
              <a:gd name="connsiteX36" fmla="*/ 4285506 w 4381009"/>
              <a:gd name="connsiteY36" fmla="*/ 4840767 h 5892104"/>
              <a:gd name="connsiteX37" fmla="*/ 4268412 w 4381009"/>
              <a:gd name="connsiteY37" fmla="*/ 5010269 h 5892104"/>
              <a:gd name="connsiteX38" fmla="*/ 4251633 w 4381009"/>
              <a:gd name="connsiteY38" fmla="*/ 5169481 h 5892104"/>
              <a:gd name="connsiteX39" fmla="*/ 4234853 w 4381009"/>
              <a:gd name="connsiteY39" fmla="*/ 5315980 h 5892104"/>
              <a:gd name="connsiteX40" fmla="*/ 4219014 w 4381009"/>
              <a:gd name="connsiteY40" fmla="*/ 5450371 h 5892104"/>
              <a:gd name="connsiteX41" fmla="*/ 4203959 w 4381009"/>
              <a:gd name="connsiteY41" fmla="*/ 5569628 h 5892104"/>
              <a:gd name="connsiteX42" fmla="*/ 4189689 w 4381009"/>
              <a:gd name="connsiteY42" fmla="*/ 5677384 h 5892104"/>
              <a:gd name="connsiteX43" fmla="*/ 4177770 w 4381009"/>
              <a:gd name="connsiteY43" fmla="*/ 5768189 h 5892104"/>
              <a:gd name="connsiteX44" fmla="*/ 4166479 w 4381009"/>
              <a:gd name="connsiteY44" fmla="*/ 5844465 h 5892104"/>
              <a:gd name="connsiteX45" fmla="*/ 4159132 w 4381009"/>
              <a:gd name="connsiteY45" fmla="*/ 5892104 h 5892104"/>
              <a:gd name="connsiteX46" fmla="*/ 0 w 4381009"/>
              <a:gd name="connsiteY46" fmla="*/ 5892104 h 58921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</a:cxnLst>
            <a:rect l="l" t="t" r="r" b="b"/>
            <a:pathLst>
              <a:path w="4381009" h="5892104">
                <a:moveTo>
                  <a:pt x="0" y="0"/>
                </a:moveTo>
                <a:lnTo>
                  <a:pt x="4157628" y="0"/>
                </a:lnTo>
                <a:lnTo>
                  <a:pt x="4169302" y="68659"/>
                </a:lnTo>
                <a:lnTo>
                  <a:pt x="4191571" y="205472"/>
                </a:lnTo>
                <a:lnTo>
                  <a:pt x="4213368" y="342890"/>
                </a:lnTo>
                <a:lnTo>
                  <a:pt x="4232030" y="480913"/>
                </a:lnTo>
                <a:lnTo>
                  <a:pt x="4250848" y="618332"/>
                </a:lnTo>
                <a:lnTo>
                  <a:pt x="4268412" y="756355"/>
                </a:lnTo>
                <a:lnTo>
                  <a:pt x="4283467" y="892563"/>
                </a:lnTo>
                <a:lnTo>
                  <a:pt x="4297737" y="1030587"/>
                </a:lnTo>
                <a:lnTo>
                  <a:pt x="4310754" y="1168005"/>
                </a:lnTo>
                <a:lnTo>
                  <a:pt x="4322045" y="1303002"/>
                </a:lnTo>
                <a:lnTo>
                  <a:pt x="4333336" y="1439815"/>
                </a:lnTo>
                <a:lnTo>
                  <a:pt x="4342745" y="1574812"/>
                </a:lnTo>
                <a:lnTo>
                  <a:pt x="4350115" y="1709808"/>
                </a:lnTo>
                <a:lnTo>
                  <a:pt x="4357799" y="1844200"/>
                </a:lnTo>
                <a:lnTo>
                  <a:pt x="4364229" y="1977381"/>
                </a:lnTo>
                <a:lnTo>
                  <a:pt x="4368777" y="2109351"/>
                </a:lnTo>
                <a:lnTo>
                  <a:pt x="4372697" y="2241321"/>
                </a:lnTo>
                <a:lnTo>
                  <a:pt x="4376461" y="2372080"/>
                </a:lnTo>
                <a:lnTo>
                  <a:pt x="4378186" y="2501023"/>
                </a:lnTo>
                <a:lnTo>
                  <a:pt x="4380068" y="2629966"/>
                </a:lnTo>
                <a:lnTo>
                  <a:pt x="4381009" y="2757093"/>
                </a:lnTo>
                <a:lnTo>
                  <a:pt x="4380068" y="2883010"/>
                </a:lnTo>
                <a:lnTo>
                  <a:pt x="4380068" y="3007715"/>
                </a:lnTo>
                <a:lnTo>
                  <a:pt x="4378186" y="3131210"/>
                </a:lnTo>
                <a:lnTo>
                  <a:pt x="4375363" y="3252283"/>
                </a:lnTo>
                <a:lnTo>
                  <a:pt x="4372697" y="3372146"/>
                </a:lnTo>
                <a:lnTo>
                  <a:pt x="4369718" y="3489587"/>
                </a:lnTo>
                <a:lnTo>
                  <a:pt x="4365170" y="3606423"/>
                </a:lnTo>
                <a:lnTo>
                  <a:pt x="4360309" y="3721443"/>
                </a:lnTo>
                <a:lnTo>
                  <a:pt x="4355918" y="3834041"/>
                </a:lnTo>
                <a:lnTo>
                  <a:pt x="4343529" y="4053789"/>
                </a:lnTo>
                <a:lnTo>
                  <a:pt x="4330356" y="4264457"/>
                </a:lnTo>
                <a:lnTo>
                  <a:pt x="4316556" y="4466650"/>
                </a:lnTo>
                <a:lnTo>
                  <a:pt x="4301344" y="4657946"/>
                </a:lnTo>
                <a:lnTo>
                  <a:pt x="4285506" y="4840767"/>
                </a:lnTo>
                <a:lnTo>
                  <a:pt x="4268412" y="5010269"/>
                </a:lnTo>
                <a:lnTo>
                  <a:pt x="4251633" y="5169481"/>
                </a:lnTo>
                <a:lnTo>
                  <a:pt x="4234853" y="5315980"/>
                </a:lnTo>
                <a:lnTo>
                  <a:pt x="4219014" y="5450371"/>
                </a:lnTo>
                <a:lnTo>
                  <a:pt x="4203959" y="5569628"/>
                </a:lnTo>
                <a:lnTo>
                  <a:pt x="4189689" y="5677384"/>
                </a:lnTo>
                <a:lnTo>
                  <a:pt x="4177770" y="5768189"/>
                </a:lnTo>
                <a:lnTo>
                  <a:pt x="4166479" y="5844465"/>
                </a:lnTo>
                <a:lnTo>
                  <a:pt x="4159132" y="5892104"/>
                </a:lnTo>
                <a:lnTo>
                  <a:pt x="0" y="5892104"/>
                </a:lnTo>
                <a:close/>
              </a:path>
            </a:pathLst>
          </a:custGeom>
          <a:solidFill>
            <a:srgbClr val="40404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7A6A2496-4B99-604B-ACA0-3B2A97F51B1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63029" y="1012004"/>
            <a:ext cx="3416158" cy="4795408"/>
          </a:xfrm>
        </p:spPr>
        <p:txBody>
          <a:bodyPr>
            <a:normAutofit/>
          </a:bodyPr>
          <a:lstStyle/>
          <a:p>
            <a:r>
              <a:rPr lang="en-US" sz="3600" dirty="0">
                <a:solidFill>
                  <a:srgbClr val="FFFFFF"/>
                </a:solidFill>
              </a:rPr>
              <a:t>Henry VIII</a:t>
            </a:r>
            <a:br>
              <a:rPr lang="en-US" sz="3600" dirty="0">
                <a:solidFill>
                  <a:srgbClr val="FFFFFF"/>
                </a:solidFill>
              </a:rPr>
            </a:br>
            <a:br>
              <a:rPr lang="en-US" sz="3200" dirty="0">
                <a:solidFill>
                  <a:srgbClr val="FFFFFF"/>
                </a:solidFill>
              </a:rPr>
            </a:br>
            <a:r>
              <a:rPr lang="en-US" sz="3200" dirty="0">
                <a:solidFill>
                  <a:srgbClr val="FFFFFF"/>
                </a:solidFill>
              </a:rPr>
              <a:t>Only the female character stood out</a:t>
            </a:r>
          </a:p>
        </p:txBody>
      </p:sp>
      <p:graphicFrame>
        <p:nvGraphicFramePr>
          <p:cNvPr id="13" name="Content Placeholder 7">
            <a:extLst>
              <a:ext uri="{FF2B5EF4-FFF2-40B4-BE49-F238E27FC236}">
                <a16:creationId xmlns:a16="http://schemas.microsoft.com/office/drawing/2014/main" id="{7CAEAE64-8D3F-7A4C-81C4-9D9ECFC33950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843476072"/>
              </p:ext>
            </p:extLst>
          </p:nvPr>
        </p:nvGraphicFramePr>
        <p:xfrm>
          <a:off x="4865105" y="753978"/>
          <a:ext cx="6842799" cy="5602371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3" name="Rounded Rectangular Callout 2">
            <a:extLst>
              <a:ext uri="{FF2B5EF4-FFF2-40B4-BE49-F238E27FC236}">
                <a16:creationId xmlns:a16="http://schemas.microsoft.com/office/drawing/2014/main" id="{D912E5CB-E989-B44A-A855-F2A531CA87E3}"/>
              </a:ext>
            </a:extLst>
          </p:cNvPr>
          <p:cNvSpPr/>
          <p:nvPr/>
        </p:nvSpPr>
        <p:spPr>
          <a:xfrm>
            <a:off x="10741152" y="1219200"/>
            <a:ext cx="1304544" cy="463296"/>
          </a:xfrm>
          <a:prstGeom prst="wedgeRoundRectCallout">
            <a:avLst>
              <a:gd name="adj1" fmla="val -85319"/>
              <a:gd name="adj2" fmla="val 62500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Woman</a:t>
            </a:r>
          </a:p>
        </p:txBody>
      </p:sp>
      <p:sp>
        <p:nvSpPr>
          <p:cNvPr id="6" name="Rounded Rectangular Callout 5">
            <a:extLst>
              <a:ext uri="{FF2B5EF4-FFF2-40B4-BE49-F238E27FC236}">
                <a16:creationId xmlns:a16="http://schemas.microsoft.com/office/drawing/2014/main" id="{2013BFE1-59FE-0544-80E0-17632CC857D4}"/>
              </a:ext>
            </a:extLst>
          </p:cNvPr>
          <p:cNvSpPr/>
          <p:nvPr/>
        </p:nvSpPr>
        <p:spPr>
          <a:xfrm>
            <a:off x="10741152" y="3246120"/>
            <a:ext cx="1304544" cy="463296"/>
          </a:xfrm>
          <a:prstGeom prst="wedgeRoundRectCallout">
            <a:avLst>
              <a:gd name="adj1" fmla="val -79711"/>
              <a:gd name="adj2" fmla="val 113709"/>
              <a:gd name="adj3" fmla="val 16667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Men</a:t>
            </a:r>
          </a:p>
        </p:txBody>
      </p:sp>
      <p:sp>
        <p:nvSpPr>
          <p:cNvPr id="5" name="Right Brace 4">
            <a:extLst>
              <a:ext uri="{FF2B5EF4-FFF2-40B4-BE49-F238E27FC236}">
                <a16:creationId xmlns:a16="http://schemas.microsoft.com/office/drawing/2014/main" id="{F78042D6-64B3-0A46-A04A-2C23E5311554}"/>
              </a:ext>
            </a:extLst>
          </p:cNvPr>
          <p:cNvSpPr/>
          <p:nvPr/>
        </p:nvSpPr>
        <p:spPr>
          <a:xfrm>
            <a:off x="9717024" y="2500482"/>
            <a:ext cx="646176" cy="3034686"/>
          </a:xfrm>
          <a:prstGeom prst="rightBrac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316175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446E-55E3-4614-897D-E3CE82073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K-Means Clustering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3961A-D3E2-44AB-962D-9ED2FB1B2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4481" y="978761"/>
            <a:ext cx="8786191" cy="4900478"/>
          </a:xfrm>
          <a:ln>
            <a:noFill/>
            <a:prstDash val="lgDashDotDot"/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5" name="Picture 4" descr="A screenshot of a computer&#10;&#10;Description automatically generated">
            <a:extLst>
              <a:ext uri="{FF2B5EF4-FFF2-40B4-BE49-F238E27FC236}">
                <a16:creationId xmlns:a16="http://schemas.microsoft.com/office/drawing/2014/main" id="{DACCB974-72FA-428B-95CB-8749E0632F5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5954" y="869670"/>
            <a:ext cx="6124526" cy="5825769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DA5E30E4-C440-4D39-B89A-13A82FA73439}"/>
              </a:ext>
            </a:extLst>
          </p:cNvPr>
          <p:cNvSpPr txBox="1"/>
          <p:nvPr/>
        </p:nvSpPr>
        <p:spPr>
          <a:xfrm>
            <a:off x="6576295" y="869670"/>
            <a:ext cx="5178825" cy="5509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1">
                    <a:lumMod val="75000"/>
                  </a:schemeClr>
                </a:solidFill>
              </a:rPr>
              <a:t>Styles of Play</a:t>
            </a:r>
          </a:p>
          <a:p>
            <a:endParaRPr lang="en-US" b="1" dirty="0"/>
          </a:p>
          <a:p>
            <a:r>
              <a:rPr lang="en-US" b="1" dirty="0"/>
              <a:t>Number of Clusters (K)= 4</a:t>
            </a:r>
          </a:p>
          <a:p>
            <a:endParaRPr lang="en-US" dirty="0"/>
          </a:p>
          <a:p>
            <a:r>
              <a:rPr lang="en-US" dirty="0"/>
              <a:t>Cluster 0: As you like it, The Tempest, Merchant of Venice, Anthony and Cleopatra, Julius Caesar - Comedies, Tragedies, Romances</a:t>
            </a:r>
          </a:p>
          <a:p>
            <a:endParaRPr lang="en-US" dirty="0"/>
          </a:p>
          <a:p>
            <a:r>
              <a:rPr lang="en-US" dirty="0"/>
              <a:t>Cluster 1: King John, Henry VI Part 1-3, Henry IV, Henry V, Richard II, Richard III – The Histories</a:t>
            </a:r>
          </a:p>
          <a:p>
            <a:endParaRPr lang="en-US" dirty="0"/>
          </a:p>
          <a:p>
            <a:r>
              <a:rPr lang="en-US" dirty="0"/>
              <a:t>Cluster 2: Hamlet, King Lear, Othello, Winters Tale, Timon of Athens – Tragedies and a Comedy</a:t>
            </a:r>
          </a:p>
          <a:p>
            <a:endParaRPr lang="en-US" dirty="0"/>
          </a:p>
          <a:p>
            <a:r>
              <a:rPr lang="en-US" dirty="0"/>
              <a:t>Cluster 3: Romeo and Juliet, Merry Wives of Windsor, A Midsummer Night’s Dream, Titus Andronicus, Taming of the Shrew, Two gentleman of Verona -  Comedies and Tragedies  </a:t>
            </a:r>
          </a:p>
          <a:p>
            <a:endParaRPr lang="en-US" dirty="0"/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12EF4C41-3B6F-774A-9E3B-922E696F58A0}"/>
              </a:ext>
            </a:extLst>
          </p:cNvPr>
          <p:cNvSpPr/>
          <p:nvPr/>
        </p:nvSpPr>
        <p:spPr>
          <a:xfrm rot="21018488">
            <a:off x="3135014" y="2346078"/>
            <a:ext cx="3188361" cy="1964819"/>
          </a:xfrm>
          <a:prstGeom prst="ellipse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Oval 7">
            <a:extLst>
              <a:ext uri="{FF2B5EF4-FFF2-40B4-BE49-F238E27FC236}">
                <a16:creationId xmlns:a16="http://schemas.microsoft.com/office/drawing/2014/main" id="{48D9C41A-CC6A-614B-BEDA-135C84DFDFFF}"/>
              </a:ext>
            </a:extLst>
          </p:cNvPr>
          <p:cNvSpPr/>
          <p:nvPr/>
        </p:nvSpPr>
        <p:spPr>
          <a:xfrm rot="21018488">
            <a:off x="490870" y="2804046"/>
            <a:ext cx="2671905" cy="1964819"/>
          </a:xfrm>
          <a:prstGeom prst="ellipse">
            <a:avLst/>
          </a:prstGeom>
          <a:noFill/>
          <a:ln>
            <a:solidFill>
              <a:srgbClr val="D19AC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427E58A-DB26-B04E-BC5F-4862CBCD907F}"/>
              </a:ext>
            </a:extLst>
          </p:cNvPr>
          <p:cNvSpPr/>
          <p:nvPr/>
        </p:nvSpPr>
        <p:spPr>
          <a:xfrm rot="21018488">
            <a:off x="439028" y="920148"/>
            <a:ext cx="2189483" cy="1913395"/>
          </a:xfrm>
          <a:prstGeom prst="ellipse">
            <a:avLst/>
          </a:prstGeom>
          <a:noFill/>
          <a:ln>
            <a:solidFill>
              <a:srgbClr val="9591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FC16CD83-7DE6-3A45-98F2-C0B45BC77ED0}"/>
              </a:ext>
            </a:extLst>
          </p:cNvPr>
          <p:cNvSpPr/>
          <p:nvPr/>
        </p:nvSpPr>
        <p:spPr>
          <a:xfrm rot="518198">
            <a:off x="1056937" y="4819627"/>
            <a:ext cx="4071515" cy="1548380"/>
          </a:xfrm>
          <a:prstGeom prst="ellipse">
            <a:avLst/>
          </a:prstGeom>
          <a:noFill/>
          <a:ln>
            <a:solidFill>
              <a:srgbClr val="9EB9D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ounded Rectangular Callout 3">
            <a:extLst>
              <a:ext uri="{FF2B5EF4-FFF2-40B4-BE49-F238E27FC236}">
                <a16:creationId xmlns:a16="http://schemas.microsoft.com/office/drawing/2014/main" id="{6613A8B2-B208-8D4E-A778-440C2A417438}"/>
              </a:ext>
            </a:extLst>
          </p:cNvPr>
          <p:cNvSpPr/>
          <p:nvPr/>
        </p:nvSpPr>
        <p:spPr>
          <a:xfrm>
            <a:off x="4267200" y="1304544"/>
            <a:ext cx="1393708" cy="390144"/>
          </a:xfrm>
          <a:prstGeom prst="wedgeRoundRectCallout">
            <a:avLst>
              <a:gd name="adj1" fmla="val -21708"/>
              <a:gd name="adj2" fmla="val 212500"/>
              <a:gd name="adj3" fmla="val 16667"/>
            </a:avLst>
          </a:prstGeom>
          <a:solidFill>
            <a:schemeClr val="accent6">
              <a:lumMod val="75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/>
              <a:t>Histories</a:t>
            </a:r>
          </a:p>
        </p:txBody>
      </p:sp>
    </p:spTree>
    <p:extLst>
      <p:ext uri="{BB962C8B-B14F-4D97-AF65-F5344CB8AC3E}">
        <p14:creationId xmlns:p14="http://schemas.microsoft.com/office/powerpoint/2010/main" val="128709849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07E0-557F-4C57-9093-0CBEE8E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Comedy vs Tragedy : </a:t>
            </a:r>
            <a:r>
              <a:rPr lang="en-US" sz="3100" dirty="0"/>
              <a:t>Topic Modeling (LDA) </a:t>
            </a:r>
            <a:endParaRPr lang="en-US" dirty="0"/>
          </a:p>
        </p:txBody>
      </p:sp>
      <p:pic>
        <p:nvPicPr>
          <p:cNvPr id="16" name="Content Placeholder 18">
            <a:extLst>
              <a:ext uri="{FF2B5EF4-FFF2-40B4-BE49-F238E27FC236}">
                <a16:creationId xmlns:a16="http://schemas.microsoft.com/office/drawing/2014/main" id="{45C16C93-E40C-4EE8-8248-9BF85554FDD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37709" y="4319030"/>
            <a:ext cx="4193941" cy="2368206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pic>
        <p:nvPicPr>
          <p:cNvPr id="17" name="Picture 16">
            <a:extLst>
              <a:ext uri="{FF2B5EF4-FFF2-40B4-BE49-F238E27FC236}">
                <a16:creationId xmlns:a16="http://schemas.microsoft.com/office/drawing/2014/main" id="{A13F382C-341B-4E9B-9C9C-87CE86B33FF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10937" y="1554468"/>
            <a:ext cx="4477957" cy="2528582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4AF49056-3883-43BF-B602-91404C911040}"/>
              </a:ext>
            </a:extLst>
          </p:cNvPr>
          <p:cNvGraphicFramePr>
            <a:graphicFrameLocks noGrp="1"/>
          </p:cNvGraphicFramePr>
          <p:nvPr/>
        </p:nvGraphicFramePr>
        <p:xfrm>
          <a:off x="260350" y="2885142"/>
          <a:ext cx="2743200" cy="3802094"/>
        </p:xfrm>
        <a:graphic>
          <a:graphicData uri="http://schemas.openxmlformats.org/drawingml/2006/table">
            <a:tbl>
              <a:tblPr>
                <a:tableStyleId>{35758FB7-9AC5-4552-8A53-C91805E547FA}</a:tableStyleId>
              </a:tblPr>
              <a:tblGrid>
                <a:gridCol w="1311994">
                  <a:extLst>
                    <a:ext uri="{9D8B030D-6E8A-4147-A177-3AD203B41FA5}">
                      <a16:colId xmlns:a16="http://schemas.microsoft.com/office/drawing/2014/main" val="3024509832"/>
                    </a:ext>
                  </a:extLst>
                </a:gridCol>
                <a:gridCol w="1431206">
                  <a:extLst>
                    <a:ext uri="{9D8B030D-6E8A-4147-A177-3AD203B41FA5}">
                      <a16:colId xmlns:a16="http://schemas.microsoft.com/office/drawing/2014/main" val="452718741"/>
                    </a:ext>
                  </a:extLst>
                </a:gridCol>
              </a:tblGrid>
              <a:tr h="2504834"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none" strike="noStrike" dirty="0">
                          <a:effectLst/>
                        </a:rPr>
                        <a:t>COMEDIES</a:t>
                      </a:r>
                    </a:p>
                    <a:p>
                      <a:pPr algn="l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none" strike="noStrike" dirty="0">
                          <a:effectLst/>
                          <a:hlinkClick r:id="rId4"/>
                        </a:rPr>
                        <a:t>All's Well That Ends Well</a:t>
                      </a:r>
                      <a:br>
                        <a:rPr lang="en-US" sz="1100" u="none" strike="noStrike" dirty="0">
                          <a:effectLst/>
                          <a:hlinkClick r:id="rId4"/>
                        </a:rPr>
                      </a:br>
                      <a:r>
                        <a:rPr lang="en-US" sz="1100" u="none" strike="noStrike" dirty="0">
                          <a:effectLst/>
                          <a:hlinkClick r:id="rId5"/>
                        </a:rPr>
                        <a:t>As You Like It</a:t>
                      </a:r>
                      <a:br>
                        <a:rPr lang="en-US" sz="1100" u="none" strike="noStrike" dirty="0">
                          <a:effectLst/>
                          <a:hlinkClick r:id="rId5"/>
                        </a:rPr>
                      </a:br>
                      <a:r>
                        <a:rPr lang="en-US" sz="1100" u="none" strike="noStrike" dirty="0">
                          <a:effectLst/>
                          <a:hlinkClick r:id="rId6"/>
                        </a:rPr>
                        <a:t>Comedy of Errors</a:t>
                      </a:r>
                      <a:br>
                        <a:rPr lang="en-US" sz="1100" u="none" strike="noStrike" dirty="0">
                          <a:effectLst/>
                          <a:hlinkClick r:id="rId6"/>
                        </a:rPr>
                      </a:br>
                      <a:r>
                        <a:rPr lang="en-US" sz="1100" u="none" strike="noStrike" dirty="0">
                          <a:effectLst/>
                          <a:hlinkClick r:id="rId7"/>
                        </a:rPr>
                        <a:t>Love's Labour's Lost</a:t>
                      </a:r>
                      <a:br>
                        <a:rPr lang="en-US" sz="1100" u="none" strike="noStrike" dirty="0">
                          <a:effectLst/>
                          <a:hlinkClick r:id="rId7"/>
                        </a:rPr>
                      </a:br>
                      <a:r>
                        <a:rPr lang="en-US" sz="1100" u="none" strike="noStrike" dirty="0">
                          <a:effectLst/>
                          <a:hlinkClick r:id="rId8"/>
                        </a:rPr>
                        <a:t>Measure for Measure</a:t>
                      </a:r>
                      <a:br>
                        <a:rPr lang="en-US" sz="1100" u="none" strike="noStrike" dirty="0">
                          <a:effectLst/>
                          <a:hlinkClick r:id="rId8"/>
                        </a:rPr>
                      </a:br>
                      <a:r>
                        <a:rPr lang="en-US" sz="1100" u="none" strike="noStrike" dirty="0">
                          <a:effectLst/>
                          <a:hlinkClick r:id="rId9"/>
                        </a:rPr>
                        <a:t>Merchant of Venice</a:t>
                      </a:r>
                      <a:br>
                        <a:rPr lang="en-US" sz="1100" u="none" strike="noStrike" dirty="0">
                          <a:effectLst/>
                          <a:hlinkClick r:id="rId9"/>
                        </a:rPr>
                      </a:br>
                      <a:r>
                        <a:rPr lang="en-US" sz="1100" u="none" strike="noStrike" dirty="0">
                          <a:effectLst/>
                          <a:hlinkClick r:id="rId10"/>
                        </a:rPr>
                        <a:t>Merry Wives of Windsor</a:t>
                      </a:r>
                      <a:br>
                        <a:rPr lang="en-US" sz="1100" u="none" strike="noStrike" dirty="0">
                          <a:effectLst/>
                          <a:hlinkClick r:id="rId10"/>
                        </a:rPr>
                      </a:br>
                      <a:r>
                        <a:rPr lang="en-US" sz="1100" u="none" strike="noStrike" dirty="0">
                          <a:effectLst/>
                          <a:hlinkClick r:id="rId11"/>
                        </a:rPr>
                        <a:t>Midsummer Night's Dream</a:t>
                      </a:r>
                      <a:br>
                        <a:rPr lang="en-US" sz="1100" u="none" strike="noStrike" dirty="0">
                          <a:effectLst/>
                          <a:hlinkClick r:id="rId11"/>
                        </a:rPr>
                      </a:br>
                      <a:r>
                        <a:rPr lang="en-US" sz="1100" u="none" strike="noStrike" dirty="0">
                          <a:effectLst/>
                          <a:hlinkClick r:id="rId12"/>
                        </a:rPr>
                        <a:t>Much Ado about Nothing</a:t>
                      </a:r>
                      <a:br>
                        <a:rPr lang="en-US" sz="1100" u="none" strike="noStrike" dirty="0">
                          <a:effectLst/>
                          <a:hlinkClick r:id="rId12"/>
                        </a:rPr>
                      </a:br>
                      <a:r>
                        <a:rPr lang="en-US" sz="1100" u="none" strike="noStrike" dirty="0">
                          <a:effectLst/>
                          <a:hlinkClick r:id="rId13"/>
                        </a:rPr>
                        <a:t>Taming of the Shrew</a:t>
                      </a:r>
                      <a:br>
                        <a:rPr lang="en-US" sz="1100" u="none" strike="noStrike" dirty="0">
                          <a:effectLst/>
                          <a:hlinkClick r:id="rId13"/>
                        </a:rPr>
                      </a:br>
                      <a:r>
                        <a:rPr lang="en-US" sz="1100" u="none" strike="noStrike" dirty="0">
                          <a:effectLst/>
                          <a:hlinkClick r:id="rId14"/>
                        </a:rPr>
                        <a:t>Tempest</a:t>
                      </a:r>
                      <a:br>
                        <a:rPr lang="en-US" sz="1100" u="none" strike="noStrike" dirty="0">
                          <a:effectLst/>
                          <a:hlinkClick r:id="rId14"/>
                        </a:rPr>
                      </a:br>
                      <a:r>
                        <a:rPr lang="en-US" sz="1100" u="none" strike="noStrike" dirty="0">
                          <a:effectLst/>
                          <a:hlinkClick r:id="rId15"/>
                        </a:rPr>
                        <a:t>Twelfth Night</a:t>
                      </a:r>
                      <a:br>
                        <a:rPr lang="en-US" sz="1100" u="none" strike="noStrike" dirty="0">
                          <a:effectLst/>
                          <a:hlinkClick r:id="rId15"/>
                        </a:rPr>
                      </a:br>
                      <a:r>
                        <a:rPr lang="en-US" sz="1100" u="none" strike="noStrike" dirty="0">
                          <a:effectLst/>
                          <a:hlinkClick r:id="rId16"/>
                        </a:rPr>
                        <a:t>Two Gentlemen of Verona</a:t>
                      </a:r>
                      <a:br>
                        <a:rPr lang="en-US" sz="1100" u="none" strike="noStrike" dirty="0">
                          <a:effectLst/>
                          <a:hlinkClick r:id="rId16"/>
                        </a:rPr>
                      </a:br>
                      <a:r>
                        <a:rPr lang="en-US" sz="1100" u="none" strike="noStrike" dirty="0">
                          <a:effectLst/>
                          <a:hlinkClick r:id="rId17"/>
                        </a:rPr>
                        <a:t>Winter's Tale</a:t>
                      </a:r>
                      <a:br>
                        <a:rPr lang="en-US" sz="1100" u="none" strike="noStrike" dirty="0">
                          <a:effectLst/>
                          <a:hlinkClick r:id="rId17"/>
                        </a:rPr>
                      </a:b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007" marR="57007" marT="57007" marB="57007"/>
                </a:tc>
                <a:tc>
                  <a:txBody>
                    <a:bodyPr/>
                    <a:lstStyle/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none" strike="noStrike" dirty="0">
                          <a:effectLst/>
                        </a:rPr>
                        <a:t>TRAGEDIES</a:t>
                      </a:r>
                    </a:p>
                    <a:p>
                      <a:pPr algn="ctr" fontAlgn="t"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sz="1100" u="none" strike="noStrike" dirty="0">
                          <a:effectLst/>
                          <a:hlinkClick r:id="rId18"/>
                        </a:rPr>
                        <a:t>Antony and Cleopatra</a:t>
                      </a:r>
                      <a:br>
                        <a:rPr lang="en-US" sz="1100" u="none" strike="noStrike" dirty="0">
                          <a:effectLst/>
                          <a:hlinkClick r:id="rId18"/>
                        </a:rPr>
                      </a:br>
                      <a:r>
                        <a:rPr lang="en-US" sz="1100" u="none" strike="noStrike" dirty="0">
                          <a:effectLst/>
                          <a:hlinkClick r:id="rId19"/>
                        </a:rPr>
                        <a:t>Coriolanus</a:t>
                      </a:r>
                      <a:br>
                        <a:rPr lang="en-US" sz="1100" u="none" strike="noStrike" dirty="0">
                          <a:effectLst/>
                          <a:hlinkClick r:id="rId19"/>
                        </a:rPr>
                      </a:br>
                      <a:r>
                        <a:rPr lang="en-US" sz="1100" u="none" strike="noStrike" dirty="0">
                          <a:effectLst/>
                          <a:hlinkClick r:id="rId20"/>
                        </a:rPr>
                        <a:t>Cymbeline</a:t>
                      </a:r>
                      <a:br>
                        <a:rPr lang="en-US" sz="1100" u="none" strike="noStrike" dirty="0">
                          <a:effectLst/>
                          <a:hlinkClick r:id="rId20"/>
                        </a:rPr>
                      </a:br>
                      <a:r>
                        <a:rPr lang="en-US" sz="1100" u="none" strike="noStrike" dirty="0">
                          <a:effectLst/>
                          <a:hlinkClick r:id="rId21"/>
                        </a:rPr>
                        <a:t>Hamlet</a:t>
                      </a:r>
                      <a:br>
                        <a:rPr lang="en-US" sz="1100" u="none" strike="noStrike" dirty="0">
                          <a:effectLst/>
                          <a:hlinkClick r:id="rId21"/>
                        </a:rPr>
                      </a:br>
                      <a:r>
                        <a:rPr lang="en-US" sz="1100" u="none" strike="noStrike" dirty="0">
                          <a:effectLst/>
                          <a:hlinkClick r:id="rId22"/>
                        </a:rPr>
                        <a:t>Julius Caesar</a:t>
                      </a:r>
                      <a:br>
                        <a:rPr lang="en-US" sz="1100" u="none" strike="noStrike" dirty="0">
                          <a:effectLst/>
                          <a:hlinkClick r:id="rId22"/>
                        </a:rPr>
                      </a:br>
                      <a:r>
                        <a:rPr lang="en-US" sz="1100" u="none" strike="noStrike" dirty="0">
                          <a:effectLst/>
                          <a:hlinkClick r:id="rId23"/>
                        </a:rPr>
                        <a:t>King Lear</a:t>
                      </a:r>
                      <a:br>
                        <a:rPr lang="en-US" sz="1100" u="none" strike="noStrike" dirty="0">
                          <a:effectLst/>
                          <a:hlinkClick r:id="rId23"/>
                        </a:rPr>
                      </a:br>
                      <a:r>
                        <a:rPr lang="en-US" sz="1100" u="none" strike="noStrike" dirty="0">
                          <a:effectLst/>
                          <a:hlinkClick r:id="rId24"/>
                        </a:rPr>
                        <a:t>Macbeth</a:t>
                      </a:r>
                      <a:br>
                        <a:rPr lang="en-US" sz="1100" u="none" strike="noStrike" dirty="0">
                          <a:effectLst/>
                          <a:hlinkClick r:id="rId24"/>
                        </a:rPr>
                      </a:br>
                      <a:r>
                        <a:rPr lang="en-US" sz="1100" u="none" strike="noStrike" dirty="0">
                          <a:effectLst/>
                          <a:hlinkClick r:id="rId25"/>
                        </a:rPr>
                        <a:t>Othello</a:t>
                      </a:r>
                      <a:br>
                        <a:rPr lang="en-US" sz="1100" u="none" strike="noStrike" dirty="0">
                          <a:effectLst/>
                          <a:hlinkClick r:id="rId25"/>
                        </a:rPr>
                      </a:br>
                      <a:r>
                        <a:rPr lang="en-US" sz="1100" u="none" strike="noStrike" dirty="0">
                          <a:effectLst/>
                          <a:hlinkClick r:id="rId26"/>
                        </a:rPr>
                        <a:t>Romeo and Juliet</a:t>
                      </a:r>
                      <a:br>
                        <a:rPr lang="en-US" sz="1100" u="none" strike="noStrike" dirty="0">
                          <a:effectLst/>
                          <a:hlinkClick r:id="rId26"/>
                        </a:rPr>
                      </a:br>
                      <a:r>
                        <a:rPr lang="en-US" sz="1100" u="none" strike="noStrike" dirty="0">
                          <a:effectLst/>
                          <a:hlinkClick r:id="rId27"/>
                        </a:rPr>
                        <a:t>Timon of Athens</a:t>
                      </a:r>
                      <a:br>
                        <a:rPr lang="en-US" sz="1100" u="none" strike="noStrike" dirty="0">
                          <a:effectLst/>
                          <a:hlinkClick r:id="rId27"/>
                        </a:rPr>
                      </a:br>
                      <a:r>
                        <a:rPr lang="en-US" sz="1100" u="none" strike="noStrike" dirty="0">
                          <a:effectLst/>
                          <a:hlinkClick r:id="rId28"/>
                        </a:rPr>
                        <a:t>Titus Andronicus</a:t>
                      </a:r>
                      <a:br>
                        <a:rPr lang="en-US" sz="1100" u="none" strike="noStrike" dirty="0">
                          <a:effectLst/>
                          <a:hlinkClick r:id="rId28"/>
                        </a:rPr>
                      </a:br>
                      <a:r>
                        <a:rPr lang="en-US" sz="1100" u="none" strike="noStrike" dirty="0">
                          <a:effectLst/>
                          <a:hlinkClick r:id="rId29"/>
                        </a:rPr>
                        <a:t>Troilus and Cressida</a:t>
                      </a:r>
                      <a:endParaRPr lang="en-US" sz="1100" b="0" i="0" u="none" strike="noStrike" dirty="0">
                        <a:effectLst/>
                        <a:latin typeface="Arial" panose="020B0604020202020204" pitchFamily="34" charset="0"/>
                      </a:endParaRPr>
                    </a:p>
                  </a:txBody>
                  <a:tcPr marL="57007" marR="57007" marT="57007" marB="57007"/>
                </a:tc>
                <a:extLst>
                  <a:ext uri="{0D108BD9-81ED-4DB2-BD59-A6C34878D82A}">
                    <a16:rowId xmlns:a16="http://schemas.microsoft.com/office/drawing/2014/main" val="506271989"/>
                  </a:ext>
                </a:extLst>
              </a:tr>
            </a:tbl>
          </a:graphicData>
        </a:graphic>
      </p:graphicFrame>
      <p:sp>
        <p:nvSpPr>
          <p:cNvPr id="24" name="TextBox 23">
            <a:extLst>
              <a:ext uri="{FF2B5EF4-FFF2-40B4-BE49-F238E27FC236}">
                <a16:creationId xmlns:a16="http://schemas.microsoft.com/office/drawing/2014/main" id="{259D1D37-7E15-4A7C-B0CB-945F61CBC397}"/>
              </a:ext>
            </a:extLst>
          </p:cNvPr>
          <p:cNvSpPr txBox="1"/>
          <p:nvPr/>
        </p:nvSpPr>
        <p:spPr>
          <a:xfrm>
            <a:off x="9356731" y="3898384"/>
            <a:ext cx="84061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Topic 2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6BA3CBFE-17BC-41FB-A62A-60777706AAD5}"/>
              </a:ext>
            </a:extLst>
          </p:cNvPr>
          <p:cNvSpPr txBox="1"/>
          <p:nvPr/>
        </p:nvSpPr>
        <p:spPr>
          <a:xfrm>
            <a:off x="4937131" y="1133822"/>
            <a:ext cx="108266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Topic one</a:t>
            </a:r>
          </a:p>
        </p:txBody>
      </p:sp>
    </p:spTree>
    <p:extLst>
      <p:ext uri="{BB962C8B-B14F-4D97-AF65-F5344CB8AC3E}">
        <p14:creationId xmlns:p14="http://schemas.microsoft.com/office/powerpoint/2010/main" val="74619063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8407E0-557F-4C57-9093-0CBEE8E72D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Comedy vs Tragedy : </a:t>
            </a:r>
            <a:r>
              <a:rPr lang="en-US" sz="3100" dirty="0"/>
              <a:t>Topic Modeling (LDA) </a:t>
            </a:r>
            <a:endParaRPr lang="en-US" dirty="0"/>
          </a:p>
        </p:txBody>
      </p:sp>
      <p:graphicFrame>
        <p:nvGraphicFramePr>
          <p:cNvPr id="11" name="Chart 10">
            <a:extLst>
              <a:ext uri="{FF2B5EF4-FFF2-40B4-BE49-F238E27FC236}">
                <a16:creationId xmlns:a16="http://schemas.microsoft.com/office/drawing/2014/main" id="{2BE2FE79-0D05-4614-A0CB-ACDA3B7D9932}"/>
              </a:ext>
            </a:extLst>
          </p:cNvPr>
          <p:cNvGraphicFramePr>
            <a:graphicFrameLocks/>
          </p:cNvGraphicFramePr>
          <p:nvPr/>
        </p:nvGraphicFramePr>
        <p:xfrm>
          <a:off x="4121150" y="3296020"/>
          <a:ext cx="5715000" cy="361871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pic>
        <p:nvPicPr>
          <p:cNvPr id="15" name="Content Placeholder 14">
            <a:extLst>
              <a:ext uri="{FF2B5EF4-FFF2-40B4-BE49-F238E27FC236}">
                <a16:creationId xmlns:a16="http://schemas.microsoft.com/office/drawing/2014/main" id="{01169A11-5E1A-4BAF-8CB8-FB5126707B29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246063" y="924229"/>
            <a:ext cx="5659437" cy="3042934"/>
          </a:xfrm>
          <a:prstGeom prst="rect">
            <a:avLst/>
          </a:prstGeom>
          <a:ln>
            <a:solidFill>
              <a:schemeClr val="tx1"/>
            </a:solidFill>
          </a:ln>
        </p:spPr>
      </p:pic>
      <p:graphicFrame>
        <p:nvGraphicFramePr>
          <p:cNvPr id="19" name="Table 19">
            <a:extLst>
              <a:ext uri="{FF2B5EF4-FFF2-40B4-BE49-F238E27FC236}">
                <a16:creationId xmlns:a16="http://schemas.microsoft.com/office/drawing/2014/main" id="{C7CCD4BB-5FCA-46C9-945A-52E718C4D1D6}"/>
              </a:ext>
            </a:extLst>
          </p:cNvPr>
          <p:cNvGraphicFramePr>
            <a:graphicFrameLocks noGrp="1"/>
          </p:cNvGraphicFramePr>
          <p:nvPr/>
        </p:nvGraphicFramePr>
        <p:xfrm>
          <a:off x="8151813" y="1541510"/>
          <a:ext cx="3794124" cy="13867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4708">
                  <a:extLst>
                    <a:ext uri="{9D8B030D-6E8A-4147-A177-3AD203B41FA5}">
                      <a16:colId xmlns:a16="http://schemas.microsoft.com/office/drawing/2014/main" val="3907721753"/>
                    </a:ext>
                  </a:extLst>
                </a:gridCol>
                <a:gridCol w="1264708">
                  <a:extLst>
                    <a:ext uri="{9D8B030D-6E8A-4147-A177-3AD203B41FA5}">
                      <a16:colId xmlns:a16="http://schemas.microsoft.com/office/drawing/2014/main" val="3760444283"/>
                    </a:ext>
                  </a:extLst>
                </a:gridCol>
                <a:gridCol w="1264708">
                  <a:extLst>
                    <a:ext uri="{9D8B030D-6E8A-4147-A177-3AD203B41FA5}">
                      <a16:colId xmlns:a16="http://schemas.microsoft.com/office/drawing/2014/main" val="1275564256"/>
                    </a:ext>
                  </a:extLst>
                </a:gridCol>
              </a:tblGrid>
              <a:tr h="373354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LDA-Comedy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LDA-Tragedy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85885810"/>
                  </a:ext>
                </a:extLst>
              </a:tr>
              <a:tr h="373354">
                <a:tc>
                  <a:txBody>
                    <a:bodyPr/>
                    <a:lstStyle/>
                    <a:p>
                      <a:r>
                        <a:rPr lang="en-US" dirty="0"/>
                        <a:t>Comedy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69659703"/>
                  </a:ext>
                </a:extLst>
              </a:tr>
              <a:tr h="373354">
                <a:tc>
                  <a:txBody>
                    <a:bodyPr/>
                    <a:lstStyle/>
                    <a:p>
                      <a:r>
                        <a:rPr lang="en-US" dirty="0"/>
                        <a:t>Tragedy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28680722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112525156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446E-55E3-4614-897D-E3CE82073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3363"/>
            <a:ext cx="11415713" cy="668625"/>
          </a:xfrm>
        </p:spPr>
        <p:txBody>
          <a:bodyPr>
            <a:noAutofit/>
          </a:bodyPr>
          <a:lstStyle/>
          <a:p>
            <a:r>
              <a:rPr lang="en-US" sz="3600" dirty="0"/>
              <a:t>Much Ado About Stopwords with a k-means Assessment</a:t>
            </a:r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CB8393-7D7D-41AC-8B7D-EC86365DE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66725" y="393933"/>
            <a:ext cx="11258550" cy="355306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noAutofit/>
          </a:bodyPr>
          <a:lstStyle/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Research has shown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the </a:t>
            </a:r>
            <a:r>
              <a:rPr lang="en-US" altLang="en-US" sz="2400" dirty="0"/>
              <a:t>importance of stopwords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in literary text classification.</a:t>
            </a:r>
          </a:p>
          <a:p>
            <a:pPr marL="342900" lvl="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According to Dr. Bei Yu, extremely common words can influence machine learning algorithms. Sentimental novels and plays create complex storylines and words like “my” might be a common word in one collection but not another so they should not be readily excluded </a:t>
            </a:r>
            <a:r>
              <a:rPr lang="en-US" altLang="en-US" dirty="0"/>
              <a:t>(Yu, p. 330)</a:t>
            </a:r>
            <a:r>
              <a:rPr lang="en-US" altLang="en-US" sz="2400" dirty="0"/>
              <a:t>.*</a:t>
            </a:r>
          </a:p>
          <a:p>
            <a:pPr marL="342900" marR="0" lvl="0" indent="-3429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en-US" sz="2400" dirty="0"/>
              <a:t>Shakespearean corpuses possess a small inventory of stopwords ~3% </a:t>
            </a:r>
            <a:r>
              <a:rPr lang="en-US" altLang="en-US" sz="1400" dirty="0"/>
              <a:t>(average 5 play samples).</a:t>
            </a: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TF-IDF &amp; cosine similarity were assessed.</a:t>
            </a:r>
            <a:endParaRPr lang="en-US" altLang="en-US" sz="2400" dirty="0">
              <a:highlight>
                <a:srgbClr val="FFFF00"/>
              </a:highlight>
            </a:endParaRPr>
          </a:p>
          <a:p>
            <a:pPr marL="342900" indent="-342900" eaLnBrk="0" fontAlgn="base" hangingPunct="0">
              <a:spcBef>
                <a:spcPct val="0"/>
              </a:spcBef>
              <a:spcAft>
                <a:spcPct val="0"/>
              </a:spcAft>
              <a:buFont typeface="Arial" panose="020B0604020202020204" pitchFamily="34" charset="0"/>
              <a:buChar char="•"/>
            </a:pPr>
            <a:r>
              <a:rPr lang="en-US" altLang="en-US" sz="2400" dirty="0"/>
              <a:t>Excluding stopwords did not impact k-means and SVM algorithm classifications.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FCECDA-FAF3-4735-919C-4341E9D9A417}"/>
              </a:ext>
            </a:extLst>
          </p:cNvPr>
          <p:cNvSpPr/>
          <p:nvPr/>
        </p:nvSpPr>
        <p:spPr>
          <a:xfrm>
            <a:off x="6731" y="6613649"/>
            <a:ext cx="93821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>
                <a:solidFill>
                  <a:schemeClr val="accent1"/>
                </a:solidFill>
              </a:rPr>
              <a:t>*Bei, Y. (2008). An evaluation of text classification methods for literary study. Literary and Linguistic Computing 23( 3): 327-34</a:t>
            </a:r>
            <a:endParaRPr lang="en-US" sz="1100" dirty="0">
              <a:solidFill>
                <a:schemeClr val="accent1"/>
              </a:solidFill>
            </a:endParaRPr>
          </a:p>
        </p:txBody>
      </p:sp>
      <p:graphicFrame>
        <p:nvGraphicFramePr>
          <p:cNvPr id="23" name="Table 22">
            <a:extLst>
              <a:ext uri="{FF2B5EF4-FFF2-40B4-BE49-F238E27FC236}">
                <a16:creationId xmlns:a16="http://schemas.microsoft.com/office/drawing/2014/main" id="{1FE78E65-140E-4714-BEDC-046E66CCDA9D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8371384"/>
              </p:ext>
            </p:extLst>
          </p:nvPr>
        </p:nvGraphicFramePr>
        <p:xfrm>
          <a:off x="228172" y="3632896"/>
          <a:ext cx="11716604" cy="3017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858302">
                  <a:extLst>
                    <a:ext uri="{9D8B030D-6E8A-4147-A177-3AD203B41FA5}">
                      <a16:colId xmlns:a16="http://schemas.microsoft.com/office/drawing/2014/main" val="698684256"/>
                    </a:ext>
                  </a:extLst>
                </a:gridCol>
                <a:gridCol w="5858302">
                  <a:extLst>
                    <a:ext uri="{9D8B030D-6E8A-4147-A177-3AD203B41FA5}">
                      <a16:colId xmlns:a16="http://schemas.microsoft.com/office/drawing/2014/main" val="2072199963"/>
                    </a:ext>
                  </a:extLst>
                </a:gridCol>
              </a:tblGrid>
              <a:tr h="313983">
                <a:tc gridSpan="2">
                  <a:txBody>
                    <a:bodyPr/>
                    <a:lstStyle/>
                    <a:p>
                      <a:pPr algn="ctr"/>
                      <a:r>
                        <a:rPr lang="en-US" dirty="0">
                          <a:solidFill>
                            <a:srgbClr val="C00000"/>
                          </a:solidFill>
                        </a:rPr>
                        <a:t>Character Grouping with k-means by Vocabulary Usage – 55 Total Characters with 5 Clusters</a:t>
                      </a:r>
                    </a:p>
                  </a:txBody>
                  <a:tcPr>
                    <a:gradFill>
                      <a:gsLst>
                        <a:gs pos="0">
                          <a:schemeClr val="accent4">
                            <a:lumMod val="20000"/>
                            <a:lumOff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 hMerge="1"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96146819"/>
                  </a:ext>
                </a:extLst>
              </a:tr>
              <a:tr h="33036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With Stopwords</a:t>
                      </a:r>
                    </a:p>
                  </a:txBody>
                  <a:tcPr>
                    <a:gradFill>
                      <a:gsLst>
                        <a:gs pos="0">
                          <a:schemeClr val="accent4">
                            <a:lumMod val="20000"/>
                            <a:lumOff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Without Stopwords</a:t>
                      </a:r>
                    </a:p>
                  </a:txBody>
                  <a:tcPr>
                    <a:gradFill>
                      <a:gsLst>
                        <a:gs pos="0">
                          <a:schemeClr val="accent4">
                            <a:lumMod val="20000"/>
                            <a:lumOff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526449482"/>
                  </a:ext>
                </a:extLst>
              </a:tr>
              <a:tr h="1786397">
                <a:tc>
                  <a:txBody>
                    <a:bodyPr/>
                    <a:lstStyle/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  <a:p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4">
                            <a:lumMod val="20000"/>
                            <a:lumOff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>
                    <a:gradFill>
                      <a:gsLst>
                        <a:gs pos="0">
                          <a:schemeClr val="accent4">
                            <a:lumMod val="20000"/>
                            <a:lumOff val="80000"/>
                          </a:schemeClr>
                        </a:gs>
                        <a:gs pos="74000">
                          <a:schemeClr val="accent1">
                            <a:lumMod val="45000"/>
                            <a:lumOff val="55000"/>
                          </a:schemeClr>
                        </a:gs>
                        <a:gs pos="83000">
                          <a:schemeClr val="accent1">
                            <a:lumMod val="45000"/>
                            <a:lumOff val="55000"/>
                          </a:schemeClr>
                        </a:gs>
                        <a:gs pos="100000">
                          <a:schemeClr val="accent1">
                            <a:lumMod val="30000"/>
                            <a:lumOff val="70000"/>
                          </a:schemeClr>
                        </a:gs>
                      </a:gsLst>
                      <a:lin ang="5400000" scaled="1"/>
                    </a:gradFill>
                  </a:tcPr>
                </a:tc>
                <a:extLst>
                  <a:ext uri="{0D108BD9-81ED-4DB2-BD59-A6C34878D82A}">
                    <a16:rowId xmlns:a16="http://schemas.microsoft.com/office/drawing/2014/main" val="2299729983"/>
                  </a:ext>
                </a:extLst>
              </a:tr>
            </a:tbl>
          </a:graphicData>
        </a:graphic>
      </p:graphicFrame>
      <p:pic>
        <p:nvPicPr>
          <p:cNvPr id="26" name="Picture 25">
            <a:extLst>
              <a:ext uri="{FF2B5EF4-FFF2-40B4-BE49-F238E27FC236}">
                <a16:creationId xmlns:a16="http://schemas.microsoft.com/office/drawing/2014/main" id="{776737D7-4328-41BC-A795-4195EEBF1793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r="6256" b="10556"/>
          <a:stretch/>
        </p:blipFill>
        <p:spPr>
          <a:xfrm>
            <a:off x="2957550" y="4509687"/>
            <a:ext cx="3067986" cy="1949010"/>
          </a:xfrm>
          <a:prstGeom prst="rect">
            <a:avLst/>
          </a:prstGeom>
        </p:spPr>
      </p:pic>
      <p:sp>
        <p:nvSpPr>
          <p:cNvPr id="27" name="TextBox 26">
            <a:extLst>
              <a:ext uri="{FF2B5EF4-FFF2-40B4-BE49-F238E27FC236}">
                <a16:creationId xmlns:a16="http://schemas.microsoft.com/office/drawing/2014/main" id="{1ED76C2E-3A3B-40F3-AEFE-7E954B034B51}"/>
              </a:ext>
            </a:extLst>
          </p:cNvPr>
          <p:cNvSpPr txBox="1"/>
          <p:nvPr/>
        </p:nvSpPr>
        <p:spPr>
          <a:xfrm>
            <a:off x="294136" y="4430984"/>
            <a:ext cx="2639688" cy="21451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r"/>
            <a:r>
              <a:rPr lang="en-US" sz="1400" dirty="0"/>
              <a:t>  [8] Significant 2</a:t>
            </a:r>
            <a:r>
              <a:rPr lang="en-US" sz="1400" baseline="30000" dirty="0"/>
              <a:t>nd</a:t>
            </a:r>
            <a:r>
              <a:rPr lang="en-US" sz="1400" dirty="0"/>
              <a:t> level cast (4)</a:t>
            </a:r>
          </a:p>
          <a:p>
            <a:pPr algn="r"/>
            <a:endParaRPr lang="en-US" sz="900" dirty="0"/>
          </a:p>
          <a:p>
            <a:pPr algn="r"/>
            <a:r>
              <a:rPr lang="en-US" sz="1400" dirty="0"/>
              <a:t> [6] main family (3)</a:t>
            </a:r>
          </a:p>
          <a:p>
            <a:pPr algn="r"/>
            <a:endParaRPr lang="en-US" sz="1000" dirty="0"/>
          </a:p>
          <a:p>
            <a:pPr algn="r"/>
            <a:r>
              <a:rPr lang="en-US" sz="1400" dirty="0"/>
              <a:t>[1] Benedict – main character (2)</a:t>
            </a:r>
          </a:p>
          <a:p>
            <a:pPr algn="r"/>
            <a:endParaRPr lang="en-US" sz="1000" dirty="0"/>
          </a:p>
          <a:p>
            <a:pPr algn="r"/>
            <a:r>
              <a:rPr lang="en-US" sz="1400" dirty="0"/>
              <a:t>[1] Hamlet! – </a:t>
            </a:r>
            <a:r>
              <a:rPr lang="en-US" sz="1400" dirty="0">
                <a:solidFill>
                  <a:srgbClr val="FF0000"/>
                </a:solidFill>
              </a:rPr>
              <a:t>curious mistake distance math identified! </a:t>
            </a:r>
            <a:r>
              <a:rPr lang="en-US" sz="1400" dirty="0"/>
              <a:t>(1)</a:t>
            </a:r>
          </a:p>
          <a:p>
            <a:pPr algn="r"/>
            <a:endParaRPr lang="en-US" sz="1000" dirty="0"/>
          </a:p>
          <a:p>
            <a:pPr algn="r"/>
            <a:r>
              <a:rPr lang="en-US" sz="1400" dirty="0"/>
              <a:t>[39] Ensemble cast (0)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</p:txBody>
      </p:sp>
      <p:sp>
        <p:nvSpPr>
          <p:cNvPr id="29" name="Star: 7 Points 28">
            <a:extLst>
              <a:ext uri="{FF2B5EF4-FFF2-40B4-BE49-F238E27FC236}">
                <a16:creationId xmlns:a16="http://schemas.microsoft.com/office/drawing/2014/main" id="{FDDE8D48-253D-4932-9A48-4D7AF794B0F5}"/>
              </a:ext>
            </a:extLst>
          </p:cNvPr>
          <p:cNvSpPr/>
          <p:nvPr/>
        </p:nvSpPr>
        <p:spPr>
          <a:xfrm>
            <a:off x="4598114" y="5742292"/>
            <a:ext cx="209993" cy="177958"/>
          </a:xfrm>
          <a:prstGeom prst="star7">
            <a:avLst/>
          </a:prstGeom>
          <a:solidFill>
            <a:srgbClr val="FF0000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DACC2755-8038-4CC5-A5C0-9A16B6590C15}"/>
              </a:ext>
            </a:extLst>
          </p:cNvPr>
          <p:cNvSpPr txBox="1"/>
          <p:nvPr/>
        </p:nvSpPr>
        <p:spPr>
          <a:xfrm>
            <a:off x="6364941" y="4430984"/>
            <a:ext cx="2266018" cy="21451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txBody>
          <a:bodyPr wrap="square" rtlCol="0">
            <a:noAutofit/>
          </a:bodyPr>
          <a:lstStyle/>
          <a:p>
            <a:pPr algn="ctr"/>
            <a:endParaRPr lang="en-US" sz="1400" dirty="0"/>
          </a:p>
          <a:p>
            <a:pPr algn="ctr"/>
            <a:r>
              <a:rPr lang="en-US" sz="1600" b="1" i="1" dirty="0">
                <a:solidFill>
                  <a:srgbClr val="FF0000"/>
                </a:solidFill>
              </a:rPr>
              <a:t>No change in cast grouping based on words.</a:t>
            </a:r>
          </a:p>
          <a:p>
            <a:pPr algn="ctr"/>
            <a:endParaRPr lang="en-US" sz="1600" b="1" i="1" dirty="0">
              <a:solidFill>
                <a:srgbClr val="FF0000"/>
              </a:solidFill>
            </a:endParaRPr>
          </a:p>
          <a:p>
            <a:pPr algn="ctr"/>
            <a:r>
              <a:rPr lang="en-US" sz="1600" b="1" i="1" dirty="0">
                <a:solidFill>
                  <a:srgbClr val="FF0000"/>
                </a:solidFill>
              </a:rPr>
              <a:t>K-means visualization by words instead of characters.</a:t>
            </a:r>
          </a:p>
          <a:p>
            <a:pPr marL="342900" indent="-342900">
              <a:buFont typeface="+mj-lt"/>
              <a:buAutoNum type="arabicPeriod"/>
            </a:pPr>
            <a:endParaRPr lang="en-US" sz="1600" dirty="0"/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0492A317-35D7-4C8C-A797-131790AA6A45}"/>
              </a:ext>
            </a:extLst>
          </p:cNvPr>
          <p:cNvPicPr/>
          <p:nvPr/>
        </p:nvPicPr>
        <p:blipFill rotWithShape="1">
          <a:blip r:embed="rId3"/>
          <a:srcRect l="882" t="11951" r="8093" b="947"/>
          <a:stretch/>
        </p:blipFill>
        <p:spPr bwMode="auto">
          <a:xfrm>
            <a:off x="8654415" y="4449752"/>
            <a:ext cx="3266905" cy="2145129"/>
          </a:xfrm>
          <a:prstGeom prst="rect">
            <a:avLst/>
          </a:prstGeom>
          <a:ln>
            <a:noFill/>
          </a:ln>
          <a:extLst>
            <a:ext uri="{53640926-AAD7-44D8-BBD7-CCE9431645EC}">
              <a14:shadowObscured xmlns:a14="http://schemas.microsoft.com/office/drawing/2010/main"/>
            </a:ext>
          </a:extLst>
        </p:spPr>
      </p:pic>
    </p:spTree>
    <p:extLst>
      <p:ext uri="{BB962C8B-B14F-4D97-AF65-F5344CB8AC3E}">
        <p14:creationId xmlns:p14="http://schemas.microsoft.com/office/powerpoint/2010/main" val="512820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0D02E-A69D-D548-9EF6-C3048906C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Conclusions</a:t>
            </a:r>
            <a:endParaRPr lang="en-US" sz="3600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35116-3226-9648-8067-7AA8017B435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lnSpc>
                <a:spcPct val="100000"/>
              </a:lnSpc>
            </a:pPr>
            <a:r>
              <a:rPr lang="en-US" dirty="0"/>
              <a:t>Shakespeare </a:t>
            </a:r>
            <a:r>
              <a:rPr lang="en-US" i="1" dirty="0">
                <a:solidFill>
                  <a:srgbClr val="C00000"/>
                </a:solidFill>
              </a:rPr>
              <a:t>only occasionally </a:t>
            </a:r>
            <a:r>
              <a:rPr lang="en-US" dirty="0"/>
              <a:t>used different vocabularies </a:t>
            </a:r>
            <a:br>
              <a:rPr lang="en-US" dirty="0"/>
            </a:br>
            <a:r>
              <a:rPr lang="en-US" dirty="0"/>
              <a:t>between characters</a:t>
            </a:r>
          </a:p>
          <a:p>
            <a:pPr>
              <a:lnSpc>
                <a:spcPct val="100000"/>
              </a:lnSpc>
            </a:pPr>
            <a:r>
              <a:rPr lang="en-US" dirty="0"/>
              <a:t>Word choice distinguished the </a:t>
            </a:r>
            <a:r>
              <a:rPr lang="en-US" dirty="0">
                <a:solidFill>
                  <a:srgbClr val="C00000"/>
                </a:solidFill>
              </a:rPr>
              <a:t>Histories</a:t>
            </a:r>
            <a:r>
              <a:rPr lang="en-US" dirty="0"/>
              <a:t> from the other genres, </a:t>
            </a:r>
            <a:br>
              <a:rPr lang="en-US" dirty="0"/>
            </a:br>
            <a:r>
              <a:rPr lang="en-US" dirty="0"/>
              <a:t>but not between the Comedies and Tragedies</a:t>
            </a:r>
          </a:p>
          <a:p>
            <a:pPr>
              <a:lnSpc>
                <a:spcPct val="100000"/>
              </a:lnSpc>
            </a:pPr>
            <a:r>
              <a:rPr lang="en-US" dirty="0">
                <a:solidFill>
                  <a:srgbClr val="C00000"/>
                </a:solidFill>
              </a:rPr>
              <a:t>Multiple modeling techniques </a:t>
            </a:r>
            <a:r>
              <a:rPr lang="en-US" dirty="0"/>
              <a:t>showed the vocabulary used in the Comedies and Tragedies do not differ significantly</a:t>
            </a:r>
          </a:p>
          <a:p>
            <a:pPr>
              <a:lnSpc>
                <a:spcPct val="100000"/>
              </a:lnSpc>
            </a:pPr>
            <a:r>
              <a:rPr lang="en-US" dirty="0"/>
              <a:t>Reducing extremely common words with </a:t>
            </a:r>
            <a:r>
              <a:rPr lang="en-US" dirty="0">
                <a:solidFill>
                  <a:srgbClr val="C00000"/>
                </a:solidFill>
              </a:rPr>
              <a:t>different techniques </a:t>
            </a:r>
            <a:r>
              <a:rPr lang="en-US" dirty="0"/>
              <a:t>did not influence prediction outcomes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436273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80D02E-A69D-D548-9EF6-C3048906C4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Backup Slides</a:t>
            </a:r>
            <a:endParaRPr lang="en-US" sz="3600" b="1" i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7B35116-3226-9648-8067-7AA8017B435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2264735"/>
            <a:ext cx="10896600" cy="4157196"/>
          </a:xfrm>
        </p:spPr>
        <p:txBody>
          <a:bodyPr>
            <a:normAutofit/>
          </a:bodyPr>
          <a:lstStyle/>
          <a:p>
            <a:pPr marL="0" indent="0">
              <a:lnSpc>
                <a:spcPct val="100000"/>
              </a:lnSpc>
              <a:buNone/>
            </a:pPr>
            <a:r>
              <a:rPr lang="en-US" sz="4000" dirty="0"/>
              <a:t>Backup slides of other methods</a:t>
            </a:r>
          </a:p>
          <a:p>
            <a:endParaRPr lang="en-US" sz="4000" dirty="0"/>
          </a:p>
        </p:txBody>
      </p:sp>
    </p:spTree>
    <p:extLst>
      <p:ext uri="{BB962C8B-B14F-4D97-AF65-F5344CB8AC3E}">
        <p14:creationId xmlns:p14="http://schemas.microsoft.com/office/powerpoint/2010/main" val="316924513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446E-55E3-4614-897D-E3CE82073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Total Words Across all Plays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3961A-D3E2-44AB-962D-9ED2FB1B2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681" y="1957522"/>
            <a:ext cx="8786191" cy="4900478"/>
          </a:xfrm>
          <a:ln>
            <a:noFill/>
            <a:prstDash val="lgDashDotDot"/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4" name="Rectangle 1">
            <a:extLst>
              <a:ext uri="{FF2B5EF4-FFF2-40B4-BE49-F238E27FC236}">
                <a16:creationId xmlns:a16="http://schemas.microsoft.com/office/drawing/2014/main" id="{EECB8393-7D7D-41AC-8B7D-EC86365DECD2}"/>
              </a:ext>
            </a:extLst>
          </p:cNvPr>
          <p:cNvSpPr>
            <a:spLocks noChangeArrowheads="1"/>
          </p:cNvSpPr>
          <p:nvPr/>
        </p:nvSpPr>
        <p:spPr bwMode="auto">
          <a:xfrm>
            <a:off x="457200" y="976528"/>
            <a:ext cx="3116366" cy="4616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Word count: 2,252,816 </a:t>
            </a:r>
          </a:p>
        </p:txBody>
      </p:sp>
      <p:pic>
        <p:nvPicPr>
          <p:cNvPr id="6" name="Picture 5" descr="A close up of a device&#10;&#10;Description automatically generated">
            <a:extLst>
              <a:ext uri="{FF2B5EF4-FFF2-40B4-BE49-F238E27FC236}">
                <a16:creationId xmlns:a16="http://schemas.microsoft.com/office/drawing/2014/main" id="{2F73FFFE-E479-4590-8D98-4C0D37BE608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200" y="1567180"/>
            <a:ext cx="7620000" cy="3886200"/>
          </a:xfrm>
          <a:prstGeom prst="rect">
            <a:avLst/>
          </a:prstGeom>
        </p:spPr>
      </p:pic>
      <p:sp>
        <p:nvSpPr>
          <p:cNvPr id="7" name="TextBox 6">
            <a:extLst>
              <a:ext uri="{FF2B5EF4-FFF2-40B4-BE49-F238E27FC236}">
                <a16:creationId xmlns:a16="http://schemas.microsoft.com/office/drawing/2014/main" id="{14AA4487-BF32-4120-9B37-80DA0B8261E8}"/>
              </a:ext>
            </a:extLst>
          </p:cNvPr>
          <p:cNvSpPr txBox="1"/>
          <p:nvPr/>
        </p:nvSpPr>
        <p:spPr>
          <a:xfrm>
            <a:off x="8093448" y="5453380"/>
            <a:ext cx="357841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Remove </a:t>
            </a:r>
            <a:r>
              <a:rPr lang="en-US" dirty="0" err="1"/>
              <a:t>stopwords</a:t>
            </a:r>
            <a:r>
              <a:rPr lang="en-US" dirty="0"/>
              <a:t> and punctuation</a:t>
            </a:r>
          </a:p>
          <a:p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AF46125-B7F6-4F57-BF1E-D468F4F6E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464855" y="1207360"/>
            <a:ext cx="2606034" cy="335476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Frequency distribution of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dirty="0"/>
              <a:t>most common tokens: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16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1600" dirty="0"/>
              <a:t>(</a:t>
            </a: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',', 150763)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('"', 141184)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('the', 46815)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("'", 45151)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('.', 43273)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('I', 43251) 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('and', 36292)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('to', 31590)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('of', 29857)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('."', 27740) </a:t>
            </a:r>
          </a:p>
        </p:txBody>
      </p:sp>
      <p:sp>
        <p:nvSpPr>
          <p:cNvPr id="9" name="Arrow: Down 8">
            <a:extLst>
              <a:ext uri="{FF2B5EF4-FFF2-40B4-BE49-F238E27FC236}">
                <a16:creationId xmlns:a16="http://schemas.microsoft.com/office/drawing/2014/main" id="{06DCFD45-5602-4F54-ABB9-5B19BDD04D87}"/>
              </a:ext>
            </a:extLst>
          </p:cNvPr>
          <p:cNvSpPr/>
          <p:nvPr/>
        </p:nvSpPr>
        <p:spPr>
          <a:xfrm>
            <a:off x="9621520" y="4762896"/>
            <a:ext cx="375920" cy="497840"/>
          </a:xfrm>
          <a:prstGeom prst="downArrow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43235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9C4446E-55E3-4614-897D-E3CE82073BD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Word Distribution: Hamlet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D3961A-D3E2-44AB-962D-9ED2FB1B28D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81681" y="1957522"/>
            <a:ext cx="8786191" cy="4900478"/>
          </a:xfrm>
          <a:ln>
            <a:noFill/>
            <a:prstDash val="lgDashDotDot"/>
          </a:ln>
        </p:spPr>
        <p:txBody>
          <a:bodyPr>
            <a:normAutofit/>
          </a:bodyPr>
          <a:lstStyle/>
          <a:p>
            <a:pPr marL="0" indent="0">
              <a:buNone/>
            </a:pPr>
            <a:endParaRPr lang="en-US" dirty="0"/>
          </a:p>
          <a:p>
            <a:pPr marL="0" indent="0">
              <a:buNone/>
            </a:pPr>
            <a:endParaRPr lang="en-US" dirty="0"/>
          </a:p>
        </p:txBody>
      </p:sp>
      <p:sp>
        <p:nvSpPr>
          <p:cNvPr id="8" name="Rectangle 2">
            <a:extLst>
              <a:ext uri="{FF2B5EF4-FFF2-40B4-BE49-F238E27FC236}">
                <a16:creationId xmlns:a16="http://schemas.microsoft.com/office/drawing/2014/main" id="{3AF46125-B7F6-4F57-BF1E-D468F4F6EF14}"/>
              </a:ext>
            </a:extLst>
          </p:cNvPr>
          <p:cNvSpPr>
            <a:spLocks noChangeArrowheads="1"/>
          </p:cNvSpPr>
          <p:nvPr/>
        </p:nvSpPr>
        <p:spPr bwMode="auto">
          <a:xfrm>
            <a:off x="8696959" y="2168571"/>
            <a:ext cx="3067229" cy="193899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Play: Hamlet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2000" b="1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1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 Words per Character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lang="en-US" altLang="en-US" sz="2000" dirty="0"/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20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</a:rPr>
              <a:t>Most: Hamlet</a:t>
            </a:r>
          </a:p>
          <a:p>
            <a:pPr marL="0" marR="0" lvl="0" indent="0" algn="ctr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lang="en-US" altLang="en-US" sz="2000" dirty="0"/>
              <a:t>39% of all words</a:t>
            </a:r>
            <a:endParaRPr kumimoji="0" lang="en-US" altLang="en-US" sz="20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  <p:graphicFrame>
        <p:nvGraphicFramePr>
          <p:cNvPr id="6" name="Chart 5">
            <a:extLst>
              <a:ext uri="{FF2B5EF4-FFF2-40B4-BE49-F238E27FC236}">
                <a16:creationId xmlns:a16="http://schemas.microsoft.com/office/drawing/2014/main" id="{744B0F2C-76FC-C141-9EE0-2B9E60B14AB0}"/>
              </a:ext>
            </a:extLst>
          </p:cNvPr>
          <p:cNvGraphicFramePr>
            <a:graphicFrameLocks/>
          </p:cNvGraphicFramePr>
          <p:nvPr>
            <p:extLst>
              <p:ext uri="{D42A27DB-BD31-4B8C-83A1-F6EECF244321}">
                <p14:modId xmlns:p14="http://schemas.microsoft.com/office/powerpoint/2010/main" val="1166566314"/>
              </p:ext>
            </p:extLst>
          </p:nvPr>
        </p:nvGraphicFramePr>
        <p:xfrm>
          <a:off x="706055" y="939799"/>
          <a:ext cx="7990903" cy="5518873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</p:spTree>
    <p:extLst>
      <p:ext uri="{BB962C8B-B14F-4D97-AF65-F5344CB8AC3E}">
        <p14:creationId xmlns:p14="http://schemas.microsoft.com/office/powerpoint/2010/main" val="1039021986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Rectangle 13">
            <a:extLst>
              <a:ext uri="{FF2B5EF4-FFF2-40B4-BE49-F238E27FC236}">
                <a16:creationId xmlns:a16="http://schemas.microsoft.com/office/drawing/2014/main" id="{2C34A84F-F279-42AE-9573-FA8BF852AC8A}"/>
              </a:ext>
            </a:extLst>
          </p:cNvPr>
          <p:cNvSpPr/>
          <p:nvPr/>
        </p:nvSpPr>
        <p:spPr>
          <a:xfrm>
            <a:off x="1318438" y="983511"/>
            <a:ext cx="9060823" cy="5105399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20000"/>
                <a:lumOff val="8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9C4446E-55E3-4614-897D-E3CE82073BD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57199" y="73363"/>
            <a:ext cx="11415713" cy="668625"/>
          </a:xfrm>
        </p:spPr>
        <p:txBody>
          <a:bodyPr>
            <a:noAutofit/>
          </a:bodyPr>
          <a:lstStyle/>
          <a:p>
            <a:r>
              <a:rPr lang="en-US" sz="3600" dirty="0"/>
              <a:t>Wordcloud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51CB4A5D-2B98-499D-9795-ADFFC6C6857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64157" y="1582512"/>
            <a:ext cx="8234128" cy="4320245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71E44FB2-F513-442E-BB31-A516E11F91BA}"/>
              </a:ext>
            </a:extLst>
          </p:cNvPr>
          <p:cNvSpPr txBox="1"/>
          <p:nvPr/>
        </p:nvSpPr>
        <p:spPr>
          <a:xfrm>
            <a:off x="1543583" y="1105196"/>
            <a:ext cx="87578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Much Ado… w “Lord, good and shall” top 3 frequency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64FCECDA-FAF3-4735-919C-4341E9D9A417}"/>
              </a:ext>
            </a:extLst>
          </p:cNvPr>
          <p:cNvSpPr/>
          <p:nvPr/>
        </p:nvSpPr>
        <p:spPr>
          <a:xfrm>
            <a:off x="-1" y="6519446"/>
            <a:ext cx="9382125" cy="30777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sz="1400" dirty="0" err="1">
                <a:solidFill>
                  <a:schemeClr val="accent1"/>
                </a:solidFill>
              </a:rPr>
              <a:t>Asdf</a:t>
            </a:r>
            <a:r>
              <a:rPr lang="en-US" sz="1400" dirty="0">
                <a:solidFill>
                  <a:schemeClr val="accent1"/>
                </a:solidFill>
              </a:rPr>
              <a:t>…</a:t>
            </a:r>
            <a:endParaRPr lang="en-US" sz="1100" dirty="0">
              <a:solidFill>
                <a:schemeClr val="accent1"/>
              </a:solidFill>
            </a:endParaRPr>
          </a:p>
        </p:txBody>
      </p:sp>
      <p:sp>
        <p:nvSpPr>
          <p:cNvPr id="16" name="Oval 15">
            <a:extLst>
              <a:ext uri="{FF2B5EF4-FFF2-40B4-BE49-F238E27FC236}">
                <a16:creationId xmlns:a16="http://schemas.microsoft.com/office/drawing/2014/main" id="{FA3EC77F-DF56-43FC-8062-9BA307FE43D0}"/>
              </a:ext>
            </a:extLst>
          </p:cNvPr>
          <p:cNvSpPr/>
          <p:nvPr/>
        </p:nvSpPr>
        <p:spPr>
          <a:xfrm>
            <a:off x="3949178" y="1665679"/>
            <a:ext cx="2044441" cy="9223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CCB331FB-2CDA-4D35-A439-F0FF97DFB120}"/>
              </a:ext>
            </a:extLst>
          </p:cNvPr>
          <p:cNvSpPr/>
          <p:nvPr/>
        </p:nvSpPr>
        <p:spPr>
          <a:xfrm>
            <a:off x="3235622" y="4305331"/>
            <a:ext cx="2044441" cy="922333"/>
          </a:xfrm>
          <a:prstGeom prst="ellipse">
            <a:avLst/>
          </a:prstGeom>
          <a:noFill/>
          <a:ln w="38100"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B9DD706D-1C17-4A78-BFD2-F4134A152C1C}"/>
              </a:ext>
            </a:extLst>
          </p:cNvPr>
          <p:cNvSpPr txBox="1"/>
          <p:nvPr/>
        </p:nvSpPr>
        <p:spPr>
          <a:xfrm>
            <a:off x="1462513" y="4581832"/>
            <a:ext cx="2423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90971907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874</TotalTime>
  <Words>784</Words>
  <Application>Microsoft Office PowerPoint</Application>
  <PresentationFormat>Widescreen</PresentationFormat>
  <Paragraphs>156</Paragraphs>
  <Slides>17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Apple Chancery</vt:lpstr>
      <vt:lpstr>Arial</vt:lpstr>
      <vt:lpstr>Calibri</vt:lpstr>
      <vt:lpstr>Calibri Light</vt:lpstr>
      <vt:lpstr>Courier New</vt:lpstr>
      <vt:lpstr>Times New Roman</vt:lpstr>
      <vt:lpstr>Verdana</vt:lpstr>
      <vt:lpstr>Office Theme</vt:lpstr>
      <vt:lpstr>To Mine, or  Not to Mine</vt:lpstr>
      <vt:lpstr>William Shakespeare</vt:lpstr>
      <vt:lpstr>Shakespearean Musings…</vt:lpstr>
      <vt:lpstr>Data Preparation &amp; Distributed Team Tasks</vt:lpstr>
      <vt:lpstr>Player and Dialogue Visualizations</vt:lpstr>
      <vt:lpstr>Character Distinction</vt:lpstr>
      <vt:lpstr>Only Hamlet’s word choices are distinctive</vt:lpstr>
      <vt:lpstr>Henry VIII  Only the female character stood out</vt:lpstr>
      <vt:lpstr>K-Means Clustering</vt:lpstr>
      <vt:lpstr>Comedy vs Tragedy : Topic Modeling (LDA) </vt:lpstr>
      <vt:lpstr>Comedy vs Tragedy : Topic Modeling (LDA) </vt:lpstr>
      <vt:lpstr>Much Ado About Stopwords with a k-means Assessment</vt:lpstr>
      <vt:lpstr>Conclusions</vt:lpstr>
      <vt:lpstr>Backup Slides</vt:lpstr>
      <vt:lpstr>Total Words Across all Plays</vt:lpstr>
      <vt:lpstr>Word Distribution: Hamlet</vt:lpstr>
      <vt:lpstr>Wordcloud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To Mine, or Not to Mine</dc:title>
  <dc:creator>Victor, Jeff (GE Power)</dc:creator>
  <cp:lastModifiedBy>Jon A Wright</cp:lastModifiedBy>
  <cp:revision>97</cp:revision>
  <cp:lastPrinted>2019-09-04T21:52:29Z</cp:lastPrinted>
  <dcterms:created xsi:type="dcterms:W3CDTF">2019-09-03T04:22:36Z</dcterms:created>
  <dcterms:modified xsi:type="dcterms:W3CDTF">2019-09-05T00:34:07Z</dcterms:modified>
</cp:coreProperties>
</file>